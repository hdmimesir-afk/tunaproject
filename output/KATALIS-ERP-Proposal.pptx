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KATALIS ERP
Pembuka. Penawaran awal untuk dibahas bersama; harga dibahas setelah fitur disepakati.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dan jawabannya
Enam masalah yang terlihat dari data Siklus 1 dan Monitor Dana, masing-masing dengan jawabannya di aplikasi. Slide berikutnya menjelaskan satu per satu.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Hampir sepertiga uang keluar habis buat ongkos kirim
Ongkos kirim Rp11,08 juta dari total biaya Siklus 1 Rp37,08 juta (29,9%). Bila tarif turun ke Rp29.500 per kg dari Rp31.000, hemat sekitar Rp1.840 per kg loin.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100 kg ikan, loin yang jadi bisa 52 kg atau 70 kg
Hasil olahan 11 ekor Siklus 1: terendah ekor 005 (52,2%), tertinggi ekor 007 (70,2%), rata-rata 62,6%, rencana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kg sisa potongan ikan belum laku
Sisa olahan 65 kg dari Siklus 1 belum terjual. Enam kelas mutu dengan harga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Tagihan gudang dingin dihitung pakai tangan, gampang salah
Tarif dari proposal hlm. 8. Contoh: 10.000 kg disimpan 15 hari, tarif Rp1.125/kg, total Rp11.250.000 (contoh hitungan).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mitra bergantian pakai mesin, jadwal bisa saling tabrak
Giliran CV DUS (Senin, Rabu, Jumat) dan PT SNS (Selasa, Kamis, Sabtu) dari proposal hlm. 4. Pesanan ABF jam 10.00 adalah contoh peringatan.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transaksi belum punya bukti transfer
Dari Monitor Dana Fasilitas Bungus: 243 transaksi, nota lengkap 243, bukti transfer lengkap 164 dari 219 (55 belum ada, 24 tidak perlu).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Owner
Dashboard Owner: angka utama, persetujuan, dan peringatan dalam satu layar. Gambar adalah tangkapan layar demo (data contoh).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ponsel
Aplikasi ponsel: beranda, persetujuan, dan modul. Gambar adalah tangkapan layar demo (data contoh).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 dan cara kerja
Empat peran (Owner, Pembelian, Gudang, Keuangan) dan tugas masing-masing. Satu siklus: Pembelian mengajukan, Owner menyetujui, Gudang menerima, mengecek mutu, dan mengolah, Pembelian menjual dan mengirim, Keuangan mencatat pembayaran dan menutup buku. Tombol di luar tugas sebuah peran otomatis terkunci.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Asisten AI
Asisten AI menjawab pertanyaan dengan kalimat biasa, berdasarkan data di aplikasi. Di demo, jawaban disusun dari data contoh; versi sebenarnya membaca data asli usaha.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Paket
Satu paket lengkap: semua fitur sudah termasuk, ditambah Asisten AI. Tidak ada harga; harga dibahas setelah fitur disepakati.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Jadwal pengerjaan
Estimasi selesai dalam 1 bulan (4 minggu): enam tahap dikerjakan bersamaan, dipetakan per minggu (Asisten AI di minggu 3–4), lalu lima langkah sebelum proyek berjalan. Estimasi awal; jadwal pasti disepakati setelah diskusi kebutuhan.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Tutup dengan ajakan konkret: jadwalkan diskusi kebutuhan.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2-6.png"/><Relationship Id="rId7" Type="http://schemas.openxmlformats.org/officeDocument/2006/relationships/image" Target="../media/image-2-1.png"/><Relationship Id="rId8" Type="http://schemas.openxmlformats.org/officeDocument/2006/relationships/image" Target="../media/image-2-8.png"/><Relationship Id="rId9" Type="http://schemas.openxmlformats.org/officeDocument/2006/relationships/image" Target="../media/image-2-1.png"/><Relationship Id="rId10" Type="http://schemas.openxmlformats.org/officeDocument/2006/relationships/image" Target="../media/image-2-10.png"/><Relationship Id="rId11" Type="http://schemas.openxmlformats.org/officeDocument/2006/relationships/image" Target="../media/image-2-1.png"/><Relationship Id="rId12" Type="http://schemas.openxmlformats.org/officeDocument/2006/relationships/image" Target="../media/image-2-12.png"/><Relationship Id="rId13" Type="http://schemas.openxmlformats.org/officeDocument/2006/relationships/slideLayout" Target="../slideLayouts/slideLayout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3.png"/><Relationship Id="rId5" Type="http://schemas.openxmlformats.org/officeDocument/2006/relationships/image" Target="../media/image-3-3.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4.png"/><Relationship Id="rId6" Type="http://schemas.openxmlformats.org/officeDocument/2006/relationships/image" Target="../media/image-5-4.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3.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4.png"/><Relationship Id="rId6" Type="http://schemas.openxmlformats.org/officeDocument/2006/relationships/image" Target="../media/image-7-4.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4.png"/><Relationship Id="rId6" Type="http://schemas.openxmlformats.org/officeDocument/2006/relationships/image" Target="../media/image-8-4.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2.png"/><Relationship Id="rId4" Type="http://schemas.openxmlformats.org/officeDocument/2006/relationships/image" Target="../media/image-11-2.png"/><Relationship Id="rId5" Type="http://schemas.openxmlformats.org/officeDocument/2006/relationships/image" Target="../media/image-11-2.png"/><Relationship Id="rId6" Type="http://schemas.openxmlformats.org/officeDocument/2006/relationships/image" Target="../media/image-11-6.png"/><Relationship Id="rId7" Type="http://schemas.openxmlformats.org/officeDocument/2006/relationships/image" Target="../media/image-11-2.png"/><Relationship Id="rId8" Type="http://schemas.openxmlformats.org/officeDocument/2006/relationships/image" Target="../media/image-11-2.png"/><Relationship Id="rId9" Type="http://schemas.openxmlformats.org/officeDocument/2006/relationships/image" Target="../media/image-11-2.png"/><Relationship Id="rId10" Type="http://schemas.openxmlformats.org/officeDocument/2006/relationships/image" Target="../media/image-11-2.png"/><Relationship Id="rId11" Type="http://schemas.openxmlformats.org/officeDocument/2006/relationships/image" Target="../media/image-11-11.png"/><Relationship Id="rId12" Type="http://schemas.openxmlformats.org/officeDocument/2006/relationships/image" Target="../media/image-11-2.png"/><Relationship Id="rId13" Type="http://schemas.openxmlformats.org/officeDocument/2006/relationships/image" Target="../media/image-11-2.png"/><Relationship Id="rId14" Type="http://schemas.openxmlformats.org/officeDocument/2006/relationships/image" Target="../media/image-11-2.png"/><Relationship Id="rId15" Type="http://schemas.openxmlformats.org/officeDocument/2006/relationships/image" Target="../media/image-11-2.png"/><Relationship Id="rId16" Type="http://schemas.openxmlformats.org/officeDocument/2006/relationships/image" Target="../media/image-11-16.png"/><Relationship Id="rId17" Type="http://schemas.openxmlformats.org/officeDocument/2006/relationships/image" Target="../media/image-11-2.png"/><Relationship Id="rId18" Type="http://schemas.openxmlformats.org/officeDocument/2006/relationships/image" Target="../media/image-11-2.png"/><Relationship Id="rId19" Type="http://schemas.openxmlformats.org/officeDocument/2006/relationships/image" Target="../media/image-11-2.png"/><Relationship Id="rId20" Type="http://schemas.openxmlformats.org/officeDocument/2006/relationships/image" Target="../media/image-11-2.png"/><Relationship Id="rId21" Type="http://schemas.openxmlformats.org/officeDocument/2006/relationships/slideLayout" Target="../slideLayouts/slideLayout1.xml"/><Relationship Id="rId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image" Target="../media/image-12-2.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3.png"/><Relationship Id="rId5" Type="http://schemas.openxmlformats.org/officeDocument/2006/relationships/image" Target="../media/image-13-3.png"/><Relationship Id="rId6" Type="http://schemas.openxmlformats.org/officeDocument/2006/relationships/image" Target="../media/image-13-3.png"/><Relationship Id="rId7" Type="http://schemas.openxmlformats.org/officeDocument/2006/relationships/image" Target="../media/image-13-3.png"/><Relationship Id="rId8" Type="http://schemas.openxmlformats.org/officeDocument/2006/relationships/image" Target="../media/image-13-3.png"/><Relationship Id="rId9" Type="http://schemas.openxmlformats.org/officeDocument/2006/relationships/image" Target="../media/image-13-3.png"/><Relationship Id="rId10" Type="http://schemas.openxmlformats.org/officeDocument/2006/relationships/image" Target="../media/image-13-3.png"/><Relationship Id="rId11" Type="http://schemas.openxmlformats.org/officeDocument/2006/relationships/image" Target="../media/image-13-3.png"/><Relationship Id="rId12" Type="http://schemas.openxmlformats.org/officeDocument/2006/relationships/image" Target="../media/image-13-3.png"/><Relationship Id="rId13" Type="http://schemas.openxmlformats.org/officeDocument/2006/relationships/image" Target="../media/image-13-3.png"/><Relationship Id="rId14" Type="http://schemas.openxmlformats.org/officeDocument/2006/relationships/image" Target="../media/image-13-3.png"/><Relationship Id="rId15" Type="http://schemas.openxmlformats.org/officeDocument/2006/relationships/image" Target="../media/image-13-3.png"/><Relationship Id="rId16" Type="http://schemas.openxmlformats.org/officeDocument/2006/relationships/image" Target="../media/image-13-3.png"/><Relationship Id="rId17" Type="http://schemas.openxmlformats.org/officeDocument/2006/relationships/image" Target="../media/image-13-3.png"/><Relationship Id="rId18" Type="http://schemas.openxmlformats.org/officeDocument/2006/relationships/image" Target="../media/image-13-18.png"/><Relationship Id="rId19" Type="http://schemas.openxmlformats.org/officeDocument/2006/relationships/slideLayout" Target="../slideLayouts/slideLayout1.xml"/><Relationship Id="rId2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image" Target="../media/image-14-4.png"/><Relationship Id="rId5" Type="http://schemas.openxmlformats.org/officeDocument/2006/relationships/image" Target="../media/image-14-1.png"/><Relationship Id="rId6" Type="http://schemas.openxmlformats.org/officeDocument/2006/relationships/image" Target="../media/image-14-1.png"/><Relationship Id="rId7" Type="http://schemas.openxmlformats.org/officeDocument/2006/relationships/image" Target="../media/image-14-1.png"/><Relationship Id="rId8" Type="http://schemas.openxmlformats.org/officeDocument/2006/relationships/image" Target="../media/image-14-4.png"/><Relationship Id="rId9" Type="http://schemas.openxmlformats.org/officeDocument/2006/relationships/image" Target="../media/image-14-1.png"/><Relationship Id="rId10" Type="http://schemas.openxmlformats.org/officeDocument/2006/relationships/image" Target="../media/image-14-1.png"/><Relationship Id="rId11" Type="http://schemas.openxmlformats.org/officeDocument/2006/relationships/image" Target="../media/image-14-1.png"/><Relationship Id="rId12" Type="http://schemas.openxmlformats.org/officeDocument/2006/relationships/image" Target="../media/image-14-4.png"/><Relationship Id="rId13" Type="http://schemas.openxmlformats.org/officeDocument/2006/relationships/image" Target="../media/image-14-13.png"/><Relationship Id="rId14" Type="http://schemas.openxmlformats.org/officeDocument/2006/relationships/image" Target="../media/image-14-13.png"/><Relationship Id="rId15" Type="http://schemas.openxmlformats.org/officeDocument/2006/relationships/image" Target="../media/image-14-13.png"/><Relationship Id="rId16" Type="http://schemas.openxmlformats.org/officeDocument/2006/relationships/image" Target="../media/image-14-16.png"/><Relationship Id="rId17" Type="http://schemas.openxmlformats.org/officeDocument/2006/relationships/slideLayout" Target="../slideLayouts/slideLayout1.xml"/><Relationship Id="rId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459"/>
        </a:solidFill>
      </p:bgPr>
    </p:bg>
    <p:spTree>
      <p:nvGrpSpPr>
        <p:cNvPr id="1" name=""/>
        <p:cNvGrpSpPr/>
        <p:nvPr/>
      </p:nvGrpSpPr>
      <p:grpSpPr>
        <a:xfrm>
          <a:off x="0" y="0"/>
          <a:ext cx="0" cy="0"/>
          <a:chOff x="0" y="0"/>
          <a:chExt cx="0" cy="0"/>
        </a:xfrm>
      </p:grpSpPr>
      <p:pic>
        <p:nvPicPr>
          <p:cNvPr id="2" name="Image 0" descr="public\brand\katalis-logo-white.png">    </p:cNvPr>
          <p:cNvPicPr>
            <a:picLocks noChangeAspect="1"/>
          </p:cNvPicPr>
          <p:nvPr/>
        </p:nvPicPr>
        <p:blipFill>
          <a:blip r:embed="rId1"/>
          <a:stretch>
            <a:fillRect/>
          </a:stretch>
        </p:blipFill>
        <p:spPr>
          <a:xfrm>
            <a:off x="762000" y="609600"/>
            <a:ext cx="2667000" cy="1085850"/>
          </a:xfrm>
          <a:prstGeom prst="rect">
            <a:avLst/>
          </a:prstGeom>
        </p:spPr>
      </p:pic>
      <p:sp>
        <p:nvSpPr>
          <p:cNvPr id="3" name="Text 0"/>
          <p:cNvSpPr/>
          <p:nvPr/>
        </p:nvSpPr>
        <p:spPr>
          <a:xfrm>
            <a:off x="7493000" y="1054100"/>
            <a:ext cx="3937000" cy="190500"/>
          </a:xfrm>
          <a:prstGeom prst="rect">
            <a:avLst/>
          </a:prstGeom>
          <a:noFill/>
          <a:ln/>
        </p:spPr>
        <p:txBody>
          <a:bodyPr wrap="square" lIns="0" tIns="0" rIns="0" bIns="0" rtlCol="0" anchor="ctr"/>
          <a:lstStyle/>
          <a:p>
            <a:pPr algn="r" indent="0" marL="0">
              <a:lnSpc>
                <a:spcPts val="1100"/>
              </a:lnSpc>
              <a:buNone/>
            </a:pPr>
            <a:r>
              <a:rPr lang="en-US" sz="1100" dirty="0">
                <a:solidFill>
                  <a:srgbClr val="CFE0EE"/>
                </a:solidFill>
                <a:latin typeface="Google Sans" pitchFamily="34" charset="0"/>
                <a:ea typeface="Google Sans" pitchFamily="34" charset="-122"/>
                <a:cs typeface="Google Sans" pitchFamily="34" charset="-120"/>
              </a:rPr>
              <a:t>Penawaran aplikasi  ·  Oktober 2026</a:t>
            </a:r>
            <a:endParaRPr lang="en-US" sz="1100" dirty="0"/>
          </a:p>
        </p:txBody>
      </p:sp>
      <p:pic>
        <p:nvPicPr>
          <p:cNvPr id="4" name="Image 1" descr="public\shots\dash-cover.png">    </p:cNvPr>
          <p:cNvPicPr>
            <a:picLocks noChangeAspect="1"/>
          </p:cNvPicPr>
          <p:nvPr/>
        </p:nvPicPr>
        <p:blipFill>
          <a:blip r:embed="rId2"/>
          <a:stretch>
            <a:fillRect/>
          </a:stretch>
        </p:blipFill>
        <p:spPr>
          <a:xfrm>
            <a:off x="6350000" y="1727200"/>
            <a:ext cx="5842000" cy="4851400"/>
          </a:xfrm>
          <a:prstGeom prst="rect">
            <a:avLst/>
          </a:prstGeom>
        </p:spPr>
      </p:pic>
      <p:pic>
        <p:nvPicPr>
          <p:cNvPr id="5" name="Image 2" descr="public\brand\katalis-erp-wordmark.png">    </p:cNvPr>
          <p:cNvPicPr>
            <a:picLocks noChangeAspect="1"/>
          </p:cNvPicPr>
          <p:nvPr/>
        </p:nvPicPr>
        <p:blipFill>
          <a:blip r:embed="rId3"/>
          <a:stretch>
            <a:fillRect/>
          </a:stretch>
        </p:blipFill>
        <p:spPr>
          <a:xfrm>
            <a:off x="762000" y="3143250"/>
            <a:ext cx="4953000" cy="1873250"/>
          </a:xfrm>
          <a:prstGeom prst="rect">
            <a:avLst/>
          </a:prstGeom>
        </p:spPr>
      </p:pic>
      <p:sp>
        <p:nvSpPr>
          <p:cNvPr id="6" name="Text 1"/>
          <p:cNvSpPr/>
          <p:nvPr/>
        </p:nvSpPr>
        <p:spPr>
          <a:xfrm>
            <a:off x="762000" y="5397500"/>
            <a:ext cx="4953000" cy="698500"/>
          </a:xfrm>
          <a:prstGeom prst="rect">
            <a:avLst/>
          </a:prstGeom>
          <a:noFill/>
          <a:ln/>
        </p:spPr>
        <p:txBody>
          <a:bodyPr wrap="square" lIns="0" tIns="0" rIns="0" bIns="0" rtlCol="0" anchor="t"/>
          <a:lstStyle/>
          <a:p>
            <a:pPr algn="l" indent="0" marL="0">
              <a:lnSpc>
                <a:spcPts val="2030"/>
              </a:lnSpc>
              <a:buNone/>
            </a:pPr>
            <a:r>
              <a:rPr lang="en-US" sz="1500" dirty="0">
                <a:solidFill>
                  <a:srgbClr val="CFE0EE"/>
                </a:solidFill>
                <a:latin typeface="Google Sans" pitchFamily="34" charset="0"/>
                <a:ea typeface="Google Sans" pitchFamily="34" charset="-122"/>
                <a:cs typeface="Google Sans" pitchFamily="34" charset="-120"/>
              </a:rPr>
              <a:t>Aplikasi untuk mengurus usaha perikanan,</a:t>
            </a:r>
            <a:endParaRPr lang="en-US" sz="1500" dirty="0"/>
          </a:p>
          <a:p>
            <a:pPr algn="l" indent="0" marL="0">
              <a:lnSpc>
                <a:spcPts val="2030"/>
              </a:lnSpc>
              <a:buNone/>
            </a:pPr>
            <a:r>
              <a:rPr lang="en-US" sz="1500" dirty="0">
                <a:solidFill>
                  <a:srgbClr val="CFE0EE"/>
                </a:solidFill>
                <a:latin typeface="Google Sans" pitchFamily="34" charset="0"/>
                <a:ea typeface="Google Sans" pitchFamily="34" charset="-122"/>
                <a:cs typeface="Google Sans" pitchFamily="34" charset="-120"/>
              </a:rPr>
              <a:t>dari beli ikan sampai laporan keuangan.</a:t>
            </a:r>
            <a:endParaRPr lang="en-US" sz="1500" dirty="0"/>
          </a:p>
        </p:txBody>
      </p:sp>
      <p:sp>
        <p:nvSpPr>
          <p:cNvPr id="7" name="Text 2"/>
          <p:cNvSpPr/>
          <p:nvPr/>
        </p:nvSpPr>
        <p:spPr>
          <a:xfrm>
            <a:off x="762000" y="6350000"/>
            <a:ext cx="3810000" cy="177800"/>
          </a:xfrm>
          <a:prstGeom prst="rect">
            <a:avLst/>
          </a:prstGeom>
          <a:noFill/>
          <a:ln/>
        </p:spPr>
        <p:txBody>
          <a:bodyPr wrap="square" lIns="0" tIns="0" rIns="0" bIns="0" rtlCol="0" anchor="ctr"/>
          <a:lstStyle/>
          <a:p>
            <a:pPr algn="l" indent="0" marL="0">
              <a:lnSpc>
                <a:spcPts val="900"/>
              </a:lnSpc>
              <a:buNone/>
            </a:pPr>
            <a:r>
              <a:rPr lang="en-US" sz="900" dirty="0">
                <a:solidFill>
                  <a:srgbClr val="CFE0EE"/>
                </a:solidFill>
                <a:latin typeface="Google Sans" pitchFamily="34" charset="0"/>
                <a:ea typeface="Google Sans" pitchFamily="34" charset="-122"/>
                <a:cs typeface="Google Sans" pitchFamily="34" charset="-120"/>
              </a:rPr>
              <a:t>Disiapkan oleh Dar Dev untuk PT Katalis Lintas Global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B"/>
        </a:solidFill>
      </p:bgPr>
    </p:bg>
    <p:spTree>
      <p:nvGrpSpPr>
        <p:cNvPr id="1" name=""/>
        <p:cNvGrpSpPr/>
        <p:nvPr/>
      </p:nvGrpSpPr>
      <p:grpSpPr>
        <a:xfrm>
          <a:off x="0" y="0"/>
          <a:ext cx="0" cy="0"/>
          <a:chOff x="0" y="0"/>
          <a:chExt cx="0" cy="0"/>
        </a:xfrm>
      </p:grpSpPr>
      <p:sp>
        <p:nvSpPr>
          <p:cNvPr id="2" name="Text 0"/>
          <p:cNvSpPr/>
          <p:nvPr/>
        </p:nvSpPr>
        <p:spPr>
          <a:xfrm>
            <a:off x="762000" y="533400"/>
            <a:ext cx="5715000" cy="190500"/>
          </a:xfrm>
          <a:prstGeom prst="rect">
            <a:avLst/>
          </a:prstGeom>
          <a:noFill/>
          <a:ln/>
        </p:spPr>
        <p:txBody>
          <a:bodyPr wrap="square" lIns="0" tIns="0" rIns="0" bIns="0" rtlCol="0" anchor="ctr"/>
          <a:lstStyle/>
          <a:p>
            <a:pPr algn="l" indent="0" marL="0">
              <a:lnSpc>
                <a:spcPts val="1100"/>
              </a:lnSpc>
              <a:buNone/>
            </a:pPr>
            <a:r>
              <a:rPr lang="en-US" sz="1100" dirty="0">
                <a:solidFill>
                  <a:srgbClr val="003459"/>
                </a:solidFill>
                <a:latin typeface="Google Sans SemiBold" pitchFamily="34" charset="0"/>
                <a:ea typeface="Google Sans SemiBold" pitchFamily="34" charset="-122"/>
                <a:cs typeface="Google Sans SemiBold" pitchFamily="34" charset="-120"/>
              </a:rPr>
              <a:t>Ringkasan</a:t>
            </a:r>
            <a:endParaRPr lang="en-US" sz="1100" dirty="0"/>
          </a:p>
        </p:txBody>
      </p:sp>
      <p:sp>
        <p:nvSpPr>
          <p:cNvPr id="3" name="Text 1"/>
          <p:cNvSpPr/>
          <p:nvPr/>
        </p:nvSpPr>
        <p:spPr>
          <a:xfrm>
            <a:off x="762000" y="800100"/>
            <a:ext cx="9525000" cy="508000"/>
          </a:xfrm>
          <a:prstGeom prst="rect">
            <a:avLst/>
          </a:prstGeom>
          <a:noFill/>
          <a:ln/>
        </p:spPr>
        <p:txBody>
          <a:bodyPr wrap="square" lIns="0" tIns="0" rIns="0" bIns="0" rtlCol="0" anchor="t"/>
          <a:lstStyle/>
          <a:p>
            <a:pPr algn="l" indent="0" marL="0">
              <a:lnSpc>
                <a:spcPts val="3180"/>
              </a:lnSpc>
              <a:buNone/>
            </a:pPr>
            <a:r>
              <a:rPr lang="en-US" sz="3000" b="1" dirty="0">
                <a:solidFill>
                  <a:srgbClr val="00171F"/>
                </a:solidFill>
                <a:latin typeface="Google Sans" pitchFamily="34" charset="0"/>
                <a:ea typeface="Google Sans" pitchFamily="34" charset="-122"/>
                <a:cs typeface="Google Sans" pitchFamily="34" charset="-120"/>
              </a:rPr>
              <a:t>Enam masalah di usaha Katalis, dan jawabannya</a:t>
            </a:r>
            <a:endParaRPr lang="en-US" sz="3000" dirty="0"/>
          </a:p>
        </p:txBody>
      </p:sp>
      <p:sp>
        <p:nvSpPr>
          <p:cNvPr id="4" name="Text 2"/>
          <p:cNvSpPr/>
          <p:nvPr/>
        </p:nvSpPr>
        <p:spPr>
          <a:xfrm>
            <a:off x="1358900" y="1562100"/>
            <a:ext cx="4064000" cy="165100"/>
          </a:xfrm>
          <a:prstGeom prst="rect">
            <a:avLst/>
          </a:prstGeom>
          <a:noFill/>
          <a:ln/>
        </p:spPr>
        <p:txBody>
          <a:bodyPr wrap="square" lIns="0" tIns="0" rIns="0" bIns="0" rtlCol="0" anchor="ctr"/>
          <a:lstStyle/>
          <a:p>
            <a:pPr algn="l" indent="0" marL="0">
              <a:lnSpc>
                <a:spcPts val="900"/>
              </a:lnSpc>
              <a:buNone/>
            </a:pPr>
            <a:r>
              <a:rPr lang="en-US" sz="900" b="1" dirty="0">
                <a:solidFill>
                  <a:srgbClr val="B4443C"/>
                </a:solidFill>
                <a:latin typeface="Google Sans" pitchFamily="34" charset="0"/>
                <a:ea typeface="Google Sans" pitchFamily="34" charset="-122"/>
                <a:cs typeface="Google Sans" pitchFamily="34" charset="-120"/>
              </a:rPr>
              <a:t>YANG TERJADI SEKARANG</a:t>
            </a:r>
            <a:endParaRPr lang="en-US" sz="900" dirty="0"/>
          </a:p>
        </p:txBody>
      </p:sp>
      <p:sp>
        <p:nvSpPr>
          <p:cNvPr id="5" name="Text 3"/>
          <p:cNvSpPr/>
          <p:nvPr/>
        </p:nvSpPr>
        <p:spPr>
          <a:xfrm>
            <a:off x="6096000" y="1562100"/>
            <a:ext cx="3810000" cy="165100"/>
          </a:xfrm>
          <a:prstGeom prst="rect">
            <a:avLst/>
          </a:prstGeom>
          <a:noFill/>
          <a:ln/>
        </p:spPr>
        <p:txBody>
          <a:bodyPr wrap="square" lIns="0" tIns="0" rIns="0" bIns="0" rtlCol="0" anchor="ctr"/>
          <a:lstStyle/>
          <a:p>
            <a:pPr algn="l" indent="0" marL="0">
              <a:lnSpc>
                <a:spcPts val="900"/>
              </a:lnSpc>
              <a:buNone/>
            </a:pPr>
            <a:r>
              <a:rPr lang="en-US" sz="900" b="1" dirty="0">
                <a:solidFill>
                  <a:srgbClr val="003459"/>
                </a:solidFill>
                <a:latin typeface="Google Sans" pitchFamily="34" charset="0"/>
                <a:ea typeface="Google Sans" pitchFamily="34" charset="-122"/>
                <a:cs typeface="Google Sans" pitchFamily="34" charset="-120"/>
              </a:rPr>
              <a:t>JAWABAN DI APLIKASI</a:t>
            </a:r>
            <a:endParaRPr lang="en-US" sz="900" dirty="0"/>
          </a:p>
        </p:txBody>
      </p:sp>
      <p:sp>
        <p:nvSpPr>
          <p:cNvPr id="6" name="Shape 4"/>
          <p:cNvSpPr/>
          <p:nvPr/>
        </p:nvSpPr>
        <p:spPr>
          <a:xfrm>
            <a:off x="762000" y="1841500"/>
            <a:ext cx="10668000" cy="635000"/>
          </a:xfrm>
          <a:prstGeom prst="roundRect">
            <a:avLst>
              <a:gd name="adj" fmla="val 24000"/>
            </a:avLst>
          </a:prstGeom>
          <a:solidFill>
            <a:srgbClr val="FFFFFF"/>
          </a:solidFill>
          <a:ln w="10160">
            <a:solidFill>
              <a:srgbClr val="D5DEE4"/>
            </a:solidFill>
            <a:prstDash val="solid"/>
          </a:ln>
        </p:spPr>
      </p:sp>
      <p:sp>
        <p:nvSpPr>
          <p:cNvPr id="7" name="Shape 5"/>
          <p:cNvSpPr/>
          <p:nvPr/>
        </p:nvSpPr>
        <p:spPr>
          <a:xfrm>
            <a:off x="914400" y="2006600"/>
            <a:ext cx="304800" cy="304800"/>
          </a:xfrm>
          <a:prstGeom prst="ellipse">
            <a:avLst/>
          </a:prstGeom>
          <a:solidFill>
            <a:srgbClr val="F8E5E3"/>
          </a:solidFill>
          <a:ln/>
        </p:spPr>
      </p:sp>
      <p:sp>
        <p:nvSpPr>
          <p:cNvPr id="8" name="Text 6"/>
          <p:cNvSpPr/>
          <p:nvPr/>
        </p:nvSpPr>
        <p:spPr>
          <a:xfrm>
            <a:off x="914400" y="2006600"/>
            <a:ext cx="304800" cy="304800"/>
          </a:xfrm>
          <a:prstGeom prst="rect">
            <a:avLst/>
          </a:prstGeom>
          <a:noFill/>
          <a:ln/>
        </p:spPr>
        <p:txBody>
          <a:bodyPr wrap="square" lIns="0" tIns="0" rIns="0" bIns="0" rtlCol="0" anchor="ctr"/>
          <a:lstStyle/>
          <a:p>
            <a:pPr algn="ctr" indent="0" marL="0">
              <a:lnSpc>
                <a:spcPts val="1200"/>
              </a:lnSpc>
              <a:buNone/>
            </a:pPr>
            <a:r>
              <a:rPr lang="en-US" sz="1200" b="1" dirty="0">
                <a:solidFill>
                  <a:srgbClr val="B4443C"/>
                </a:solidFill>
                <a:latin typeface="Google Sans" pitchFamily="34" charset="0"/>
                <a:ea typeface="Google Sans" pitchFamily="34" charset="-122"/>
                <a:cs typeface="Google Sans" pitchFamily="34" charset="-120"/>
              </a:rPr>
              <a:t>1</a:t>
            </a:r>
            <a:endParaRPr lang="en-US" sz="1200" dirty="0"/>
          </a:p>
        </p:txBody>
      </p:sp>
      <p:sp>
        <p:nvSpPr>
          <p:cNvPr id="9" name="Text 7"/>
          <p:cNvSpPr/>
          <p:nvPr/>
        </p:nvSpPr>
        <p:spPr>
          <a:xfrm>
            <a:off x="1358900" y="1841500"/>
            <a:ext cx="4064000" cy="635000"/>
          </a:xfrm>
          <a:prstGeom prst="rect">
            <a:avLst/>
          </a:prstGeom>
          <a:noFill/>
          <a:ln/>
        </p:spPr>
        <p:txBody>
          <a:bodyPr wrap="square" lIns="0" tIns="0" rIns="0" bIns="0" rtlCol="0" anchor="ctr"/>
          <a:lstStyle/>
          <a:p>
            <a:pPr algn="l" indent="0" marL="0">
              <a:lnSpc>
                <a:spcPts val="1560"/>
              </a:lnSpc>
              <a:buNone/>
            </a:pPr>
            <a:r>
              <a:rPr lang="en-US" sz="1300" dirty="0">
                <a:solidFill>
                  <a:srgbClr val="00171F"/>
                </a:solidFill>
                <a:latin typeface="Google Sans SemiBold" pitchFamily="34" charset="0"/>
                <a:ea typeface="Google Sans SemiBold" pitchFamily="34" charset="-122"/>
                <a:cs typeface="Google Sans SemiBold" pitchFamily="34" charset="-120"/>
              </a:rPr>
              <a:t>Hampir sepertiga uang keluar habis buat ongkos kirim</a:t>
            </a:r>
            <a:endParaRPr lang="en-US" sz="1300" dirty="0"/>
          </a:p>
        </p:txBody>
      </p:sp>
      <p:pic>
        <p:nvPicPr>
          <p:cNvPr id="10" name="Image 0" descr="public\icons\arrow-right-mint.png">    </p:cNvPr>
          <p:cNvPicPr>
            <a:picLocks noChangeAspect="1"/>
          </p:cNvPicPr>
          <p:nvPr/>
        </p:nvPicPr>
        <p:blipFill>
          <a:blip r:embed="rId1"/>
          <a:stretch>
            <a:fillRect/>
          </a:stretch>
        </p:blipFill>
        <p:spPr>
          <a:xfrm>
            <a:off x="5613400" y="2044700"/>
            <a:ext cx="228600" cy="228600"/>
          </a:xfrm>
          <a:prstGeom prst="rect">
            <a:avLst/>
          </a:prstGeom>
        </p:spPr>
      </p:pic>
      <p:sp>
        <p:nvSpPr>
          <p:cNvPr id="11" name="Text 8"/>
          <p:cNvSpPr/>
          <p:nvPr/>
        </p:nvSpPr>
        <p:spPr>
          <a:xfrm>
            <a:off x="6096000" y="1841500"/>
            <a:ext cx="3556000" cy="635000"/>
          </a:xfrm>
          <a:prstGeom prst="rect">
            <a:avLst/>
          </a:prstGeom>
          <a:noFill/>
          <a:ln/>
        </p:spPr>
        <p:txBody>
          <a:bodyPr wrap="square" lIns="0" tIns="0" rIns="0" bIns="0" rtlCol="0" anchor="ctr"/>
          <a:lstStyle/>
          <a:p>
            <a:pPr algn="l" indent="0" marL="0">
              <a:lnSpc>
                <a:spcPts val="1560"/>
              </a:lnSpc>
              <a:buNone/>
            </a:pPr>
            <a:r>
              <a:rPr lang="en-US" sz="1300" b="1" dirty="0">
                <a:solidFill>
                  <a:srgbClr val="003459"/>
                </a:solidFill>
                <a:latin typeface="Google Sans" pitchFamily="34" charset="0"/>
                <a:ea typeface="Google Sans" pitchFamily="34" charset="-122"/>
                <a:cs typeface="Google Sans" pitchFamily="34" charset="-120"/>
              </a:rPr>
              <a:t>Ongkos tiap kiriman dicatat dan dibandingkan</a:t>
            </a:r>
            <a:endParaRPr lang="en-US" sz="1300" dirty="0"/>
          </a:p>
        </p:txBody>
      </p:sp>
      <p:sp>
        <p:nvSpPr>
          <p:cNvPr id="12" name="Shape 9"/>
          <p:cNvSpPr/>
          <p:nvPr/>
        </p:nvSpPr>
        <p:spPr>
          <a:xfrm>
            <a:off x="9880600" y="1993900"/>
            <a:ext cx="1397000" cy="330200"/>
          </a:xfrm>
          <a:prstGeom prst="roundRect">
            <a:avLst>
              <a:gd name="adj" fmla="val 50000"/>
            </a:avLst>
          </a:prstGeom>
          <a:solidFill>
            <a:srgbClr val="E3EDF5"/>
          </a:solidFill>
          <a:ln/>
        </p:spPr>
      </p:sp>
      <p:pic>
        <p:nvPicPr>
          <p:cNvPr id="13" name="Image 1" descr="public\icons\wallet-green.png">    </p:cNvPr>
          <p:cNvPicPr>
            <a:picLocks noChangeAspect="1"/>
          </p:cNvPicPr>
          <p:nvPr/>
        </p:nvPicPr>
        <p:blipFill>
          <a:blip r:embed="rId2"/>
          <a:stretch>
            <a:fillRect/>
          </a:stretch>
        </p:blipFill>
        <p:spPr>
          <a:xfrm>
            <a:off x="9982200" y="2057400"/>
            <a:ext cx="203200" cy="203200"/>
          </a:xfrm>
          <a:prstGeom prst="rect">
            <a:avLst/>
          </a:prstGeom>
        </p:spPr>
      </p:pic>
      <p:sp>
        <p:nvSpPr>
          <p:cNvPr id="14" name="Text 10"/>
          <p:cNvSpPr/>
          <p:nvPr/>
        </p:nvSpPr>
        <p:spPr>
          <a:xfrm>
            <a:off x="10236200" y="1993900"/>
            <a:ext cx="1016000" cy="330200"/>
          </a:xfrm>
          <a:prstGeom prst="rect">
            <a:avLst/>
          </a:prstGeom>
          <a:noFill/>
          <a:ln/>
        </p:spPr>
        <p:txBody>
          <a:bodyPr wrap="square" lIns="0" tIns="0" rIns="0" bIns="0" rtlCol="0" anchor="ctr"/>
          <a:lstStyle/>
          <a:p>
            <a:pPr algn="l" indent="0" marL="0">
              <a:lnSpc>
                <a:spcPts val="1000"/>
              </a:lnSpc>
              <a:buNone/>
            </a:pPr>
            <a:r>
              <a:rPr lang="en-US" sz="1000" dirty="0">
                <a:solidFill>
                  <a:srgbClr val="003459"/>
                </a:solidFill>
                <a:latin typeface="Google Sans SemiBold" pitchFamily="34" charset="0"/>
                <a:ea typeface="Google Sans SemiBold" pitchFamily="34" charset="-122"/>
                <a:cs typeface="Google Sans SemiBold" pitchFamily="34" charset="-120"/>
              </a:rPr>
              <a:t>Laporan</a:t>
            </a:r>
            <a:endParaRPr lang="en-US" sz="1000" dirty="0"/>
          </a:p>
        </p:txBody>
      </p:sp>
      <p:sp>
        <p:nvSpPr>
          <p:cNvPr id="15" name="Shape 11"/>
          <p:cNvSpPr/>
          <p:nvPr/>
        </p:nvSpPr>
        <p:spPr>
          <a:xfrm>
            <a:off x="762000" y="2578100"/>
            <a:ext cx="10668000" cy="635000"/>
          </a:xfrm>
          <a:prstGeom prst="roundRect">
            <a:avLst>
              <a:gd name="adj" fmla="val 24000"/>
            </a:avLst>
          </a:prstGeom>
          <a:solidFill>
            <a:srgbClr val="FFFFFF"/>
          </a:solidFill>
          <a:ln w="10160">
            <a:solidFill>
              <a:srgbClr val="D5DEE4"/>
            </a:solidFill>
            <a:prstDash val="solid"/>
          </a:ln>
        </p:spPr>
      </p:sp>
      <p:sp>
        <p:nvSpPr>
          <p:cNvPr id="16" name="Shape 12"/>
          <p:cNvSpPr/>
          <p:nvPr/>
        </p:nvSpPr>
        <p:spPr>
          <a:xfrm>
            <a:off x="914400" y="2743200"/>
            <a:ext cx="304800" cy="304800"/>
          </a:xfrm>
          <a:prstGeom prst="ellipse">
            <a:avLst/>
          </a:prstGeom>
          <a:solidFill>
            <a:srgbClr val="F8E5E3"/>
          </a:solidFill>
          <a:ln/>
        </p:spPr>
      </p:sp>
      <p:sp>
        <p:nvSpPr>
          <p:cNvPr id="17" name="Text 13"/>
          <p:cNvSpPr/>
          <p:nvPr/>
        </p:nvSpPr>
        <p:spPr>
          <a:xfrm>
            <a:off x="914400" y="2743200"/>
            <a:ext cx="304800" cy="304800"/>
          </a:xfrm>
          <a:prstGeom prst="rect">
            <a:avLst/>
          </a:prstGeom>
          <a:noFill/>
          <a:ln/>
        </p:spPr>
        <p:txBody>
          <a:bodyPr wrap="square" lIns="0" tIns="0" rIns="0" bIns="0" rtlCol="0" anchor="ctr"/>
          <a:lstStyle/>
          <a:p>
            <a:pPr algn="ctr" indent="0" marL="0">
              <a:lnSpc>
                <a:spcPts val="1200"/>
              </a:lnSpc>
              <a:buNone/>
            </a:pPr>
            <a:r>
              <a:rPr lang="en-US" sz="1200" b="1" dirty="0">
                <a:solidFill>
                  <a:srgbClr val="B4443C"/>
                </a:solidFill>
                <a:latin typeface="Google Sans" pitchFamily="34" charset="0"/>
                <a:ea typeface="Google Sans" pitchFamily="34" charset="-122"/>
                <a:cs typeface="Google Sans" pitchFamily="34" charset="-120"/>
              </a:rPr>
              <a:t>2</a:t>
            </a:r>
            <a:endParaRPr lang="en-US" sz="1200" dirty="0"/>
          </a:p>
        </p:txBody>
      </p:sp>
      <p:sp>
        <p:nvSpPr>
          <p:cNvPr id="18" name="Text 14"/>
          <p:cNvSpPr/>
          <p:nvPr/>
        </p:nvSpPr>
        <p:spPr>
          <a:xfrm>
            <a:off x="1358900" y="2578100"/>
            <a:ext cx="4064000" cy="635000"/>
          </a:xfrm>
          <a:prstGeom prst="rect">
            <a:avLst/>
          </a:prstGeom>
          <a:noFill/>
          <a:ln/>
        </p:spPr>
        <p:txBody>
          <a:bodyPr wrap="square" lIns="0" tIns="0" rIns="0" bIns="0" rtlCol="0" anchor="ctr"/>
          <a:lstStyle/>
          <a:p>
            <a:pPr algn="l" indent="0" marL="0">
              <a:lnSpc>
                <a:spcPts val="1560"/>
              </a:lnSpc>
              <a:buNone/>
            </a:pPr>
            <a:r>
              <a:rPr lang="en-US" sz="1300" dirty="0">
                <a:solidFill>
                  <a:srgbClr val="00171F"/>
                </a:solidFill>
                <a:latin typeface="Google Sans SemiBold" pitchFamily="34" charset="0"/>
                <a:ea typeface="Google Sans SemiBold" pitchFamily="34" charset="-122"/>
                <a:cs typeface="Google Sans SemiBold" pitchFamily="34" charset="-120"/>
              </a:rPr>
              <a:t>Hasil daging tiap ekor beda jauh, 52 sampai 70 kg dari 100 kg ikan</a:t>
            </a:r>
            <a:endParaRPr lang="en-US" sz="1300" dirty="0"/>
          </a:p>
        </p:txBody>
      </p:sp>
      <p:pic>
        <p:nvPicPr>
          <p:cNvPr id="19" name="Image 2" descr="public\icons\arrow-right-mint.png">    </p:cNvPr>
          <p:cNvPicPr>
            <a:picLocks noChangeAspect="1"/>
          </p:cNvPicPr>
          <p:nvPr/>
        </p:nvPicPr>
        <p:blipFill>
          <a:blip r:embed="rId3"/>
          <a:stretch>
            <a:fillRect/>
          </a:stretch>
        </p:blipFill>
        <p:spPr>
          <a:xfrm>
            <a:off x="5613400" y="2781300"/>
            <a:ext cx="228600" cy="228600"/>
          </a:xfrm>
          <a:prstGeom prst="rect">
            <a:avLst/>
          </a:prstGeom>
        </p:spPr>
      </p:pic>
      <p:sp>
        <p:nvSpPr>
          <p:cNvPr id="20" name="Text 15"/>
          <p:cNvSpPr/>
          <p:nvPr/>
        </p:nvSpPr>
        <p:spPr>
          <a:xfrm>
            <a:off x="6096000" y="2578100"/>
            <a:ext cx="3556000" cy="635000"/>
          </a:xfrm>
          <a:prstGeom prst="rect">
            <a:avLst/>
          </a:prstGeom>
          <a:noFill/>
          <a:ln/>
        </p:spPr>
        <p:txBody>
          <a:bodyPr wrap="square" lIns="0" tIns="0" rIns="0" bIns="0" rtlCol="0" anchor="ctr"/>
          <a:lstStyle/>
          <a:p>
            <a:pPr algn="l" indent="0" marL="0">
              <a:lnSpc>
                <a:spcPts val="1560"/>
              </a:lnSpc>
              <a:buNone/>
            </a:pPr>
            <a:r>
              <a:rPr lang="en-US" sz="1300" b="1" dirty="0">
                <a:solidFill>
                  <a:srgbClr val="003459"/>
                </a:solidFill>
                <a:latin typeface="Google Sans" pitchFamily="34" charset="0"/>
                <a:ea typeface="Google Sans" pitchFamily="34" charset="-122"/>
                <a:cs typeface="Google Sans" pitchFamily="34" charset="-120"/>
              </a:rPr>
              <a:t>Hasil tiap ekor dicatat dan dibandingkan dengan rencana</a:t>
            </a:r>
            <a:endParaRPr lang="en-US" sz="1300" dirty="0"/>
          </a:p>
        </p:txBody>
      </p:sp>
      <p:sp>
        <p:nvSpPr>
          <p:cNvPr id="21" name="Shape 16"/>
          <p:cNvSpPr/>
          <p:nvPr/>
        </p:nvSpPr>
        <p:spPr>
          <a:xfrm>
            <a:off x="9880600" y="2730500"/>
            <a:ext cx="1397000" cy="330200"/>
          </a:xfrm>
          <a:prstGeom prst="roundRect">
            <a:avLst>
              <a:gd name="adj" fmla="val 50000"/>
            </a:avLst>
          </a:prstGeom>
          <a:solidFill>
            <a:srgbClr val="E3EDF5"/>
          </a:solidFill>
          <a:ln/>
        </p:spPr>
      </p:sp>
      <p:pic>
        <p:nvPicPr>
          <p:cNvPr id="22" name="Image 3" descr="public\icons\factory-green.png">    </p:cNvPr>
          <p:cNvPicPr>
            <a:picLocks noChangeAspect="1"/>
          </p:cNvPicPr>
          <p:nvPr/>
        </p:nvPicPr>
        <p:blipFill>
          <a:blip r:embed="rId4"/>
          <a:stretch>
            <a:fillRect/>
          </a:stretch>
        </p:blipFill>
        <p:spPr>
          <a:xfrm>
            <a:off x="9982200" y="2794000"/>
            <a:ext cx="203200" cy="203200"/>
          </a:xfrm>
          <a:prstGeom prst="rect">
            <a:avLst/>
          </a:prstGeom>
        </p:spPr>
      </p:pic>
      <p:sp>
        <p:nvSpPr>
          <p:cNvPr id="23" name="Text 17"/>
          <p:cNvSpPr/>
          <p:nvPr/>
        </p:nvSpPr>
        <p:spPr>
          <a:xfrm>
            <a:off x="10236200" y="2730500"/>
            <a:ext cx="1016000" cy="330200"/>
          </a:xfrm>
          <a:prstGeom prst="rect">
            <a:avLst/>
          </a:prstGeom>
          <a:noFill/>
          <a:ln/>
        </p:spPr>
        <p:txBody>
          <a:bodyPr wrap="square" lIns="0" tIns="0" rIns="0" bIns="0" rtlCol="0" anchor="ctr"/>
          <a:lstStyle/>
          <a:p>
            <a:pPr algn="l" indent="0" marL="0">
              <a:lnSpc>
                <a:spcPts val="1000"/>
              </a:lnSpc>
              <a:buNone/>
            </a:pPr>
            <a:r>
              <a:rPr lang="en-US" sz="1000" dirty="0">
                <a:solidFill>
                  <a:srgbClr val="003459"/>
                </a:solidFill>
                <a:latin typeface="Google Sans SemiBold" pitchFamily="34" charset="0"/>
                <a:ea typeface="Google Sans SemiBold" pitchFamily="34" charset="-122"/>
                <a:cs typeface="Google Sans SemiBold" pitchFamily="34" charset="-120"/>
              </a:rPr>
              <a:t>Produksi</a:t>
            </a:r>
            <a:endParaRPr lang="en-US" sz="1000" dirty="0"/>
          </a:p>
        </p:txBody>
      </p:sp>
      <p:sp>
        <p:nvSpPr>
          <p:cNvPr id="24" name="Shape 18"/>
          <p:cNvSpPr/>
          <p:nvPr/>
        </p:nvSpPr>
        <p:spPr>
          <a:xfrm>
            <a:off x="762000" y="3314700"/>
            <a:ext cx="10668000" cy="635000"/>
          </a:xfrm>
          <a:prstGeom prst="roundRect">
            <a:avLst>
              <a:gd name="adj" fmla="val 24000"/>
            </a:avLst>
          </a:prstGeom>
          <a:solidFill>
            <a:srgbClr val="FFFFFF"/>
          </a:solidFill>
          <a:ln w="10160">
            <a:solidFill>
              <a:srgbClr val="D5DEE4"/>
            </a:solidFill>
            <a:prstDash val="solid"/>
          </a:ln>
        </p:spPr>
      </p:sp>
      <p:sp>
        <p:nvSpPr>
          <p:cNvPr id="25" name="Shape 19"/>
          <p:cNvSpPr/>
          <p:nvPr/>
        </p:nvSpPr>
        <p:spPr>
          <a:xfrm>
            <a:off x="914400" y="3479800"/>
            <a:ext cx="304800" cy="304800"/>
          </a:xfrm>
          <a:prstGeom prst="ellipse">
            <a:avLst/>
          </a:prstGeom>
          <a:solidFill>
            <a:srgbClr val="F8E5E3"/>
          </a:solidFill>
          <a:ln/>
        </p:spPr>
      </p:sp>
      <p:sp>
        <p:nvSpPr>
          <p:cNvPr id="26" name="Text 20"/>
          <p:cNvSpPr/>
          <p:nvPr/>
        </p:nvSpPr>
        <p:spPr>
          <a:xfrm>
            <a:off x="914400" y="3479800"/>
            <a:ext cx="304800" cy="304800"/>
          </a:xfrm>
          <a:prstGeom prst="rect">
            <a:avLst/>
          </a:prstGeom>
          <a:noFill/>
          <a:ln/>
        </p:spPr>
        <p:txBody>
          <a:bodyPr wrap="square" lIns="0" tIns="0" rIns="0" bIns="0" rtlCol="0" anchor="ctr"/>
          <a:lstStyle/>
          <a:p>
            <a:pPr algn="ctr" indent="0" marL="0">
              <a:lnSpc>
                <a:spcPts val="1200"/>
              </a:lnSpc>
              <a:buNone/>
            </a:pPr>
            <a:r>
              <a:rPr lang="en-US" sz="1200" b="1" dirty="0">
                <a:solidFill>
                  <a:srgbClr val="B4443C"/>
                </a:solidFill>
                <a:latin typeface="Google Sans" pitchFamily="34" charset="0"/>
                <a:ea typeface="Google Sans" pitchFamily="34" charset="-122"/>
                <a:cs typeface="Google Sans" pitchFamily="34" charset="-120"/>
              </a:rPr>
              <a:t>3</a:t>
            </a:r>
            <a:endParaRPr lang="en-US" sz="1200" dirty="0"/>
          </a:p>
        </p:txBody>
      </p:sp>
      <p:sp>
        <p:nvSpPr>
          <p:cNvPr id="27" name="Text 21"/>
          <p:cNvSpPr/>
          <p:nvPr/>
        </p:nvSpPr>
        <p:spPr>
          <a:xfrm>
            <a:off x="1358900" y="3314700"/>
            <a:ext cx="4064000" cy="635000"/>
          </a:xfrm>
          <a:prstGeom prst="rect">
            <a:avLst/>
          </a:prstGeom>
          <a:noFill/>
          <a:ln/>
        </p:spPr>
        <p:txBody>
          <a:bodyPr wrap="square" lIns="0" tIns="0" rIns="0" bIns="0" rtlCol="0" anchor="ctr"/>
          <a:lstStyle/>
          <a:p>
            <a:pPr algn="l" indent="0" marL="0">
              <a:lnSpc>
                <a:spcPts val="1560"/>
              </a:lnSpc>
              <a:buNone/>
            </a:pPr>
            <a:r>
              <a:rPr lang="en-US" sz="1300" dirty="0">
                <a:solidFill>
                  <a:srgbClr val="00171F"/>
                </a:solidFill>
                <a:latin typeface="Google Sans SemiBold" pitchFamily="34" charset="0"/>
                <a:ea typeface="Google Sans SemiBold" pitchFamily="34" charset="-122"/>
                <a:cs typeface="Google Sans SemiBold" pitchFamily="34" charset="-120"/>
              </a:rPr>
              <a:t>65 kg sisa potongan ikan belum laku</a:t>
            </a:r>
            <a:endParaRPr lang="en-US" sz="1300" dirty="0"/>
          </a:p>
        </p:txBody>
      </p:sp>
      <p:pic>
        <p:nvPicPr>
          <p:cNvPr id="28" name="Image 4" descr="public\icons\arrow-right-mint.png">    </p:cNvPr>
          <p:cNvPicPr>
            <a:picLocks noChangeAspect="1"/>
          </p:cNvPicPr>
          <p:nvPr/>
        </p:nvPicPr>
        <p:blipFill>
          <a:blip r:embed="rId5"/>
          <a:stretch>
            <a:fillRect/>
          </a:stretch>
        </p:blipFill>
        <p:spPr>
          <a:xfrm>
            <a:off x="5613400" y="3517900"/>
            <a:ext cx="228600" cy="228600"/>
          </a:xfrm>
          <a:prstGeom prst="rect">
            <a:avLst/>
          </a:prstGeom>
        </p:spPr>
      </p:pic>
      <p:sp>
        <p:nvSpPr>
          <p:cNvPr id="29" name="Text 22"/>
          <p:cNvSpPr/>
          <p:nvPr/>
        </p:nvSpPr>
        <p:spPr>
          <a:xfrm>
            <a:off x="6096000" y="3314700"/>
            <a:ext cx="3556000" cy="635000"/>
          </a:xfrm>
          <a:prstGeom prst="rect">
            <a:avLst/>
          </a:prstGeom>
          <a:noFill/>
          <a:ln/>
        </p:spPr>
        <p:txBody>
          <a:bodyPr wrap="square" lIns="0" tIns="0" rIns="0" bIns="0" rtlCol="0" anchor="ctr"/>
          <a:lstStyle/>
          <a:p>
            <a:pPr algn="l" indent="0" marL="0">
              <a:lnSpc>
                <a:spcPts val="1560"/>
              </a:lnSpc>
              <a:buNone/>
            </a:pPr>
            <a:r>
              <a:rPr lang="en-US" sz="1300" b="1" dirty="0">
                <a:solidFill>
                  <a:srgbClr val="003459"/>
                </a:solidFill>
                <a:latin typeface="Google Sans" pitchFamily="34" charset="0"/>
                <a:ea typeface="Google Sans" pitchFamily="34" charset="-122"/>
                <a:cs typeface="Google Sans" pitchFamily="34" charset="-120"/>
              </a:rPr>
              <a:t>Sisa potongan tercatat, harga ikut kelas mutu</a:t>
            </a:r>
            <a:endParaRPr lang="en-US" sz="1300" dirty="0"/>
          </a:p>
        </p:txBody>
      </p:sp>
      <p:sp>
        <p:nvSpPr>
          <p:cNvPr id="30" name="Shape 23"/>
          <p:cNvSpPr/>
          <p:nvPr/>
        </p:nvSpPr>
        <p:spPr>
          <a:xfrm>
            <a:off x="9880600" y="3467100"/>
            <a:ext cx="1397000" cy="330200"/>
          </a:xfrm>
          <a:prstGeom prst="roundRect">
            <a:avLst>
              <a:gd name="adj" fmla="val 50000"/>
            </a:avLst>
          </a:prstGeom>
          <a:solidFill>
            <a:srgbClr val="E3EDF5"/>
          </a:solidFill>
          <a:ln/>
        </p:spPr>
      </p:sp>
      <p:pic>
        <p:nvPicPr>
          <p:cNvPr id="31" name="Image 5" descr="public\icons\package-green.png">    </p:cNvPr>
          <p:cNvPicPr>
            <a:picLocks noChangeAspect="1"/>
          </p:cNvPicPr>
          <p:nvPr/>
        </p:nvPicPr>
        <p:blipFill>
          <a:blip r:embed="rId6"/>
          <a:stretch>
            <a:fillRect/>
          </a:stretch>
        </p:blipFill>
        <p:spPr>
          <a:xfrm>
            <a:off x="9982200" y="3530600"/>
            <a:ext cx="203200" cy="203200"/>
          </a:xfrm>
          <a:prstGeom prst="rect">
            <a:avLst/>
          </a:prstGeom>
        </p:spPr>
      </p:pic>
      <p:sp>
        <p:nvSpPr>
          <p:cNvPr id="32" name="Text 24"/>
          <p:cNvSpPr/>
          <p:nvPr/>
        </p:nvSpPr>
        <p:spPr>
          <a:xfrm>
            <a:off x="10236200" y="3467100"/>
            <a:ext cx="1016000" cy="330200"/>
          </a:xfrm>
          <a:prstGeom prst="rect">
            <a:avLst/>
          </a:prstGeom>
          <a:noFill/>
          <a:ln/>
        </p:spPr>
        <p:txBody>
          <a:bodyPr wrap="square" lIns="0" tIns="0" rIns="0" bIns="0" rtlCol="0" anchor="ctr"/>
          <a:lstStyle/>
          <a:p>
            <a:pPr algn="l" indent="0" marL="0">
              <a:lnSpc>
                <a:spcPts val="1000"/>
              </a:lnSpc>
              <a:buNone/>
            </a:pPr>
            <a:r>
              <a:rPr lang="en-US" sz="1000" dirty="0">
                <a:solidFill>
                  <a:srgbClr val="003459"/>
                </a:solidFill>
                <a:latin typeface="Google Sans SemiBold" pitchFamily="34" charset="0"/>
                <a:ea typeface="Google Sans SemiBold" pitchFamily="34" charset="-122"/>
                <a:cs typeface="Google Sans SemiBold" pitchFamily="34" charset="-120"/>
              </a:rPr>
              <a:t>Stok</a:t>
            </a:r>
            <a:endParaRPr lang="en-US" sz="1000" dirty="0"/>
          </a:p>
        </p:txBody>
      </p:sp>
      <p:sp>
        <p:nvSpPr>
          <p:cNvPr id="33" name="Shape 25"/>
          <p:cNvSpPr/>
          <p:nvPr/>
        </p:nvSpPr>
        <p:spPr>
          <a:xfrm>
            <a:off x="762000" y="4051300"/>
            <a:ext cx="10668000" cy="635000"/>
          </a:xfrm>
          <a:prstGeom prst="roundRect">
            <a:avLst>
              <a:gd name="adj" fmla="val 24000"/>
            </a:avLst>
          </a:prstGeom>
          <a:solidFill>
            <a:srgbClr val="FFFFFF"/>
          </a:solidFill>
          <a:ln w="10160">
            <a:solidFill>
              <a:srgbClr val="D5DEE4"/>
            </a:solidFill>
            <a:prstDash val="solid"/>
          </a:ln>
        </p:spPr>
      </p:sp>
      <p:sp>
        <p:nvSpPr>
          <p:cNvPr id="34" name="Shape 26"/>
          <p:cNvSpPr/>
          <p:nvPr/>
        </p:nvSpPr>
        <p:spPr>
          <a:xfrm>
            <a:off x="914400" y="4216400"/>
            <a:ext cx="304800" cy="304800"/>
          </a:xfrm>
          <a:prstGeom prst="ellipse">
            <a:avLst/>
          </a:prstGeom>
          <a:solidFill>
            <a:srgbClr val="F8E5E3"/>
          </a:solidFill>
          <a:ln/>
        </p:spPr>
      </p:sp>
      <p:sp>
        <p:nvSpPr>
          <p:cNvPr id="35" name="Text 27"/>
          <p:cNvSpPr/>
          <p:nvPr/>
        </p:nvSpPr>
        <p:spPr>
          <a:xfrm>
            <a:off x="914400" y="4216400"/>
            <a:ext cx="304800" cy="304800"/>
          </a:xfrm>
          <a:prstGeom prst="rect">
            <a:avLst/>
          </a:prstGeom>
          <a:noFill/>
          <a:ln/>
        </p:spPr>
        <p:txBody>
          <a:bodyPr wrap="square" lIns="0" tIns="0" rIns="0" bIns="0" rtlCol="0" anchor="ctr"/>
          <a:lstStyle/>
          <a:p>
            <a:pPr algn="ctr" indent="0" marL="0">
              <a:lnSpc>
                <a:spcPts val="1200"/>
              </a:lnSpc>
              <a:buNone/>
            </a:pPr>
            <a:r>
              <a:rPr lang="en-US" sz="1200" b="1" dirty="0">
                <a:solidFill>
                  <a:srgbClr val="B4443C"/>
                </a:solidFill>
                <a:latin typeface="Google Sans" pitchFamily="34" charset="0"/>
                <a:ea typeface="Google Sans" pitchFamily="34" charset="-122"/>
                <a:cs typeface="Google Sans" pitchFamily="34" charset="-120"/>
              </a:rPr>
              <a:t>4</a:t>
            </a:r>
            <a:endParaRPr lang="en-US" sz="1200" dirty="0"/>
          </a:p>
        </p:txBody>
      </p:sp>
      <p:sp>
        <p:nvSpPr>
          <p:cNvPr id="36" name="Text 28"/>
          <p:cNvSpPr/>
          <p:nvPr/>
        </p:nvSpPr>
        <p:spPr>
          <a:xfrm>
            <a:off x="1358900" y="4051300"/>
            <a:ext cx="4064000" cy="635000"/>
          </a:xfrm>
          <a:prstGeom prst="rect">
            <a:avLst/>
          </a:prstGeom>
          <a:noFill/>
          <a:ln/>
        </p:spPr>
        <p:txBody>
          <a:bodyPr wrap="square" lIns="0" tIns="0" rIns="0" bIns="0" rtlCol="0" anchor="ctr"/>
          <a:lstStyle/>
          <a:p>
            <a:pPr algn="l" indent="0" marL="0">
              <a:lnSpc>
                <a:spcPts val="1560"/>
              </a:lnSpc>
              <a:buNone/>
            </a:pPr>
            <a:r>
              <a:rPr lang="en-US" sz="1300" dirty="0">
                <a:solidFill>
                  <a:srgbClr val="00171F"/>
                </a:solidFill>
                <a:latin typeface="Google Sans SemiBold" pitchFamily="34" charset="0"/>
                <a:ea typeface="Google Sans SemiBold" pitchFamily="34" charset="-122"/>
                <a:cs typeface="Google Sans SemiBold" pitchFamily="34" charset="-120"/>
              </a:rPr>
              <a:t>Tagihan gudang dingin dihitung pakai tangan</a:t>
            </a:r>
            <a:endParaRPr lang="en-US" sz="1300" dirty="0"/>
          </a:p>
        </p:txBody>
      </p:sp>
      <p:pic>
        <p:nvPicPr>
          <p:cNvPr id="37" name="Image 6" descr="public\icons\arrow-right-mint.png">    </p:cNvPr>
          <p:cNvPicPr>
            <a:picLocks noChangeAspect="1"/>
          </p:cNvPicPr>
          <p:nvPr/>
        </p:nvPicPr>
        <p:blipFill>
          <a:blip r:embed="rId7"/>
          <a:stretch>
            <a:fillRect/>
          </a:stretch>
        </p:blipFill>
        <p:spPr>
          <a:xfrm>
            <a:off x="5613400" y="4254500"/>
            <a:ext cx="228600" cy="228600"/>
          </a:xfrm>
          <a:prstGeom prst="rect">
            <a:avLst/>
          </a:prstGeom>
        </p:spPr>
      </p:pic>
      <p:sp>
        <p:nvSpPr>
          <p:cNvPr id="38" name="Text 29"/>
          <p:cNvSpPr/>
          <p:nvPr/>
        </p:nvSpPr>
        <p:spPr>
          <a:xfrm>
            <a:off x="6096000" y="4051300"/>
            <a:ext cx="3556000" cy="635000"/>
          </a:xfrm>
          <a:prstGeom prst="rect">
            <a:avLst/>
          </a:prstGeom>
          <a:noFill/>
          <a:ln/>
        </p:spPr>
        <p:txBody>
          <a:bodyPr wrap="square" lIns="0" tIns="0" rIns="0" bIns="0" rtlCol="0" anchor="ctr"/>
          <a:lstStyle/>
          <a:p>
            <a:pPr algn="l" indent="0" marL="0">
              <a:lnSpc>
                <a:spcPts val="1560"/>
              </a:lnSpc>
              <a:buNone/>
            </a:pPr>
            <a:r>
              <a:rPr lang="en-US" sz="1300" b="1" dirty="0">
                <a:solidFill>
                  <a:srgbClr val="003459"/>
                </a:solidFill>
                <a:latin typeface="Google Sans" pitchFamily="34" charset="0"/>
                <a:ea typeface="Google Sans" pitchFamily="34" charset="-122"/>
                <a:cs typeface="Google Sans" pitchFamily="34" charset="-120"/>
              </a:rPr>
              <a:t>Tagihan keluar otomatis, tinggal dicek</a:t>
            </a:r>
            <a:endParaRPr lang="en-US" sz="1300" dirty="0"/>
          </a:p>
        </p:txBody>
      </p:sp>
      <p:sp>
        <p:nvSpPr>
          <p:cNvPr id="39" name="Shape 30"/>
          <p:cNvSpPr/>
          <p:nvPr/>
        </p:nvSpPr>
        <p:spPr>
          <a:xfrm>
            <a:off x="9880600" y="4203700"/>
            <a:ext cx="1397000" cy="330200"/>
          </a:xfrm>
          <a:prstGeom prst="roundRect">
            <a:avLst>
              <a:gd name="adj" fmla="val 50000"/>
            </a:avLst>
          </a:prstGeom>
          <a:solidFill>
            <a:srgbClr val="E3EDF5"/>
          </a:solidFill>
          <a:ln/>
        </p:spPr>
      </p:sp>
      <p:pic>
        <p:nvPicPr>
          <p:cNvPr id="40" name="Image 7" descr="public\icons\snowflake-green.png">    </p:cNvPr>
          <p:cNvPicPr>
            <a:picLocks noChangeAspect="1"/>
          </p:cNvPicPr>
          <p:nvPr/>
        </p:nvPicPr>
        <p:blipFill>
          <a:blip r:embed="rId8"/>
          <a:stretch>
            <a:fillRect/>
          </a:stretch>
        </p:blipFill>
        <p:spPr>
          <a:xfrm>
            <a:off x="9982200" y="4267200"/>
            <a:ext cx="203200" cy="203200"/>
          </a:xfrm>
          <a:prstGeom prst="rect">
            <a:avLst/>
          </a:prstGeom>
        </p:spPr>
      </p:pic>
      <p:sp>
        <p:nvSpPr>
          <p:cNvPr id="41" name="Text 31"/>
          <p:cNvSpPr/>
          <p:nvPr/>
        </p:nvSpPr>
        <p:spPr>
          <a:xfrm>
            <a:off x="10236200" y="4203700"/>
            <a:ext cx="1016000" cy="330200"/>
          </a:xfrm>
          <a:prstGeom prst="rect">
            <a:avLst/>
          </a:prstGeom>
          <a:noFill/>
          <a:ln/>
        </p:spPr>
        <p:txBody>
          <a:bodyPr wrap="square" lIns="0" tIns="0" rIns="0" bIns="0" rtlCol="0" anchor="ctr"/>
          <a:lstStyle/>
          <a:p>
            <a:pPr algn="l" indent="0" marL="0">
              <a:lnSpc>
                <a:spcPts val="1000"/>
              </a:lnSpc>
              <a:buNone/>
            </a:pPr>
            <a:r>
              <a:rPr lang="en-US" sz="1000" dirty="0">
                <a:solidFill>
                  <a:srgbClr val="003459"/>
                </a:solidFill>
                <a:latin typeface="Google Sans SemiBold" pitchFamily="34" charset="0"/>
                <a:ea typeface="Google Sans SemiBold" pitchFamily="34" charset="-122"/>
                <a:cs typeface="Google Sans SemiBold" pitchFamily="34" charset="-120"/>
              </a:rPr>
              <a:t>Gudang dingin</a:t>
            </a:r>
            <a:endParaRPr lang="en-US" sz="1000" dirty="0"/>
          </a:p>
        </p:txBody>
      </p:sp>
      <p:sp>
        <p:nvSpPr>
          <p:cNvPr id="42" name="Shape 32"/>
          <p:cNvSpPr/>
          <p:nvPr/>
        </p:nvSpPr>
        <p:spPr>
          <a:xfrm>
            <a:off x="762000" y="4787900"/>
            <a:ext cx="10668000" cy="635000"/>
          </a:xfrm>
          <a:prstGeom prst="roundRect">
            <a:avLst>
              <a:gd name="adj" fmla="val 24000"/>
            </a:avLst>
          </a:prstGeom>
          <a:solidFill>
            <a:srgbClr val="FFFFFF"/>
          </a:solidFill>
          <a:ln w="10160">
            <a:solidFill>
              <a:srgbClr val="D5DEE4"/>
            </a:solidFill>
            <a:prstDash val="solid"/>
          </a:ln>
        </p:spPr>
      </p:sp>
      <p:sp>
        <p:nvSpPr>
          <p:cNvPr id="43" name="Shape 33"/>
          <p:cNvSpPr/>
          <p:nvPr/>
        </p:nvSpPr>
        <p:spPr>
          <a:xfrm>
            <a:off x="914400" y="4953000"/>
            <a:ext cx="304800" cy="304800"/>
          </a:xfrm>
          <a:prstGeom prst="ellipse">
            <a:avLst/>
          </a:prstGeom>
          <a:solidFill>
            <a:srgbClr val="F8E5E3"/>
          </a:solidFill>
          <a:ln/>
        </p:spPr>
      </p:sp>
      <p:sp>
        <p:nvSpPr>
          <p:cNvPr id="44" name="Text 34"/>
          <p:cNvSpPr/>
          <p:nvPr/>
        </p:nvSpPr>
        <p:spPr>
          <a:xfrm>
            <a:off x="914400" y="4953000"/>
            <a:ext cx="304800" cy="304800"/>
          </a:xfrm>
          <a:prstGeom prst="rect">
            <a:avLst/>
          </a:prstGeom>
          <a:noFill/>
          <a:ln/>
        </p:spPr>
        <p:txBody>
          <a:bodyPr wrap="square" lIns="0" tIns="0" rIns="0" bIns="0" rtlCol="0" anchor="ctr"/>
          <a:lstStyle/>
          <a:p>
            <a:pPr algn="ctr" indent="0" marL="0">
              <a:lnSpc>
                <a:spcPts val="1200"/>
              </a:lnSpc>
              <a:buNone/>
            </a:pPr>
            <a:r>
              <a:rPr lang="en-US" sz="1200" b="1" dirty="0">
                <a:solidFill>
                  <a:srgbClr val="B4443C"/>
                </a:solidFill>
                <a:latin typeface="Google Sans" pitchFamily="34" charset="0"/>
                <a:ea typeface="Google Sans" pitchFamily="34" charset="-122"/>
                <a:cs typeface="Google Sans" pitchFamily="34" charset="-120"/>
              </a:rPr>
              <a:t>5</a:t>
            </a:r>
            <a:endParaRPr lang="en-US" sz="1200" dirty="0"/>
          </a:p>
        </p:txBody>
      </p:sp>
      <p:sp>
        <p:nvSpPr>
          <p:cNvPr id="45" name="Text 35"/>
          <p:cNvSpPr/>
          <p:nvPr/>
        </p:nvSpPr>
        <p:spPr>
          <a:xfrm>
            <a:off x="1358900" y="4787900"/>
            <a:ext cx="4064000" cy="635000"/>
          </a:xfrm>
          <a:prstGeom prst="rect">
            <a:avLst/>
          </a:prstGeom>
          <a:noFill/>
          <a:ln/>
        </p:spPr>
        <p:txBody>
          <a:bodyPr wrap="square" lIns="0" tIns="0" rIns="0" bIns="0" rtlCol="0" anchor="ctr"/>
          <a:lstStyle/>
          <a:p>
            <a:pPr algn="l" indent="0" marL="0">
              <a:lnSpc>
                <a:spcPts val="1560"/>
              </a:lnSpc>
              <a:buNone/>
            </a:pPr>
            <a:r>
              <a:rPr lang="en-US" sz="1300" dirty="0">
                <a:solidFill>
                  <a:srgbClr val="00171F"/>
                </a:solidFill>
                <a:latin typeface="Google Sans SemiBold" pitchFamily="34" charset="0"/>
                <a:ea typeface="Google Sans SemiBold" pitchFamily="34" charset="-122"/>
                <a:cs typeface="Google Sans SemiBold" pitchFamily="34" charset="-120"/>
              </a:rPr>
              <a:t>Jadwal dua mitra bisa saling tabrak</a:t>
            </a:r>
            <a:endParaRPr lang="en-US" sz="1300" dirty="0"/>
          </a:p>
        </p:txBody>
      </p:sp>
      <p:pic>
        <p:nvPicPr>
          <p:cNvPr id="46" name="Image 8" descr="public\icons\arrow-right-mint.png">    </p:cNvPr>
          <p:cNvPicPr>
            <a:picLocks noChangeAspect="1"/>
          </p:cNvPicPr>
          <p:nvPr/>
        </p:nvPicPr>
        <p:blipFill>
          <a:blip r:embed="rId9"/>
          <a:stretch>
            <a:fillRect/>
          </a:stretch>
        </p:blipFill>
        <p:spPr>
          <a:xfrm>
            <a:off x="5613400" y="4991100"/>
            <a:ext cx="228600" cy="228600"/>
          </a:xfrm>
          <a:prstGeom prst="rect">
            <a:avLst/>
          </a:prstGeom>
        </p:spPr>
      </p:pic>
      <p:sp>
        <p:nvSpPr>
          <p:cNvPr id="47" name="Text 36"/>
          <p:cNvSpPr/>
          <p:nvPr/>
        </p:nvSpPr>
        <p:spPr>
          <a:xfrm>
            <a:off x="6096000" y="4787900"/>
            <a:ext cx="3556000" cy="635000"/>
          </a:xfrm>
          <a:prstGeom prst="rect">
            <a:avLst/>
          </a:prstGeom>
          <a:noFill/>
          <a:ln/>
        </p:spPr>
        <p:txBody>
          <a:bodyPr wrap="square" lIns="0" tIns="0" rIns="0" bIns="0" rtlCol="0" anchor="ctr"/>
          <a:lstStyle/>
          <a:p>
            <a:pPr algn="l" indent="0" marL="0">
              <a:lnSpc>
                <a:spcPts val="1560"/>
              </a:lnSpc>
              <a:buNone/>
            </a:pPr>
            <a:r>
              <a:rPr lang="en-US" sz="1300" b="1" dirty="0">
                <a:solidFill>
                  <a:srgbClr val="003459"/>
                </a:solidFill>
                <a:latin typeface="Google Sans" pitchFamily="34" charset="0"/>
                <a:ea typeface="Google Sans" pitchFamily="34" charset="-122"/>
                <a:cs typeface="Google Sans" pitchFamily="34" charset="-120"/>
              </a:rPr>
              <a:t>Bentrok ketahuan sebelum hari H</a:t>
            </a:r>
            <a:endParaRPr lang="en-US" sz="1300" dirty="0"/>
          </a:p>
        </p:txBody>
      </p:sp>
      <p:sp>
        <p:nvSpPr>
          <p:cNvPr id="48" name="Shape 37"/>
          <p:cNvSpPr/>
          <p:nvPr/>
        </p:nvSpPr>
        <p:spPr>
          <a:xfrm>
            <a:off x="9880600" y="4940300"/>
            <a:ext cx="1397000" cy="330200"/>
          </a:xfrm>
          <a:prstGeom prst="roundRect">
            <a:avLst>
              <a:gd name="adj" fmla="val 50000"/>
            </a:avLst>
          </a:prstGeom>
          <a:solidFill>
            <a:srgbClr val="E3EDF5"/>
          </a:solidFill>
          <a:ln/>
        </p:spPr>
      </p:sp>
      <p:pic>
        <p:nvPicPr>
          <p:cNvPr id="49" name="Image 9" descr="public\icons\calendar-clock-green.png">    </p:cNvPr>
          <p:cNvPicPr>
            <a:picLocks noChangeAspect="1"/>
          </p:cNvPicPr>
          <p:nvPr/>
        </p:nvPicPr>
        <p:blipFill>
          <a:blip r:embed="rId10"/>
          <a:stretch>
            <a:fillRect/>
          </a:stretch>
        </p:blipFill>
        <p:spPr>
          <a:xfrm>
            <a:off x="9982200" y="5003800"/>
            <a:ext cx="203200" cy="203200"/>
          </a:xfrm>
          <a:prstGeom prst="rect">
            <a:avLst/>
          </a:prstGeom>
        </p:spPr>
      </p:pic>
      <p:sp>
        <p:nvSpPr>
          <p:cNvPr id="50" name="Text 38"/>
          <p:cNvSpPr/>
          <p:nvPr/>
        </p:nvSpPr>
        <p:spPr>
          <a:xfrm>
            <a:off x="10236200" y="4940300"/>
            <a:ext cx="1016000" cy="330200"/>
          </a:xfrm>
          <a:prstGeom prst="rect">
            <a:avLst/>
          </a:prstGeom>
          <a:noFill/>
          <a:ln/>
        </p:spPr>
        <p:txBody>
          <a:bodyPr wrap="square" lIns="0" tIns="0" rIns="0" bIns="0" rtlCol="0" anchor="ctr"/>
          <a:lstStyle/>
          <a:p>
            <a:pPr algn="l" indent="0" marL="0">
              <a:lnSpc>
                <a:spcPts val="1000"/>
              </a:lnSpc>
              <a:buNone/>
            </a:pPr>
            <a:r>
              <a:rPr lang="en-US" sz="1000" dirty="0">
                <a:solidFill>
                  <a:srgbClr val="003459"/>
                </a:solidFill>
                <a:latin typeface="Google Sans SemiBold" pitchFamily="34" charset="0"/>
                <a:ea typeface="Google Sans SemiBold" pitchFamily="34" charset="-122"/>
                <a:cs typeface="Google Sans SemiBold" pitchFamily="34" charset="-120"/>
              </a:rPr>
              <a:t>Jadwal</a:t>
            </a:r>
            <a:endParaRPr lang="en-US" sz="1000" dirty="0"/>
          </a:p>
        </p:txBody>
      </p:sp>
      <p:sp>
        <p:nvSpPr>
          <p:cNvPr id="51" name="Shape 39"/>
          <p:cNvSpPr/>
          <p:nvPr/>
        </p:nvSpPr>
        <p:spPr>
          <a:xfrm>
            <a:off x="762000" y="5524500"/>
            <a:ext cx="10668000" cy="635000"/>
          </a:xfrm>
          <a:prstGeom prst="roundRect">
            <a:avLst>
              <a:gd name="adj" fmla="val 24000"/>
            </a:avLst>
          </a:prstGeom>
          <a:solidFill>
            <a:srgbClr val="FFFFFF"/>
          </a:solidFill>
          <a:ln w="10160">
            <a:solidFill>
              <a:srgbClr val="D5DEE4"/>
            </a:solidFill>
            <a:prstDash val="solid"/>
          </a:ln>
        </p:spPr>
      </p:sp>
      <p:sp>
        <p:nvSpPr>
          <p:cNvPr id="52" name="Shape 40"/>
          <p:cNvSpPr/>
          <p:nvPr/>
        </p:nvSpPr>
        <p:spPr>
          <a:xfrm>
            <a:off x="914400" y="5689600"/>
            <a:ext cx="304800" cy="304800"/>
          </a:xfrm>
          <a:prstGeom prst="ellipse">
            <a:avLst/>
          </a:prstGeom>
          <a:solidFill>
            <a:srgbClr val="F8E5E3"/>
          </a:solidFill>
          <a:ln/>
        </p:spPr>
      </p:sp>
      <p:sp>
        <p:nvSpPr>
          <p:cNvPr id="53" name="Text 41"/>
          <p:cNvSpPr/>
          <p:nvPr/>
        </p:nvSpPr>
        <p:spPr>
          <a:xfrm>
            <a:off x="914400" y="5689600"/>
            <a:ext cx="304800" cy="304800"/>
          </a:xfrm>
          <a:prstGeom prst="rect">
            <a:avLst/>
          </a:prstGeom>
          <a:noFill/>
          <a:ln/>
        </p:spPr>
        <p:txBody>
          <a:bodyPr wrap="square" lIns="0" tIns="0" rIns="0" bIns="0" rtlCol="0" anchor="ctr"/>
          <a:lstStyle/>
          <a:p>
            <a:pPr algn="ctr" indent="0" marL="0">
              <a:lnSpc>
                <a:spcPts val="1200"/>
              </a:lnSpc>
              <a:buNone/>
            </a:pPr>
            <a:r>
              <a:rPr lang="en-US" sz="1200" b="1" dirty="0">
                <a:solidFill>
                  <a:srgbClr val="B4443C"/>
                </a:solidFill>
                <a:latin typeface="Google Sans" pitchFamily="34" charset="0"/>
                <a:ea typeface="Google Sans" pitchFamily="34" charset="-122"/>
                <a:cs typeface="Google Sans" pitchFamily="34" charset="-120"/>
              </a:rPr>
              <a:t>6</a:t>
            </a:r>
            <a:endParaRPr lang="en-US" sz="1200" dirty="0"/>
          </a:p>
        </p:txBody>
      </p:sp>
      <p:sp>
        <p:nvSpPr>
          <p:cNvPr id="54" name="Text 42"/>
          <p:cNvSpPr/>
          <p:nvPr/>
        </p:nvSpPr>
        <p:spPr>
          <a:xfrm>
            <a:off x="1358900" y="5524500"/>
            <a:ext cx="4064000" cy="635000"/>
          </a:xfrm>
          <a:prstGeom prst="rect">
            <a:avLst/>
          </a:prstGeom>
          <a:noFill/>
          <a:ln/>
        </p:spPr>
        <p:txBody>
          <a:bodyPr wrap="square" lIns="0" tIns="0" rIns="0" bIns="0" rtlCol="0" anchor="ctr"/>
          <a:lstStyle/>
          <a:p>
            <a:pPr algn="l" indent="0" marL="0">
              <a:lnSpc>
                <a:spcPts val="1560"/>
              </a:lnSpc>
              <a:buNone/>
            </a:pPr>
            <a:r>
              <a:rPr lang="en-US" sz="1300" dirty="0">
                <a:solidFill>
                  <a:srgbClr val="00171F"/>
                </a:solidFill>
                <a:latin typeface="Google Sans SemiBold" pitchFamily="34" charset="0"/>
                <a:ea typeface="Google Sans SemiBold" pitchFamily="34" charset="-122"/>
                <a:cs typeface="Google Sans SemiBold" pitchFamily="34" charset="-120"/>
              </a:rPr>
              <a:t>55 transaksi belum punya bukti transfer</a:t>
            </a:r>
            <a:endParaRPr lang="en-US" sz="1300" dirty="0"/>
          </a:p>
        </p:txBody>
      </p:sp>
      <p:pic>
        <p:nvPicPr>
          <p:cNvPr id="55" name="Image 10" descr="public\icons\arrow-right-mint.png">    </p:cNvPr>
          <p:cNvPicPr>
            <a:picLocks noChangeAspect="1"/>
          </p:cNvPicPr>
          <p:nvPr/>
        </p:nvPicPr>
        <p:blipFill>
          <a:blip r:embed="rId11"/>
          <a:stretch>
            <a:fillRect/>
          </a:stretch>
        </p:blipFill>
        <p:spPr>
          <a:xfrm>
            <a:off x="5613400" y="5727700"/>
            <a:ext cx="228600" cy="228600"/>
          </a:xfrm>
          <a:prstGeom prst="rect">
            <a:avLst/>
          </a:prstGeom>
        </p:spPr>
      </p:pic>
      <p:sp>
        <p:nvSpPr>
          <p:cNvPr id="56" name="Text 43"/>
          <p:cNvSpPr/>
          <p:nvPr/>
        </p:nvSpPr>
        <p:spPr>
          <a:xfrm>
            <a:off x="6096000" y="5524500"/>
            <a:ext cx="3556000" cy="635000"/>
          </a:xfrm>
          <a:prstGeom prst="rect">
            <a:avLst/>
          </a:prstGeom>
          <a:noFill/>
          <a:ln/>
        </p:spPr>
        <p:txBody>
          <a:bodyPr wrap="square" lIns="0" tIns="0" rIns="0" bIns="0" rtlCol="0" anchor="ctr"/>
          <a:lstStyle/>
          <a:p>
            <a:pPr algn="l" indent="0" marL="0">
              <a:lnSpc>
                <a:spcPts val="1560"/>
              </a:lnSpc>
              <a:buNone/>
            </a:pPr>
            <a:r>
              <a:rPr lang="en-US" sz="1300" b="1" dirty="0">
                <a:solidFill>
                  <a:srgbClr val="003459"/>
                </a:solidFill>
                <a:latin typeface="Google Sans" pitchFamily="34" charset="0"/>
                <a:ea typeface="Google Sans" pitchFamily="34" charset="-122"/>
                <a:cs typeface="Google Sans" pitchFamily="34" charset="-120"/>
              </a:rPr>
              <a:t>Daftar cek sebelum tutup buku</a:t>
            </a:r>
            <a:endParaRPr lang="en-US" sz="1300" dirty="0"/>
          </a:p>
        </p:txBody>
      </p:sp>
      <p:sp>
        <p:nvSpPr>
          <p:cNvPr id="57" name="Shape 44"/>
          <p:cNvSpPr/>
          <p:nvPr/>
        </p:nvSpPr>
        <p:spPr>
          <a:xfrm>
            <a:off x="9880600" y="5676900"/>
            <a:ext cx="1397000" cy="330200"/>
          </a:xfrm>
          <a:prstGeom prst="roundRect">
            <a:avLst>
              <a:gd name="adj" fmla="val 50000"/>
            </a:avLst>
          </a:prstGeom>
          <a:solidFill>
            <a:srgbClr val="E3EDF5"/>
          </a:solidFill>
          <a:ln/>
        </p:spPr>
      </p:sp>
      <p:pic>
        <p:nvPicPr>
          <p:cNvPr id="58" name="Image 11" descr="public\icons\receipt-text-green.png">    </p:cNvPr>
          <p:cNvPicPr>
            <a:picLocks noChangeAspect="1"/>
          </p:cNvPicPr>
          <p:nvPr/>
        </p:nvPicPr>
        <p:blipFill>
          <a:blip r:embed="rId12"/>
          <a:stretch>
            <a:fillRect/>
          </a:stretch>
        </p:blipFill>
        <p:spPr>
          <a:xfrm>
            <a:off x="9982200" y="5740400"/>
            <a:ext cx="203200" cy="203200"/>
          </a:xfrm>
          <a:prstGeom prst="rect">
            <a:avLst/>
          </a:prstGeom>
        </p:spPr>
      </p:pic>
      <p:sp>
        <p:nvSpPr>
          <p:cNvPr id="59" name="Text 45"/>
          <p:cNvSpPr/>
          <p:nvPr/>
        </p:nvSpPr>
        <p:spPr>
          <a:xfrm>
            <a:off x="10236200" y="5676900"/>
            <a:ext cx="1016000" cy="330200"/>
          </a:xfrm>
          <a:prstGeom prst="rect">
            <a:avLst/>
          </a:prstGeom>
          <a:noFill/>
          <a:ln/>
        </p:spPr>
        <p:txBody>
          <a:bodyPr wrap="square" lIns="0" tIns="0" rIns="0" bIns="0" rtlCol="0" anchor="ctr"/>
          <a:lstStyle/>
          <a:p>
            <a:pPr algn="l" indent="0" marL="0">
              <a:lnSpc>
                <a:spcPts val="1000"/>
              </a:lnSpc>
              <a:buNone/>
            </a:pPr>
            <a:r>
              <a:rPr lang="en-US" sz="1000" dirty="0">
                <a:solidFill>
                  <a:srgbClr val="003459"/>
                </a:solidFill>
                <a:latin typeface="Google Sans SemiBold" pitchFamily="34" charset="0"/>
                <a:ea typeface="Google Sans SemiBold" pitchFamily="34" charset="-122"/>
                <a:cs typeface="Google Sans SemiBold" pitchFamily="34" charset="-120"/>
              </a:rPr>
              <a:t>Keuangan</a:t>
            </a:r>
            <a:endParaRPr lang="en-US" sz="1000" dirty="0"/>
          </a:p>
        </p:txBody>
      </p:sp>
      <p:sp>
        <p:nvSpPr>
          <p:cNvPr id="60" name="Text 46"/>
          <p:cNvSpPr/>
          <p:nvPr/>
        </p:nvSpPr>
        <p:spPr>
          <a:xfrm>
            <a:off x="762000" y="6502400"/>
            <a:ext cx="8255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Data nyata Siklus 1 dan Monitor Dana Fasilitas Bungus</a:t>
            </a:r>
            <a:endParaRPr lang="en-US" sz="800" dirty="0"/>
          </a:p>
        </p:txBody>
      </p:sp>
      <p:sp>
        <p:nvSpPr>
          <p:cNvPr id="61" name="Text 47"/>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02 / 15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4699000" cy="6858000"/>
          </a:xfrm>
          <a:prstGeom prst="rect">
            <a:avLst/>
          </a:prstGeom>
          <a:solidFill>
            <a:srgbClr val="EDF2F6"/>
          </a:solidFill>
          <a:ln/>
        </p:spPr>
      </p:sp>
      <p:sp>
        <p:nvSpPr>
          <p:cNvPr id="3" name="Shape 1"/>
          <p:cNvSpPr/>
          <p:nvPr/>
        </p:nvSpPr>
        <p:spPr>
          <a:xfrm>
            <a:off x="762000" y="533400"/>
            <a:ext cx="1473200" cy="254000"/>
          </a:xfrm>
          <a:prstGeom prst="roundRect">
            <a:avLst>
              <a:gd name="adj" fmla="val 50000"/>
            </a:avLst>
          </a:prstGeom>
          <a:solidFill>
            <a:srgbClr val="FFFFFF"/>
          </a:solidFill>
          <a:ln w="10160">
            <a:solidFill>
              <a:srgbClr val="D5DEE4"/>
            </a:solidFill>
            <a:prstDash val="solid"/>
          </a:ln>
        </p:spPr>
      </p:sp>
      <p:sp>
        <p:nvSpPr>
          <p:cNvPr id="4" name="Shape 2"/>
          <p:cNvSpPr/>
          <p:nvPr/>
        </p:nvSpPr>
        <p:spPr>
          <a:xfrm>
            <a:off x="863600" y="622300"/>
            <a:ext cx="76200" cy="76200"/>
          </a:xfrm>
          <a:prstGeom prst="ellipse">
            <a:avLst/>
          </a:prstGeom>
          <a:solidFill>
            <a:srgbClr val="C98A1B"/>
          </a:solidFill>
          <a:ln/>
        </p:spPr>
      </p:sp>
      <p:sp>
        <p:nvSpPr>
          <p:cNvPr id="5" name="Text 3"/>
          <p:cNvSpPr/>
          <p:nvPr/>
        </p:nvSpPr>
        <p:spPr>
          <a:xfrm>
            <a:off x="990600" y="533400"/>
            <a:ext cx="1206500" cy="254000"/>
          </a:xfrm>
          <a:prstGeom prst="rect">
            <a:avLst/>
          </a:prstGeom>
          <a:noFill/>
          <a:ln/>
        </p:spPr>
        <p:txBody>
          <a:bodyPr wrap="square" lIns="0" tIns="0" rIns="0" bIns="0" rtlCol="0" anchor="ctr"/>
          <a:lstStyle/>
          <a:p>
            <a:pPr algn="l" indent="0" marL="0">
              <a:lnSpc>
                <a:spcPts val="750"/>
              </a:lnSpc>
              <a:buNone/>
            </a:pPr>
            <a:r>
              <a:rPr lang="en-US" sz="750" b="1" dirty="0">
                <a:solidFill>
                  <a:srgbClr val="C98A1B"/>
                </a:solidFill>
                <a:latin typeface="Google Sans" pitchFamily="34" charset="0"/>
                <a:ea typeface="Google Sans" pitchFamily="34" charset="-122"/>
                <a:cs typeface="Google Sans" pitchFamily="34" charset="-120"/>
              </a:rPr>
              <a:t>MASALAH 1 DARI 6</a:t>
            </a:r>
            <a:endParaRPr lang="en-US" sz="750" dirty="0"/>
          </a:p>
        </p:txBody>
      </p:sp>
      <p:sp>
        <p:nvSpPr>
          <p:cNvPr id="6" name="Text 4"/>
          <p:cNvSpPr/>
          <p:nvPr/>
        </p:nvSpPr>
        <p:spPr>
          <a:xfrm>
            <a:off x="2336800" y="533400"/>
            <a:ext cx="2159000" cy="2540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Medium" pitchFamily="34" charset="0"/>
                <a:ea typeface="Google Sans Medium" pitchFamily="34" charset="-122"/>
                <a:cs typeface="Google Sans Medium" pitchFamily="34" charset="-120"/>
              </a:rPr>
              <a:t>Ongkos kirim</a:t>
            </a:r>
            <a:endParaRPr lang="en-US" sz="900" dirty="0"/>
          </a:p>
        </p:txBody>
      </p:sp>
      <p:sp>
        <p:nvSpPr>
          <p:cNvPr id="7" name="Text 5"/>
          <p:cNvSpPr/>
          <p:nvPr/>
        </p:nvSpPr>
        <p:spPr>
          <a:xfrm>
            <a:off x="762000" y="914400"/>
            <a:ext cx="3746500" cy="1270000"/>
          </a:xfrm>
          <a:prstGeom prst="rect">
            <a:avLst/>
          </a:prstGeom>
          <a:noFill/>
          <a:ln/>
        </p:spPr>
        <p:txBody>
          <a:bodyPr wrap="square" lIns="0" tIns="0" rIns="0" bIns="0" rtlCol="0" anchor="t"/>
          <a:lstStyle/>
          <a:p>
            <a:pPr algn="l" indent="0" marL="0">
              <a:lnSpc>
                <a:spcPts val="2810"/>
              </a:lnSpc>
              <a:buNone/>
            </a:pPr>
            <a:r>
              <a:rPr lang="en-US" sz="2600" b="1" dirty="0">
                <a:solidFill>
                  <a:srgbClr val="00171F"/>
                </a:solidFill>
                <a:latin typeface="Google Sans" pitchFamily="34" charset="0"/>
                <a:ea typeface="Google Sans" pitchFamily="34" charset="-122"/>
                <a:cs typeface="Google Sans" pitchFamily="34" charset="-120"/>
              </a:rPr>
              <a:t>Hampir sepertiga uang keluar habis buat ongkos kirim</a:t>
            </a:r>
            <a:endParaRPr lang="en-US" sz="2600" dirty="0"/>
          </a:p>
        </p:txBody>
      </p:sp>
      <p:sp>
        <p:nvSpPr>
          <p:cNvPr id="8" name="Text 6"/>
          <p:cNvSpPr/>
          <p:nvPr/>
        </p:nvSpPr>
        <p:spPr>
          <a:xfrm>
            <a:off x="762000" y="2235200"/>
            <a:ext cx="3746500" cy="698500"/>
          </a:xfrm>
          <a:prstGeom prst="rect">
            <a:avLst/>
          </a:prstGeom>
          <a:noFill/>
          <a:ln/>
        </p:spPr>
        <p:txBody>
          <a:bodyPr wrap="square" lIns="0" tIns="0" rIns="0" bIns="0" rtlCol="0" anchor="t"/>
          <a:lstStyle/>
          <a:p>
            <a:pPr algn="l" indent="0" marL="0">
              <a:lnSpc>
                <a:spcPts val="1560"/>
              </a:lnSpc>
              <a:buNone/>
            </a:pPr>
            <a:r>
              <a:rPr lang="en-US" sz="1100" dirty="0">
                <a:solidFill>
                  <a:srgbClr val="4B5E69"/>
                </a:solidFill>
                <a:latin typeface="Google Sans" pitchFamily="34" charset="0"/>
                <a:ea typeface="Google Sans" pitchFamily="34" charset="-122"/>
                <a:cs typeface="Google Sans" pitchFamily="34" charset="-120"/>
              </a:rPr>
              <a:t>Biaya Siklus 1 totalnya Rp37 juta. Rp11 juta di antaranya cuma buat kirim barang. Tanpa catatan, susah tahu ongkos mana yang kemahalan.</a:t>
            </a:r>
            <a:endParaRPr lang="en-US" sz="1100" dirty="0"/>
          </a:p>
        </p:txBody>
      </p:sp>
      <p:sp>
        <p:nvSpPr>
          <p:cNvPr id="9" name="Text 7"/>
          <p:cNvSpPr/>
          <p:nvPr/>
        </p:nvSpPr>
        <p:spPr>
          <a:xfrm>
            <a:off x="762000" y="3073400"/>
            <a:ext cx="3556000" cy="190500"/>
          </a:xfrm>
          <a:prstGeom prst="rect">
            <a:avLst/>
          </a:prstGeom>
          <a:noFill/>
          <a:ln/>
        </p:spPr>
        <p:txBody>
          <a:bodyPr wrap="square" lIns="0" tIns="0" rIns="0" bIns="0" rtlCol="0" anchor="ctr"/>
          <a:lstStyle/>
          <a:p>
            <a:pPr algn="l" indent="0" marL="0">
              <a:lnSpc>
                <a:spcPts val="1100"/>
              </a:lnSpc>
              <a:buNone/>
            </a:pPr>
            <a:r>
              <a:rPr lang="en-US" sz="1100" dirty="0">
                <a:solidFill>
                  <a:srgbClr val="00171F"/>
                </a:solidFill>
                <a:latin typeface="Google Sans SemiBold" pitchFamily="34" charset="0"/>
                <a:ea typeface="Google Sans SemiBold" pitchFamily="34" charset="-122"/>
                <a:cs typeface="Google Sans SemiBold" pitchFamily="34" charset="-120"/>
              </a:rPr>
              <a:t>Dari tiap Rp100 yang keluar:</a:t>
            </a:r>
            <a:endParaRPr lang="en-US" sz="1100" dirty="0"/>
          </a:p>
        </p:txBody>
      </p:sp>
      <p:sp>
        <p:nvSpPr>
          <p:cNvPr id="10" name="Shape 8"/>
          <p:cNvSpPr/>
          <p:nvPr/>
        </p:nvSpPr>
        <p:spPr>
          <a:xfrm>
            <a:off x="762000" y="3365500"/>
            <a:ext cx="279400" cy="203200"/>
          </a:xfrm>
          <a:prstGeom prst="roundRect">
            <a:avLst>
              <a:gd name="adj" fmla="val 25000"/>
            </a:avLst>
          </a:prstGeom>
          <a:solidFill>
            <a:srgbClr val="C98A1B"/>
          </a:solidFill>
          <a:ln/>
        </p:spPr>
      </p:sp>
      <p:sp>
        <p:nvSpPr>
          <p:cNvPr id="11" name="Shape 9"/>
          <p:cNvSpPr/>
          <p:nvPr/>
        </p:nvSpPr>
        <p:spPr>
          <a:xfrm>
            <a:off x="1092200" y="3365500"/>
            <a:ext cx="279400" cy="203200"/>
          </a:xfrm>
          <a:prstGeom prst="roundRect">
            <a:avLst>
              <a:gd name="adj" fmla="val 25000"/>
            </a:avLst>
          </a:prstGeom>
          <a:solidFill>
            <a:srgbClr val="C98A1B"/>
          </a:solidFill>
          <a:ln/>
        </p:spPr>
      </p:sp>
      <p:sp>
        <p:nvSpPr>
          <p:cNvPr id="12" name="Shape 10"/>
          <p:cNvSpPr/>
          <p:nvPr/>
        </p:nvSpPr>
        <p:spPr>
          <a:xfrm>
            <a:off x="1422400" y="3365500"/>
            <a:ext cx="279400" cy="203200"/>
          </a:xfrm>
          <a:prstGeom prst="roundRect">
            <a:avLst>
              <a:gd name="adj" fmla="val 25000"/>
            </a:avLst>
          </a:prstGeom>
          <a:solidFill>
            <a:srgbClr val="C98A1B"/>
          </a:solidFill>
          <a:ln/>
        </p:spPr>
      </p:sp>
      <p:sp>
        <p:nvSpPr>
          <p:cNvPr id="13" name="Shape 11"/>
          <p:cNvSpPr/>
          <p:nvPr/>
        </p:nvSpPr>
        <p:spPr>
          <a:xfrm>
            <a:off x="1752600" y="3365500"/>
            <a:ext cx="279400" cy="203200"/>
          </a:xfrm>
          <a:prstGeom prst="roundRect">
            <a:avLst>
              <a:gd name="adj" fmla="val 25000"/>
            </a:avLst>
          </a:prstGeom>
          <a:solidFill>
            <a:srgbClr val="C98A1B"/>
          </a:solidFill>
          <a:ln/>
        </p:spPr>
      </p:sp>
      <p:sp>
        <p:nvSpPr>
          <p:cNvPr id="14" name="Shape 12"/>
          <p:cNvSpPr/>
          <p:nvPr/>
        </p:nvSpPr>
        <p:spPr>
          <a:xfrm>
            <a:off x="2082800" y="3365500"/>
            <a:ext cx="279400" cy="203200"/>
          </a:xfrm>
          <a:prstGeom prst="roundRect">
            <a:avLst>
              <a:gd name="adj" fmla="val 25000"/>
            </a:avLst>
          </a:prstGeom>
          <a:solidFill>
            <a:srgbClr val="C98A1B"/>
          </a:solidFill>
          <a:ln/>
        </p:spPr>
      </p:sp>
      <p:sp>
        <p:nvSpPr>
          <p:cNvPr id="15" name="Shape 13"/>
          <p:cNvSpPr/>
          <p:nvPr/>
        </p:nvSpPr>
        <p:spPr>
          <a:xfrm>
            <a:off x="2413000" y="3365500"/>
            <a:ext cx="279400" cy="203200"/>
          </a:xfrm>
          <a:prstGeom prst="roundRect">
            <a:avLst>
              <a:gd name="adj" fmla="val 25000"/>
            </a:avLst>
          </a:prstGeom>
          <a:solidFill>
            <a:srgbClr val="C98A1B"/>
          </a:solidFill>
          <a:ln/>
        </p:spPr>
      </p:sp>
      <p:sp>
        <p:nvSpPr>
          <p:cNvPr id="16" name="Shape 14"/>
          <p:cNvSpPr/>
          <p:nvPr/>
        </p:nvSpPr>
        <p:spPr>
          <a:xfrm>
            <a:off x="2743200" y="3365500"/>
            <a:ext cx="279400" cy="203200"/>
          </a:xfrm>
          <a:prstGeom prst="roundRect">
            <a:avLst>
              <a:gd name="adj" fmla="val 25000"/>
            </a:avLst>
          </a:prstGeom>
          <a:solidFill>
            <a:srgbClr val="C98A1B"/>
          </a:solidFill>
          <a:ln/>
        </p:spPr>
      </p:sp>
      <p:sp>
        <p:nvSpPr>
          <p:cNvPr id="17" name="Shape 15"/>
          <p:cNvSpPr/>
          <p:nvPr/>
        </p:nvSpPr>
        <p:spPr>
          <a:xfrm>
            <a:off x="3073400" y="3365500"/>
            <a:ext cx="279400" cy="203200"/>
          </a:xfrm>
          <a:prstGeom prst="roundRect">
            <a:avLst>
              <a:gd name="adj" fmla="val 25000"/>
            </a:avLst>
          </a:prstGeom>
          <a:solidFill>
            <a:srgbClr val="C98A1B"/>
          </a:solidFill>
          <a:ln/>
        </p:spPr>
      </p:sp>
      <p:sp>
        <p:nvSpPr>
          <p:cNvPr id="18" name="Shape 16"/>
          <p:cNvSpPr/>
          <p:nvPr/>
        </p:nvSpPr>
        <p:spPr>
          <a:xfrm>
            <a:off x="3403600" y="3365500"/>
            <a:ext cx="279400" cy="203200"/>
          </a:xfrm>
          <a:prstGeom prst="roundRect">
            <a:avLst>
              <a:gd name="adj" fmla="val 25000"/>
            </a:avLst>
          </a:prstGeom>
          <a:solidFill>
            <a:srgbClr val="C98A1B"/>
          </a:solidFill>
          <a:ln/>
        </p:spPr>
      </p:sp>
      <p:sp>
        <p:nvSpPr>
          <p:cNvPr id="19" name="Shape 17"/>
          <p:cNvSpPr/>
          <p:nvPr/>
        </p:nvSpPr>
        <p:spPr>
          <a:xfrm>
            <a:off x="3733800" y="3365500"/>
            <a:ext cx="279400" cy="203200"/>
          </a:xfrm>
          <a:prstGeom prst="roundRect">
            <a:avLst>
              <a:gd name="adj" fmla="val 25000"/>
            </a:avLst>
          </a:prstGeom>
          <a:solidFill>
            <a:srgbClr val="C98A1B"/>
          </a:solidFill>
          <a:ln/>
        </p:spPr>
      </p:sp>
      <p:sp>
        <p:nvSpPr>
          <p:cNvPr id="20" name="Shape 18"/>
          <p:cNvSpPr/>
          <p:nvPr/>
        </p:nvSpPr>
        <p:spPr>
          <a:xfrm>
            <a:off x="762000" y="3619500"/>
            <a:ext cx="279400" cy="203200"/>
          </a:xfrm>
          <a:prstGeom prst="roundRect">
            <a:avLst>
              <a:gd name="adj" fmla="val 25000"/>
            </a:avLst>
          </a:prstGeom>
          <a:solidFill>
            <a:srgbClr val="C98A1B"/>
          </a:solidFill>
          <a:ln/>
        </p:spPr>
      </p:sp>
      <p:sp>
        <p:nvSpPr>
          <p:cNvPr id="21" name="Shape 19"/>
          <p:cNvSpPr/>
          <p:nvPr/>
        </p:nvSpPr>
        <p:spPr>
          <a:xfrm>
            <a:off x="1092200" y="3619500"/>
            <a:ext cx="279400" cy="203200"/>
          </a:xfrm>
          <a:prstGeom prst="roundRect">
            <a:avLst>
              <a:gd name="adj" fmla="val 25000"/>
            </a:avLst>
          </a:prstGeom>
          <a:solidFill>
            <a:srgbClr val="C98A1B"/>
          </a:solidFill>
          <a:ln/>
        </p:spPr>
      </p:sp>
      <p:sp>
        <p:nvSpPr>
          <p:cNvPr id="22" name="Shape 20"/>
          <p:cNvSpPr/>
          <p:nvPr/>
        </p:nvSpPr>
        <p:spPr>
          <a:xfrm>
            <a:off x="1422400" y="3619500"/>
            <a:ext cx="279400" cy="203200"/>
          </a:xfrm>
          <a:prstGeom prst="roundRect">
            <a:avLst>
              <a:gd name="adj" fmla="val 25000"/>
            </a:avLst>
          </a:prstGeom>
          <a:solidFill>
            <a:srgbClr val="C98A1B"/>
          </a:solidFill>
          <a:ln/>
        </p:spPr>
      </p:sp>
      <p:sp>
        <p:nvSpPr>
          <p:cNvPr id="23" name="Shape 21"/>
          <p:cNvSpPr/>
          <p:nvPr/>
        </p:nvSpPr>
        <p:spPr>
          <a:xfrm>
            <a:off x="1752600" y="3619500"/>
            <a:ext cx="279400" cy="203200"/>
          </a:xfrm>
          <a:prstGeom prst="roundRect">
            <a:avLst>
              <a:gd name="adj" fmla="val 25000"/>
            </a:avLst>
          </a:prstGeom>
          <a:solidFill>
            <a:srgbClr val="C98A1B"/>
          </a:solidFill>
          <a:ln/>
        </p:spPr>
      </p:sp>
      <p:sp>
        <p:nvSpPr>
          <p:cNvPr id="24" name="Shape 22"/>
          <p:cNvSpPr/>
          <p:nvPr/>
        </p:nvSpPr>
        <p:spPr>
          <a:xfrm>
            <a:off x="2082800" y="3619500"/>
            <a:ext cx="279400" cy="203200"/>
          </a:xfrm>
          <a:prstGeom prst="roundRect">
            <a:avLst>
              <a:gd name="adj" fmla="val 25000"/>
            </a:avLst>
          </a:prstGeom>
          <a:solidFill>
            <a:srgbClr val="C98A1B"/>
          </a:solidFill>
          <a:ln/>
        </p:spPr>
      </p:sp>
      <p:sp>
        <p:nvSpPr>
          <p:cNvPr id="25" name="Shape 23"/>
          <p:cNvSpPr/>
          <p:nvPr/>
        </p:nvSpPr>
        <p:spPr>
          <a:xfrm>
            <a:off x="2413000" y="3619500"/>
            <a:ext cx="279400" cy="203200"/>
          </a:xfrm>
          <a:prstGeom prst="roundRect">
            <a:avLst>
              <a:gd name="adj" fmla="val 25000"/>
            </a:avLst>
          </a:prstGeom>
          <a:solidFill>
            <a:srgbClr val="C98A1B"/>
          </a:solidFill>
          <a:ln/>
        </p:spPr>
      </p:sp>
      <p:sp>
        <p:nvSpPr>
          <p:cNvPr id="26" name="Shape 24"/>
          <p:cNvSpPr/>
          <p:nvPr/>
        </p:nvSpPr>
        <p:spPr>
          <a:xfrm>
            <a:off x="2743200" y="3619500"/>
            <a:ext cx="279400" cy="203200"/>
          </a:xfrm>
          <a:prstGeom prst="roundRect">
            <a:avLst>
              <a:gd name="adj" fmla="val 25000"/>
            </a:avLst>
          </a:prstGeom>
          <a:solidFill>
            <a:srgbClr val="C98A1B"/>
          </a:solidFill>
          <a:ln/>
        </p:spPr>
      </p:sp>
      <p:sp>
        <p:nvSpPr>
          <p:cNvPr id="27" name="Shape 25"/>
          <p:cNvSpPr/>
          <p:nvPr/>
        </p:nvSpPr>
        <p:spPr>
          <a:xfrm>
            <a:off x="3073400" y="3619500"/>
            <a:ext cx="279400" cy="203200"/>
          </a:xfrm>
          <a:prstGeom prst="roundRect">
            <a:avLst>
              <a:gd name="adj" fmla="val 25000"/>
            </a:avLst>
          </a:prstGeom>
          <a:solidFill>
            <a:srgbClr val="C98A1B"/>
          </a:solidFill>
          <a:ln/>
        </p:spPr>
      </p:sp>
      <p:sp>
        <p:nvSpPr>
          <p:cNvPr id="28" name="Shape 26"/>
          <p:cNvSpPr/>
          <p:nvPr/>
        </p:nvSpPr>
        <p:spPr>
          <a:xfrm>
            <a:off x="3403600" y="3619500"/>
            <a:ext cx="279400" cy="203200"/>
          </a:xfrm>
          <a:prstGeom prst="roundRect">
            <a:avLst>
              <a:gd name="adj" fmla="val 25000"/>
            </a:avLst>
          </a:prstGeom>
          <a:solidFill>
            <a:srgbClr val="C98A1B"/>
          </a:solidFill>
          <a:ln/>
        </p:spPr>
      </p:sp>
      <p:sp>
        <p:nvSpPr>
          <p:cNvPr id="29" name="Shape 27"/>
          <p:cNvSpPr/>
          <p:nvPr/>
        </p:nvSpPr>
        <p:spPr>
          <a:xfrm>
            <a:off x="3733800" y="3619500"/>
            <a:ext cx="279400" cy="203200"/>
          </a:xfrm>
          <a:prstGeom prst="roundRect">
            <a:avLst>
              <a:gd name="adj" fmla="val 25000"/>
            </a:avLst>
          </a:prstGeom>
          <a:solidFill>
            <a:srgbClr val="C98A1B"/>
          </a:solidFill>
          <a:ln/>
        </p:spPr>
      </p:sp>
      <p:sp>
        <p:nvSpPr>
          <p:cNvPr id="30" name="Shape 28"/>
          <p:cNvSpPr/>
          <p:nvPr/>
        </p:nvSpPr>
        <p:spPr>
          <a:xfrm>
            <a:off x="762000" y="3873500"/>
            <a:ext cx="279400" cy="203200"/>
          </a:xfrm>
          <a:prstGeom prst="roundRect">
            <a:avLst>
              <a:gd name="adj" fmla="val 25000"/>
            </a:avLst>
          </a:prstGeom>
          <a:solidFill>
            <a:srgbClr val="C98A1B"/>
          </a:solidFill>
          <a:ln/>
        </p:spPr>
      </p:sp>
      <p:sp>
        <p:nvSpPr>
          <p:cNvPr id="31" name="Shape 29"/>
          <p:cNvSpPr/>
          <p:nvPr/>
        </p:nvSpPr>
        <p:spPr>
          <a:xfrm>
            <a:off x="1092200" y="3873500"/>
            <a:ext cx="279400" cy="203200"/>
          </a:xfrm>
          <a:prstGeom prst="roundRect">
            <a:avLst>
              <a:gd name="adj" fmla="val 25000"/>
            </a:avLst>
          </a:prstGeom>
          <a:solidFill>
            <a:srgbClr val="C98A1B"/>
          </a:solidFill>
          <a:ln/>
        </p:spPr>
      </p:sp>
      <p:sp>
        <p:nvSpPr>
          <p:cNvPr id="32" name="Shape 30"/>
          <p:cNvSpPr/>
          <p:nvPr/>
        </p:nvSpPr>
        <p:spPr>
          <a:xfrm>
            <a:off x="1422400" y="3873500"/>
            <a:ext cx="279400" cy="203200"/>
          </a:xfrm>
          <a:prstGeom prst="roundRect">
            <a:avLst>
              <a:gd name="adj" fmla="val 25000"/>
            </a:avLst>
          </a:prstGeom>
          <a:solidFill>
            <a:srgbClr val="C98A1B"/>
          </a:solidFill>
          <a:ln/>
        </p:spPr>
      </p:sp>
      <p:sp>
        <p:nvSpPr>
          <p:cNvPr id="33" name="Shape 31"/>
          <p:cNvSpPr/>
          <p:nvPr/>
        </p:nvSpPr>
        <p:spPr>
          <a:xfrm>
            <a:off x="1752600" y="3873500"/>
            <a:ext cx="279400" cy="203200"/>
          </a:xfrm>
          <a:prstGeom prst="roundRect">
            <a:avLst>
              <a:gd name="adj" fmla="val 25000"/>
            </a:avLst>
          </a:prstGeom>
          <a:solidFill>
            <a:srgbClr val="C98A1B"/>
          </a:solidFill>
          <a:ln/>
        </p:spPr>
      </p:sp>
      <p:sp>
        <p:nvSpPr>
          <p:cNvPr id="34" name="Shape 32"/>
          <p:cNvSpPr/>
          <p:nvPr/>
        </p:nvSpPr>
        <p:spPr>
          <a:xfrm>
            <a:off x="2082800" y="3873500"/>
            <a:ext cx="279400" cy="203200"/>
          </a:xfrm>
          <a:prstGeom prst="roundRect">
            <a:avLst>
              <a:gd name="adj" fmla="val 25000"/>
            </a:avLst>
          </a:prstGeom>
          <a:solidFill>
            <a:srgbClr val="C98A1B"/>
          </a:solidFill>
          <a:ln/>
        </p:spPr>
      </p:sp>
      <p:sp>
        <p:nvSpPr>
          <p:cNvPr id="35" name="Shape 33"/>
          <p:cNvSpPr/>
          <p:nvPr/>
        </p:nvSpPr>
        <p:spPr>
          <a:xfrm>
            <a:off x="2413000" y="3873500"/>
            <a:ext cx="279400" cy="203200"/>
          </a:xfrm>
          <a:prstGeom prst="roundRect">
            <a:avLst>
              <a:gd name="adj" fmla="val 25000"/>
            </a:avLst>
          </a:prstGeom>
          <a:solidFill>
            <a:srgbClr val="C98A1B"/>
          </a:solidFill>
          <a:ln/>
        </p:spPr>
      </p:sp>
      <p:sp>
        <p:nvSpPr>
          <p:cNvPr id="36" name="Shape 34"/>
          <p:cNvSpPr/>
          <p:nvPr/>
        </p:nvSpPr>
        <p:spPr>
          <a:xfrm>
            <a:off x="2743200" y="3873500"/>
            <a:ext cx="279400" cy="203200"/>
          </a:xfrm>
          <a:prstGeom prst="roundRect">
            <a:avLst>
              <a:gd name="adj" fmla="val 25000"/>
            </a:avLst>
          </a:prstGeom>
          <a:solidFill>
            <a:srgbClr val="C98A1B"/>
          </a:solidFill>
          <a:ln/>
        </p:spPr>
      </p:sp>
      <p:sp>
        <p:nvSpPr>
          <p:cNvPr id="37" name="Shape 35"/>
          <p:cNvSpPr/>
          <p:nvPr/>
        </p:nvSpPr>
        <p:spPr>
          <a:xfrm>
            <a:off x="3073400" y="3873500"/>
            <a:ext cx="279400" cy="203200"/>
          </a:xfrm>
          <a:prstGeom prst="roundRect">
            <a:avLst>
              <a:gd name="adj" fmla="val 25000"/>
            </a:avLst>
          </a:prstGeom>
          <a:solidFill>
            <a:srgbClr val="C98A1B"/>
          </a:solidFill>
          <a:ln/>
        </p:spPr>
      </p:sp>
      <p:sp>
        <p:nvSpPr>
          <p:cNvPr id="38" name="Shape 36"/>
          <p:cNvSpPr/>
          <p:nvPr/>
        </p:nvSpPr>
        <p:spPr>
          <a:xfrm>
            <a:off x="3403600" y="3873500"/>
            <a:ext cx="279400" cy="203200"/>
          </a:xfrm>
          <a:prstGeom prst="roundRect">
            <a:avLst>
              <a:gd name="adj" fmla="val 25000"/>
            </a:avLst>
          </a:prstGeom>
          <a:solidFill>
            <a:srgbClr val="C98A1B"/>
          </a:solidFill>
          <a:ln/>
        </p:spPr>
      </p:sp>
      <p:sp>
        <p:nvSpPr>
          <p:cNvPr id="39" name="Shape 37"/>
          <p:cNvSpPr/>
          <p:nvPr/>
        </p:nvSpPr>
        <p:spPr>
          <a:xfrm>
            <a:off x="3733800" y="3873500"/>
            <a:ext cx="279400" cy="203200"/>
          </a:xfrm>
          <a:prstGeom prst="roundRect">
            <a:avLst>
              <a:gd name="adj" fmla="val 25000"/>
            </a:avLst>
          </a:prstGeom>
          <a:solidFill>
            <a:srgbClr val="C98A1B"/>
          </a:solidFill>
          <a:ln/>
        </p:spPr>
      </p:sp>
      <p:sp>
        <p:nvSpPr>
          <p:cNvPr id="40" name="Shape 38"/>
          <p:cNvSpPr/>
          <p:nvPr/>
        </p:nvSpPr>
        <p:spPr>
          <a:xfrm>
            <a:off x="762000" y="4127500"/>
            <a:ext cx="279400" cy="203200"/>
          </a:xfrm>
          <a:prstGeom prst="roundRect">
            <a:avLst>
              <a:gd name="adj" fmla="val 25000"/>
            </a:avLst>
          </a:prstGeom>
          <a:solidFill>
            <a:srgbClr val="D6E4EF"/>
          </a:solidFill>
          <a:ln/>
        </p:spPr>
      </p:sp>
      <p:sp>
        <p:nvSpPr>
          <p:cNvPr id="41" name="Shape 39"/>
          <p:cNvSpPr/>
          <p:nvPr/>
        </p:nvSpPr>
        <p:spPr>
          <a:xfrm>
            <a:off x="1092200" y="4127500"/>
            <a:ext cx="279400" cy="203200"/>
          </a:xfrm>
          <a:prstGeom prst="roundRect">
            <a:avLst>
              <a:gd name="adj" fmla="val 25000"/>
            </a:avLst>
          </a:prstGeom>
          <a:solidFill>
            <a:srgbClr val="D6E4EF"/>
          </a:solidFill>
          <a:ln/>
        </p:spPr>
      </p:sp>
      <p:sp>
        <p:nvSpPr>
          <p:cNvPr id="42" name="Shape 40"/>
          <p:cNvSpPr/>
          <p:nvPr/>
        </p:nvSpPr>
        <p:spPr>
          <a:xfrm>
            <a:off x="1422400" y="4127500"/>
            <a:ext cx="279400" cy="203200"/>
          </a:xfrm>
          <a:prstGeom prst="roundRect">
            <a:avLst>
              <a:gd name="adj" fmla="val 25000"/>
            </a:avLst>
          </a:prstGeom>
          <a:solidFill>
            <a:srgbClr val="D6E4EF"/>
          </a:solidFill>
          <a:ln/>
        </p:spPr>
      </p:sp>
      <p:sp>
        <p:nvSpPr>
          <p:cNvPr id="43" name="Shape 41"/>
          <p:cNvSpPr/>
          <p:nvPr/>
        </p:nvSpPr>
        <p:spPr>
          <a:xfrm>
            <a:off x="1752600" y="4127500"/>
            <a:ext cx="279400" cy="203200"/>
          </a:xfrm>
          <a:prstGeom prst="roundRect">
            <a:avLst>
              <a:gd name="adj" fmla="val 25000"/>
            </a:avLst>
          </a:prstGeom>
          <a:solidFill>
            <a:srgbClr val="D6E4EF"/>
          </a:solidFill>
          <a:ln/>
        </p:spPr>
      </p:sp>
      <p:sp>
        <p:nvSpPr>
          <p:cNvPr id="44" name="Shape 42"/>
          <p:cNvSpPr/>
          <p:nvPr/>
        </p:nvSpPr>
        <p:spPr>
          <a:xfrm>
            <a:off x="2082800" y="4127500"/>
            <a:ext cx="279400" cy="203200"/>
          </a:xfrm>
          <a:prstGeom prst="roundRect">
            <a:avLst>
              <a:gd name="adj" fmla="val 25000"/>
            </a:avLst>
          </a:prstGeom>
          <a:solidFill>
            <a:srgbClr val="D6E4EF"/>
          </a:solidFill>
          <a:ln/>
        </p:spPr>
      </p:sp>
      <p:sp>
        <p:nvSpPr>
          <p:cNvPr id="45" name="Shape 43"/>
          <p:cNvSpPr/>
          <p:nvPr/>
        </p:nvSpPr>
        <p:spPr>
          <a:xfrm>
            <a:off x="2413000" y="4127500"/>
            <a:ext cx="279400" cy="203200"/>
          </a:xfrm>
          <a:prstGeom prst="roundRect">
            <a:avLst>
              <a:gd name="adj" fmla="val 25000"/>
            </a:avLst>
          </a:prstGeom>
          <a:solidFill>
            <a:srgbClr val="D6E4EF"/>
          </a:solidFill>
          <a:ln/>
        </p:spPr>
      </p:sp>
      <p:sp>
        <p:nvSpPr>
          <p:cNvPr id="46" name="Shape 44"/>
          <p:cNvSpPr/>
          <p:nvPr/>
        </p:nvSpPr>
        <p:spPr>
          <a:xfrm>
            <a:off x="2743200" y="4127500"/>
            <a:ext cx="279400" cy="203200"/>
          </a:xfrm>
          <a:prstGeom prst="roundRect">
            <a:avLst>
              <a:gd name="adj" fmla="val 25000"/>
            </a:avLst>
          </a:prstGeom>
          <a:solidFill>
            <a:srgbClr val="D6E4EF"/>
          </a:solidFill>
          <a:ln/>
        </p:spPr>
      </p:sp>
      <p:sp>
        <p:nvSpPr>
          <p:cNvPr id="47" name="Shape 45"/>
          <p:cNvSpPr/>
          <p:nvPr/>
        </p:nvSpPr>
        <p:spPr>
          <a:xfrm>
            <a:off x="3073400" y="4127500"/>
            <a:ext cx="279400" cy="203200"/>
          </a:xfrm>
          <a:prstGeom prst="roundRect">
            <a:avLst>
              <a:gd name="adj" fmla="val 25000"/>
            </a:avLst>
          </a:prstGeom>
          <a:solidFill>
            <a:srgbClr val="D6E4EF"/>
          </a:solidFill>
          <a:ln/>
        </p:spPr>
      </p:sp>
      <p:sp>
        <p:nvSpPr>
          <p:cNvPr id="48" name="Shape 46"/>
          <p:cNvSpPr/>
          <p:nvPr/>
        </p:nvSpPr>
        <p:spPr>
          <a:xfrm>
            <a:off x="3403600" y="4127500"/>
            <a:ext cx="279400" cy="203200"/>
          </a:xfrm>
          <a:prstGeom prst="roundRect">
            <a:avLst>
              <a:gd name="adj" fmla="val 25000"/>
            </a:avLst>
          </a:prstGeom>
          <a:solidFill>
            <a:srgbClr val="D6E4EF"/>
          </a:solidFill>
          <a:ln/>
        </p:spPr>
      </p:sp>
      <p:sp>
        <p:nvSpPr>
          <p:cNvPr id="49" name="Shape 47"/>
          <p:cNvSpPr/>
          <p:nvPr/>
        </p:nvSpPr>
        <p:spPr>
          <a:xfrm>
            <a:off x="3733800" y="4127500"/>
            <a:ext cx="279400" cy="203200"/>
          </a:xfrm>
          <a:prstGeom prst="roundRect">
            <a:avLst>
              <a:gd name="adj" fmla="val 25000"/>
            </a:avLst>
          </a:prstGeom>
          <a:solidFill>
            <a:srgbClr val="D6E4EF"/>
          </a:solidFill>
          <a:ln/>
        </p:spPr>
      </p:sp>
      <p:sp>
        <p:nvSpPr>
          <p:cNvPr id="50" name="Shape 48"/>
          <p:cNvSpPr/>
          <p:nvPr/>
        </p:nvSpPr>
        <p:spPr>
          <a:xfrm>
            <a:off x="762000" y="4381500"/>
            <a:ext cx="279400" cy="203200"/>
          </a:xfrm>
          <a:prstGeom prst="roundRect">
            <a:avLst>
              <a:gd name="adj" fmla="val 25000"/>
            </a:avLst>
          </a:prstGeom>
          <a:solidFill>
            <a:srgbClr val="D6E4EF"/>
          </a:solidFill>
          <a:ln/>
        </p:spPr>
      </p:sp>
      <p:sp>
        <p:nvSpPr>
          <p:cNvPr id="51" name="Shape 49"/>
          <p:cNvSpPr/>
          <p:nvPr/>
        </p:nvSpPr>
        <p:spPr>
          <a:xfrm>
            <a:off x="1092200" y="4381500"/>
            <a:ext cx="279400" cy="203200"/>
          </a:xfrm>
          <a:prstGeom prst="roundRect">
            <a:avLst>
              <a:gd name="adj" fmla="val 25000"/>
            </a:avLst>
          </a:prstGeom>
          <a:solidFill>
            <a:srgbClr val="D6E4EF"/>
          </a:solidFill>
          <a:ln/>
        </p:spPr>
      </p:sp>
      <p:sp>
        <p:nvSpPr>
          <p:cNvPr id="52" name="Shape 50"/>
          <p:cNvSpPr/>
          <p:nvPr/>
        </p:nvSpPr>
        <p:spPr>
          <a:xfrm>
            <a:off x="1422400" y="4381500"/>
            <a:ext cx="279400" cy="203200"/>
          </a:xfrm>
          <a:prstGeom prst="roundRect">
            <a:avLst>
              <a:gd name="adj" fmla="val 25000"/>
            </a:avLst>
          </a:prstGeom>
          <a:solidFill>
            <a:srgbClr val="D6E4EF"/>
          </a:solidFill>
          <a:ln/>
        </p:spPr>
      </p:sp>
      <p:sp>
        <p:nvSpPr>
          <p:cNvPr id="53" name="Shape 51"/>
          <p:cNvSpPr/>
          <p:nvPr/>
        </p:nvSpPr>
        <p:spPr>
          <a:xfrm>
            <a:off x="1752600" y="4381500"/>
            <a:ext cx="279400" cy="203200"/>
          </a:xfrm>
          <a:prstGeom prst="roundRect">
            <a:avLst>
              <a:gd name="adj" fmla="val 25000"/>
            </a:avLst>
          </a:prstGeom>
          <a:solidFill>
            <a:srgbClr val="D6E4EF"/>
          </a:solidFill>
          <a:ln/>
        </p:spPr>
      </p:sp>
      <p:sp>
        <p:nvSpPr>
          <p:cNvPr id="54" name="Shape 52"/>
          <p:cNvSpPr/>
          <p:nvPr/>
        </p:nvSpPr>
        <p:spPr>
          <a:xfrm>
            <a:off x="2082800" y="4381500"/>
            <a:ext cx="279400" cy="203200"/>
          </a:xfrm>
          <a:prstGeom prst="roundRect">
            <a:avLst>
              <a:gd name="adj" fmla="val 25000"/>
            </a:avLst>
          </a:prstGeom>
          <a:solidFill>
            <a:srgbClr val="D6E4EF"/>
          </a:solidFill>
          <a:ln/>
        </p:spPr>
      </p:sp>
      <p:sp>
        <p:nvSpPr>
          <p:cNvPr id="55" name="Shape 53"/>
          <p:cNvSpPr/>
          <p:nvPr/>
        </p:nvSpPr>
        <p:spPr>
          <a:xfrm>
            <a:off x="2413000" y="4381500"/>
            <a:ext cx="279400" cy="203200"/>
          </a:xfrm>
          <a:prstGeom prst="roundRect">
            <a:avLst>
              <a:gd name="adj" fmla="val 25000"/>
            </a:avLst>
          </a:prstGeom>
          <a:solidFill>
            <a:srgbClr val="D6E4EF"/>
          </a:solidFill>
          <a:ln/>
        </p:spPr>
      </p:sp>
      <p:sp>
        <p:nvSpPr>
          <p:cNvPr id="56" name="Shape 54"/>
          <p:cNvSpPr/>
          <p:nvPr/>
        </p:nvSpPr>
        <p:spPr>
          <a:xfrm>
            <a:off x="2743200" y="4381500"/>
            <a:ext cx="279400" cy="203200"/>
          </a:xfrm>
          <a:prstGeom prst="roundRect">
            <a:avLst>
              <a:gd name="adj" fmla="val 25000"/>
            </a:avLst>
          </a:prstGeom>
          <a:solidFill>
            <a:srgbClr val="D6E4EF"/>
          </a:solidFill>
          <a:ln/>
        </p:spPr>
      </p:sp>
      <p:sp>
        <p:nvSpPr>
          <p:cNvPr id="57" name="Shape 55"/>
          <p:cNvSpPr/>
          <p:nvPr/>
        </p:nvSpPr>
        <p:spPr>
          <a:xfrm>
            <a:off x="3073400" y="4381500"/>
            <a:ext cx="279400" cy="203200"/>
          </a:xfrm>
          <a:prstGeom prst="roundRect">
            <a:avLst>
              <a:gd name="adj" fmla="val 25000"/>
            </a:avLst>
          </a:prstGeom>
          <a:solidFill>
            <a:srgbClr val="D6E4EF"/>
          </a:solidFill>
          <a:ln/>
        </p:spPr>
      </p:sp>
      <p:sp>
        <p:nvSpPr>
          <p:cNvPr id="58" name="Shape 56"/>
          <p:cNvSpPr/>
          <p:nvPr/>
        </p:nvSpPr>
        <p:spPr>
          <a:xfrm>
            <a:off x="3403600" y="4381500"/>
            <a:ext cx="279400" cy="203200"/>
          </a:xfrm>
          <a:prstGeom prst="roundRect">
            <a:avLst>
              <a:gd name="adj" fmla="val 25000"/>
            </a:avLst>
          </a:prstGeom>
          <a:solidFill>
            <a:srgbClr val="D6E4EF"/>
          </a:solidFill>
          <a:ln/>
        </p:spPr>
      </p:sp>
      <p:sp>
        <p:nvSpPr>
          <p:cNvPr id="59" name="Shape 57"/>
          <p:cNvSpPr/>
          <p:nvPr/>
        </p:nvSpPr>
        <p:spPr>
          <a:xfrm>
            <a:off x="3733800" y="4381500"/>
            <a:ext cx="279400" cy="203200"/>
          </a:xfrm>
          <a:prstGeom prst="roundRect">
            <a:avLst>
              <a:gd name="adj" fmla="val 25000"/>
            </a:avLst>
          </a:prstGeom>
          <a:solidFill>
            <a:srgbClr val="D6E4EF"/>
          </a:solidFill>
          <a:ln/>
        </p:spPr>
      </p:sp>
      <p:sp>
        <p:nvSpPr>
          <p:cNvPr id="60" name="Shape 58"/>
          <p:cNvSpPr/>
          <p:nvPr/>
        </p:nvSpPr>
        <p:spPr>
          <a:xfrm>
            <a:off x="762000" y="4635500"/>
            <a:ext cx="279400" cy="203200"/>
          </a:xfrm>
          <a:prstGeom prst="roundRect">
            <a:avLst>
              <a:gd name="adj" fmla="val 25000"/>
            </a:avLst>
          </a:prstGeom>
          <a:solidFill>
            <a:srgbClr val="D6E4EF"/>
          </a:solidFill>
          <a:ln/>
        </p:spPr>
      </p:sp>
      <p:sp>
        <p:nvSpPr>
          <p:cNvPr id="61" name="Shape 59"/>
          <p:cNvSpPr/>
          <p:nvPr/>
        </p:nvSpPr>
        <p:spPr>
          <a:xfrm>
            <a:off x="1092200" y="4635500"/>
            <a:ext cx="279400" cy="203200"/>
          </a:xfrm>
          <a:prstGeom prst="roundRect">
            <a:avLst>
              <a:gd name="adj" fmla="val 25000"/>
            </a:avLst>
          </a:prstGeom>
          <a:solidFill>
            <a:srgbClr val="D6E4EF"/>
          </a:solidFill>
          <a:ln/>
        </p:spPr>
      </p:sp>
      <p:sp>
        <p:nvSpPr>
          <p:cNvPr id="62" name="Shape 60"/>
          <p:cNvSpPr/>
          <p:nvPr/>
        </p:nvSpPr>
        <p:spPr>
          <a:xfrm>
            <a:off x="1422400" y="4635500"/>
            <a:ext cx="279400" cy="203200"/>
          </a:xfrm>
          <a:prstGeom prst="roundRect">
            <a:avLst>
              <a:gd name="adj" fmla="val 25000"/>
            </a:avLst>
          </a:prstGeom>
          <a:solidFill>
            <a:srgbClr val="D6E4EF"/>
          </a:solidFill>
          <a:ln/>
        </p:spPr>
      </p:sp>
      <p:sp>
        <p:nvSpPr>
          <p:cNvPr id="63" name="Shape 61"/>
          <p:cNvSpPr/>
          <p:nvPr/>
        </p:nvSpPr>
        <p:spPr>
          <a:xfrm>
            <a:off x="1752600" y="4635500"/>
            <a:ext cx="279400" cy="203200"/>
          </a:xfrm>
          <a:prstGeom prst="roundRect">
            <a:avLst>
              <a:gd name="adj" fmla="val 25000"/>
            </a:avLst>
          </a:prstGeom>
          <a:solidFill>
            <a:srgbClr val="D6E4EF"/>
          </a:solidFill>
          <a:ln/>
        </p:spPr>
      </p:sp>
      <p:sp>
        <p:nvSpPr>
          <p:cNvPr id="64" name="Shape 62"/>
          <p:cNvSpPr/>
          <p:nvPr/>
        </p:nvSpPr>
        <p:spPr>
          <a:xfrm>
            <a:off x="2082800" y="4635500"/>
            <a:ext cx="279400" cy="203200"/>
          </a:xfrm>
          <a:prstGeom prst="roundRect">
            <a:avLst>
              <a:gd name="adj" fmla="val 25000"/>
            </a:avLst>
          </a:prstGeom>
          <a:solidFill>
            <a:srgbClr val="D6E4EF"/>
          </a:solidFill>
          <a:ln/>
        </p:spPr>
      </p:sp>
      <p:sp>
        <p:nvSpPr>
          <p:cNvPr id="65" name="Shape 63"/>
          <p:cNvSpPr/>
          <p:nvPr/>
        </p:nvSpPr>
        <p:spPr>
          <a:xfrm>
            <a:off x="2413000" y="4635500"/>
            <a:ext cx="279400" cy="203200"/>
          </a:xfrm>
          <a:prstGeom prst="roundRect">
            <a:avLst>
              <a:gd name="adj" fmla="val 25000"/>
            </a:avLst>
          </a:prstGeom>
          <a:solidFill>
            <a:srgbClr val="D6E4EF"/>
          </a:solidFill>
          <a:ln/>
        </p:spPr>
      </p:sp>
      <p:sp>
        <p:nvSpPr>
          <p:cNvPr id="66" name="Shape 64"/>
          <p:cNvSpPr/>
          <p:nvPr/>
        </p:nvSpPr>
        <p:spPr>
          <a:xfrm>
            <a:off x="2743200" y="4635500"/>
            <a:ext cx="279400" cy="203200"/>
          </a:xfrm>
          <a:prstGeom prst="roundRect">
            <a:avLst>
              <a:gd name="adj" fmla="val 25000"/>
            </a:avLst>
          </a:prstGeom>
          <a:solidFill>
            <a:srgbClr val="D6E4EF"/>
          </a:solidFill>
          <a:ln/>
        </p:spPr>
      </p:sp>
      <p:sp>
        <p:nvSpPr>
          <p:cNvPr id="67" name="Shape 65"/>
          <p:cNvSpPr/>
          <p:nvPr/>
        </p:nvSpPr>
        <p:spPr>
          <a:xfrm>
            <a:off x="3073400" y="4635500"/>
            <a:ext cx="279400" cy="203200"/>
          </a:xfrm>
          <a:prstGeom prst="roundRect">
            <a:avLst>
              <a:gd name="adj" fmla="val 25000"/>
            </a:avLst>
          </a:prstGeom>
          <a:solidFill>
            <a:srgbClr val="D6E4EF"/>
          </a:solidFill>
          <a:ln/>
        </p:spPr>
      </p:sp>
      <p:sp>
        <p:nvSpPr>
          <p:cNvPr id="68" name="Shape 66"/>
          <p:cNvSpPr/>
          <p:nvPr/>
        </p:nvSpPr>
        <p:spPr>
          <a:xfrm>
            <a:off x="3403600" y="4635500"/>
            <a:ext cx="279400" cy="203200"/>
          </a:xfrm>
          <a:prstGeom prst="roundRect">
            <a:avLst>
              <a:gd name="adj" fmla="val 25000"/>
            </a:avLst>
          </a:prstGeom>
          <a:solidFill>
            <a:srgbClr val="D6E4EF"/>
          </a:solidFill>
          <a:ln/>
        </p:spPr>
      </p:sp>
      <p:sp>
        <p:nvSpPr>
          <p:cNvPr id="69" name="Shape 67"/>
          <p:cNvSpPr/>
          <p:nvPr/>
        </p:nvSpPr>
        <p:spPr>
          <a:xfrm>
            <a:off x="3733800" y="4635500"/>
            <a:ext cx="279400" cy="203200"/>
          </a:xfrm>
          <a:prstGeom prst="roundRect">
            <a:avLst>
              <a:gd name="adj" fmla="val 25000"/>
            </a:avLst>
          </a:prstGeom>
          <a:solidFill>
            <a:srgbClr val="D6E4EF"/>
          </a:solidFill>
          <a:ln/>
        </p:spPr>
      </p:sp>
      <p:sp>
        <p:nvSpPr>
          <p:cNvPr id="70" name="Shape 68"/>
          <p:cNvSpPr/>
          <p:nvPr/>
        </p:nvSpPr>
        <p:spPr>
          <a:xfrm>
            <a:off x="762000" y="4889500"/>
            <a:ext cx="279400" cy="203200"/>
          </a:xfrm>
          <a:prstGeom prst="roundRect">
            <a:avLst>
              <a:gd name="adj" fmla="val 25000"/>
            </a:avLst>
          </a:prstGeom>
          <a:solidFill>
            <a:srgbClr val="D6E4EF"/>
          </a:solidFill>
          <a:ln/>
        </p:spPr>
      </p:sp>
      <p:sp>
        <p:nvSpPr>
          <p:cNvPr id="71" name="Shape 69"/>
          <p:cNvSpPr/>
          <p:nvPr/>
        </p:nvSpPr>
        <p:spPr>
          <a:xfrm>
            <a:off x="1092200" y="4889500"/>
            <a:ext cx="279400" cy="203200"/>
          </a:xfrm>
          <a:prstGeom prst="roundRect">
            <a:avLst>
              <a:gd name="adj" fmla="val 25000"/>
            </a:avLst>
          </a:prstGeom>
          <a:solidFill>
            <a:srgbClr val="D6E4EF"/>
          </a:solidFill>
          <a:ln/>
        </p:spPr>
      </p:sp>
      <p:sp>
        <p:nvSpPr>
          <p:cNvPr id="72" name="Shape 70"/>
          <p:cNvSpPr/>
          <p:nvPr/>
        </p:nvSpPr>
        <p:spPr>
          <a:xfrm>
            <a:off x="1422400" y="4889500"/>
            <a:ext cx="279400" cy="203200"/>
          </a:xfrm>
          <a:prstGeom prst="roundRect">
            <a:avLst>
              <a:gd name="adj" fmla="val 25000"/>
            </a:avLst>
          </a:prstGeom>
          <a:solidFill>
            <a:srgbClr val="D6E4EF"/>
          </a:solidFill>
          <a:ln/>
        </p:spPr>
      </p:sp>
      <p:sp>
        <p:nvSpPr>
          <p:cNvPr id="73" name="Shape 71"/>
          <p:cNvSpPr/>
          <p:nvPr/>
        </p:nvSpPr>
        <p:spPr>
          <a:xfrm>
            <a:off x="1752600" y="4889500"/>
            <a:ext cx="279400" cy="203200"/>
          </a:xfrm>
          <a:prstGeom prst="roundRect">
            <a:avLst>
              <a:gd name="adj" fmla="val 25000"/>
            </a:avLst>
          </a:prstGeom>
          <a:solidFill>
            <a:srgbClr val="D6E4EF"/>
          </a:solidFill>
          <a:ln/>
        </p:spPr>
      </p:sp>
      <p:sp>
        <p:nvSpPr>
          <p:cNvPr id="74" name="Shape 72"/>
          <p:cNvSpPr/>
          <p:nvPr/>
        </p:nvSpPr>
        <p:spPr>
          <a:xfrm>
            <a:off x="2082800" y="4889500"/>
            <a:ext cx="279400" cy="203200"/>
          </a:xfrm>
          <a:prstGeom prst="roundRect">
            <a:avLst>
              <a:gd name="adj" fmla="val 25000"/>
            </a:avLst>
          </a:prstGeom>
          <a:solidFill>
            <a:srgbClr val="D6E4EF"/>
          </a:solidFill>
          <a:ln/>
        </p:spPr>
      </p:sp>
      <p:sp>
        <p:nvSpPr>
          <p:cNvPr id="75" name="Shape 73"/>
          <p:cNvSpPr/>
          <p:nvPr/>
        </p:nvSpPr>
        <p:spPr>
          <a:xfrm>
            <a:off x="2413000" y="4889500"/>
            <a:ext cx="279400" cy="203200"/>
          </a:xfrm>
          <a:prstGeom prst="roundRect">
            <a:avLst>
              <a:gd name="adj" fmla="val 25000"/>
            </a:avLst>
          </a:prstGeom>
          <a:solidFill>
            <a:srgbClr val="D6E4EF"/>
          </a:solidFill>
          <a:ln/>
        </p:spPr>
      </p:sp>
      <p:sp>
        <p:nvSpPr>
          <p:cNvPr id="76" name="Shape 74"/>
          <p:cNvSpPr/>
          <p:nvPr/>
        </p:nvSpPr>
        <p:spPr>
          <a:xfrm>
            <a:off x="2743200" y="4889500"/>
            <a:ext cx="279400" cy="203200"/>
          </a:xfrm>
          <a:prstGeom prst="roundRect">
            <a:avLst>
              <a:gd name="adj" fmla="val 25000"/>
            </a:avLst>
          </a:prstGeom>
          <a:solidFill>
            <a:srgbClr val="D6E4EF"/>
          </a:solidFill>
          <a:ln/>
        </p:spPr>
      </p:sp>
      <p:sp>
        <p:nvSpPr>
          <p:cNvPr id="77" name="Shape 75"/>
          <p:cNvSpPr/>
          <p:nvPr/>
        </p:nvSpPr>
        <p:spPr>
          <a:xfrm>
            <a:off x="3073400" y="4889500"/>
            <a:ext cx="279400" cy="203200"/>
          </a:xfrm>
          <a:prstGeom prst="roundRect">
            <a:avLst>
              <a:gd name="adj" fmla="val 25000"/>
            </a:avLst>
          </a:prstGeom>
          <a:solidFill>
            <a:srgbClr val="D6E4EF"/>
          </a:solidFill>
          <a:ln/>
        </p:spPr>
      </p:sp>
      <p:sp>
        <p:nvSpPr>
          <p:cNvPr id="78" name="Shape 76"/>
          <p:cNvSpPr/>
          <p:nvPr/>
        </p:nvSpPr>
        <p:spPr>
          <a:xfrm>
            <a:off x="3403600" y="4889500"/>
            <a:ext cx="279400" cy="203200"/>
          </a:xfrm>
          <a:prstGeom prst="roundRect">
            <a:avLst>
              <a:gd name="adj" fmla="val 25000"/>
            </a:avLst>
          </a:prstGeom>
          <a:solidFill>
            <a:srgbClr val="D6E4EF"/>
          </a:solidFill>
          <a:ln/>
        </p:spPr>
      </p:sp>
      <p:sp>
        <p:nvSpPr>
          <p:cNvPr id="79" name="Shape 77"/>
          <p:cNvSpPr/>
          <p:nvPr/>
        </p:nvSpPr>
        <p:spPr>
          <a:xfrm>
            <a:off x="3733800" y="4889500"/>
            <a:ext cx="279400" cy="203200"/>
          </a:xfrm>
          <a:prstGeom prst="roundRect">
            <a:avLst>
              <a:gd name="adj" fmla="val 25000"/>
            </a:avLst>
          </a:prstGeom>
          <a:solidFill>
            <a:srgbClr val="D6E4EF"/>
          </a:solidFill>
          <a:ln/>
        </p:spPr>
      </p:sp>
      <p:sp>
        <p:nvSpPr>
          <p:cNvPr id="80" name="Shape 78"/>
          <p:cNvSpPr/>
          <p:nvPr/>
        </p:nvSpPr>
        <p:spPr>
          <a:xfrm>
            <a:off x="762000" y="5143500"/>
            <a:ext cx="279400" cy="203200"/>
          </a:xfrm>
          <a:prstGeom prst="roundRect">
            <a:avLst>
              <a:gd name="adj" fmla="val 25000"/>
            </a:avLst>
          </a:prstGeom>
          <a:solidFill>
            <a:srgbClr val="D6E4EF"/>
          </a:solidFill>
          <a:ln/>
        </p:spPr>
      </p:sp>
      <p:sp>
        <p:nvSpPr>
          <p:cNvPr id="81" name="Shape 79"/>
          <p:cNvSpPr/>
          <p:nvPr/>
        </p:nvSpPr>
        <p:spPr>
          <a:xfrm>
            <a:off x="1092200" y="5143500"/>
            <a:ext cx="279400" cy="203200"/>
          </a:xfrm>
          <a:prstGeom prst="roundRect">
            <a:avLst>
              <a:gd name="adj" fmla="val 25000"/>
            </a:avLst>
          </a:prstGeom>
          <a:solidFill>
            <a:srgbClr val="D6E4EF"/>
          </a:solidFill>
          <a:ln/>
        </p:spPr>
      </p:sp>
      <p:sp>
        <p:nvSpPr>
          <p:cNvPr id="82" name="Shape 80"/>
          <p:cNvSpPr/>
          <p:nvPr/>
        </p:nvSpPr>
        <p:spPr>
          <a:xfrm>
            <a:off x="1422400" y="5143500"/>
            <a:ext cx="279400" cy="203200"/>
          </a:xfrm>
          <a:prstGeom prst="roundRect">
            <a:avLst>
              <a:gd name="adj" fmla="val 25000"/>
            </a:avLst>
          </a:prstGeom>
          <a:solidFill>
            <a:srgbClr val="D6E4EF"/>
          </a:solidFill>
          <a:ln/>
        </p:spPr>
      </p:sp>
      <p:sp>
        <p:nvSpPr>
          <p:cNvPr id="83" name="Shape 81"/>
          <p:cNvSpPr/>
          <p:nvPr/>
        </p:nvSpPr>
        <p:spPr>
          <a:xfrm>
            <a:off x="1752600" y="5143500"/>
            <a:ext cx="279400" cy="203200"/>
          </a:xfrm>
          <a:prstGeom prst="roundRect">
            <a:avLst>
              <a:gd name="adj" fmla="val 25000"/>
            </a:avLst>
          </a:prstGeom>
          <a:solidFill>
            <a:srgbClr val="D6E4EF"/>
          </a:solidFill>
          <a:ln/>
        </p:spPr>
      </p:sp>
      <p:sp>
        <p:nvSpPr>
          <p:cNvPr id="84" name="Shape 82"/>
          <p:cNvSpPr/>
          <p:nvPr/>
        </p:nvSpPr>
        <p:spPr>
          <a:xfrm>
            <a:off x="2082800" y="5143500"/>
            <a:ext cx="279400" cy="203200"/>
          </a:xfrm>
          <a:prstGeom prst="roundRect">
            <a:avLst>
              <a:gd name="adj" fmla="val 25000"/>
            </a:avLst>
          </a:prstGeom>
          <a:solidFill>
            <a:srgbClr val="D6E4EF"/>
          </a:solidFill>
          <a:ln/>
        </p:spPr>
      </p:sp>
      <p:sp>
        <p:nvSpPr>
          <p:cNvPr id="85" name="Shape 83"/>
          <p:cNvSpPr/>
          <p:nvPr/>
        </p:nvSpPr>
        <p:spPr>
          <a:xfrm>
            <a:off x="2413000" y="5143500"/>
            <a:ext cx="279400" cy="203200"/>
          </a:xfrm>
          <a:prstGeom prst="roundRect">
            <a:avLst>
              <a:gd name="adj" fmla="val 25000"/>
            </a:avLst>
          </a:prstGeom>
          <a:solidFill>
            <a:srgbClr val="D6E4EF"/>
          </a:solidFill>
          <a:ln/>
        </p:spPr>
      </p:sp>
      <p:sp>
        <p:nvSpPr>
          <p:cNvPr id="86" name="Shape 84"/>
          <p:cNvSpPr/>
          <p:nvPr/>
        </p:nvSpPr>
        <p:spPr>
          <a:xfrm>
            <a:off x="2743200" y="5143500"/>
            <a:ext cx="279400" cy="203200"/>
          </a:xfrm>
          <a:prstGeom prst="roundRect">
            <a:avLst>
              <a:gd name="adj" fmla="val 25000"/>
            </a:avLst>
          </a:prstGeom>
          <a:solidFill>
            <a:srgbClr val="D6E4EF"/>
          </a:solidFill>
          <a:ln/>
        </p:spPr>
      </p:sp>
      <p:sp>
        <p:nvSpPr>
          <p:cNvPr id="87" name="Shape 85"/>
          <p:cNvSpPr/>
          <p:nvPr/>
        </p:nvSpPr>
        <p:spPr>
          <a:xfrm>
            <a:off x="3073400" y="5143500"/>
            <a:ext cx="279400" cy="203200"/>
          </a:xfrm>
          <a:prstGeom prst="roundRect">
            <a:avLst>
              <a:gd name="adj" fmla="val 25000"/>
            </a:avLst>
          </a:prstGeom>
          <a:solidFill>
            <a:srgbClr val="D6E4EF"/>
          </a:solidFill>
          <a:ln/>
        </p:spPr>
      </p:sp>
      <p:sp>
        <p:nvSpPr>
          <p:cNvPr id="88" name="Shape 86"/>
          <p:cNvSpPr/>
          <p:nvPr/>
        </p:nvSpPr>
        <p:spPr>
          <a:xfrm>
            <a:off x="3403600" y="5143500"/>
            <a:ext cx="279400" cy="203200"/>
          </a:xfrm>
          <a:prstGeom prst="roundRect">
            <a:avLst>
              <a:gd name="adj" fmla="val 25000"/>
            </a:avLst>
          </a:prstGeom>
          <a:solidFill>
            <a:srgbClr val="D6E4EF"/>
          </a:solidFill>
          <a:ln/>
        </p:spPr>
      </p:sp>
      <p:sp>
        <p:nvSpPr>
          <p:cNvPr id="89" name="Shape 87"/>
          <p:cNvSpPr/>
          <p:nvPr/>
        </p:nvSpPr>
        <p:spPr>
          <a:xfrm>
            <a:off x="3733800" y="5143500"/>
            <a:ext cx="279400" cy="203200"/>
          </a:xfrm>
          <a:prstGeom prst="roundRect">
            <a:avLst>
              <a:gd name="adj" fmla="val 25000"/>
            </a:avLst>
          </a:prstGeom>
          <a:solidFill>
            <a:srgbClr val="D6E4EF"/>
          </a:solidFill>
          <a:ln/>
        </p:spPr>
      </p:sp>
      <p:sp>
        <p:nvSpPr>
          <p:cNvPr id="90" name="Shape 88"/>
          <p:cNvSpPr/>
          <p:nvPr/>
        </p:nvSpPr>
        <p:spPr>
          <a:xfrm>
            <a:off x="762000" y="5397500"/>
            <a:ext cx="279400" cy="203200"/>
          </a:xfrm>
          <a:prstGeom prst="roundRect">
            <a:avLst>
              <a:gd name="adj" fmla="val 25000"/>
            </a:avLst>
          </a:prstGeom>
          <a:solidFill>
            <a:srgbClr val="D6E4EF"/>
          </a:solidFill>
          <a:ln/>
        </p:spPr>
      </p:sp>
      <p:sp>
        <p:nvSpPr>
          <p:cNvPr id="91" name="Shape 89"/>
          <p:cNvSpPr/>
          <p:nvPr/>
        </p:nvSpPr>
        <p:spPr>
          <a:xfrm>
            <a:off x="1092200" y="5397500"/>
            <a:ext cx="279400" cy="203200"/>
          </a:xfrm>
          <a:prstGeom prst="roundRect">
            <a:avLst>
              <a:gd name="adj" fmla="val 25000"/>
            </a:avLst>
          </a:prstGeom>
          <a:solidFill>
            <a:srgbClr val="D6E4EF"/>
          </a:solidFill>
          <a:ln/>
        </p:spPr>
      </p:sp>
      <p:sp>
        <p:nvSpPr>
          <p:cNvPr id="92" name="Shape 90"/>
          <p:cNvSpPr/>
          <p:nvPr/>
        </p:nvSpPr>
        <p:spPr>
          <a:xfrm>
            <a:off x="1422400" y="5397500"/>
            <a:ext cx="279400" cy="203200"/>
          </a:xfrm>
          <a:prstGeom prst="roundRect">
            <a:avLst>
              <a:gd name="adj" fmla="val 25000"/>
            </a:avLst>
          </a:prstGeom>
          <a:solidFill>
            <a:srgbClr val="D6E4EF"/>
          </a:solidFill>
          <a:ln/>
        </p:spPr>
      </p:sp>
      <p:sp>
        <p:nvSpPr>
          <p:cNvPr id="93" name="Shape 91"/>
          <p:cNvSpPr/>
          <p:nvPr/>
        </p:nvSpPr>
        <p:spPr>
          <a:xfrm>
            <a:off x="1752600" y="5397500"/>
            <a:ext cx="279400" cy="203200"/>
          </a:xfrm>
          <a:prstGeom prst="roundRect">
            <a:avLst>
              <a:gd name="adj" fmla="val 25000"/>
            </a:avLst>
          </a:prstGeom>
          <a:solidFill>
            <a:srgbClr val="D6E4EF"/>
          </a:solidFill>
          <a:ln/>
        </p:spPr>
      </p:sp>
      <p:sp>
        <p:nvSpPr>
          <p:cNvPr id="94" name="Shape 92"/>
          <p:cNvSpPr/>
          <p:nvPr/>
        </p:nvSpPr>
        <p:spPr>
          <a:xfrm>
            <a:off x="2082800" y="5397500"/>
            <a:ext cx="279400" cy="203200"/>
          </a:xfrm>
          <a:prstGeom prst="roundRect">
            <a:avLst>
              <a:gd name="adj" fmla="val 25000"/>
            </a:avLst>
          </a:prstGeom>
          <a:solidFill>
            <a:srgbClr val="D6E4EF"/>
          </a:solidFill>
          <a:ln/>
        </p:spPr>
      </p:sp>
      <p:sp>
        <p:nvSpPr>
          <p:cNvPr id="95" name="Shape 93"/>
          <p:cNvSpPr/>
          <p:nvPr/>
        </p:nvSpPr>
        <p:spPr>
          <a:xfrm>
            <a:off x="2413000" y="5397500"/>
            <a:ext cx="279400" cy="203200"/>
          </a:xfrm>
          <a:prstGeom prst="roundRect">
            <a:avLst>
              <a:gd name="adj" fmla="val 25000"/>
            </a:avLst>
          </a:prstGeom>
          <a:solidFill>
            <a:srgbClr val="D6E4EF"/>
          </a:solidFill>
          <a:ln/>
        </p:spPr>
      </p:sp>
      <p:sp>
        <p:nvSpPr>
          <p:cNvPr id="96" name="Shape 94"/>
          <p:cNvSpPr/>
          <p:nvPr/>
        </p:nvSpPr>
        <p:spPr>
          <a:xfrm>
            <a:off x="2743200" y="5397500"/>
            <a:ext cx="279400" cy="203200"/>
          </a:xfrm>
          <a:prstGeom prst="roundRect">
            <a:avLst>
              <a:gd name="adj" fmla="val 25000"/>
            </a:avLst>
          </a:prstGeom>
          <a:solidFill>
            <a:srgbClr val="D6E4EF"/>
          </a:solidFill>
          <a:ln/>
        </p:spPr>
      </p:sp>
      <p:sp>
        <p:nvSpPr>
          <p:cNvPr id="97" name="Shape 95"/>
          <p:cNvSpPr/>
          <p:nvPr/>
        </p:nvSpPr>
        <p:spPr>
          <a:xfrm>
            <a:off x="3073400" y="5397500"/>
            <a:ext cx="279400" cy="203200"/>
          </a:xfrm>
          <a:prstGeom prst="roundRect">
            <a:avLst>
              <a:gd name="adj" fmla="val 25000"/>
            </a:avLst>
          </a:prstGeom>
          <a:solidFill>
            <a:srgbClr val="D6E4EF"/>
          </a:solidFill>
          <a:ln/>
        </p:spPr>
      </p:sp>
      <p:sp>
        <p:nvSpPr>
          <p:cNvPr id="98" name="Shape 96"/>
          <p:cNvSpPr/>
          <p:nvPr/>
        </p:nvSpPr>
        <p:spPr>
          <a:xfrm>
            <a:off x="3403600" y="5397500"/>
            <a:ext cx="279400" cy="203200"/>
          </a:xfrm>
          <a:prstGeom prst="roundRect">
            <a:avLst>
              <a:gd name="adj" fmla="val 25000"/>
            </a:avLst>
          </a:prstGeom>
          <a:solidFill>
            <a:srgbClr val="D6E4EF"/>
          </a:solidFill>
          <a:ln/>
        </p:spPr>
      </p:sp>
      <p:sp>
        <p:nvSpPr>
          <p:cNvPr id="99" name="Shape 97"/>
          <p:cNvSpPr/>
          <p:nvPr/>
        </p:nvSpPr>
        <p:spPr>
          <a:xfrm>
            <a:off x="3733800" y="5397500"/>
            <a:ext cx="279400" cy="203200"/>
          </a:xfrm>
          <a:prstGeom prst="roundRect">
            <a:avLst>
              <a:gd name="adj" fmla="val 25000"/>
            </a:avLst>
          </a:prstGeom>
          <a:solidFill>
            <a:srgbClr val="D6E4EF"/>
          </a:solidFill>
          <a:ln/>
        </p:spPr>
      </p:sp>
      <p:sp>
        <p:nvSpPr>
          <p:cNvPr id="100" name="Shape 98"/>
          <p:cNvSpPr/>
          <p:nvPr/>
        </p:nvSpPr>
        <p:spPr>
          <a:xfrm>
            <a:off x="762000" y="5651500"/>
            <a:ext cx="279400" cy="203200"/>
          </a:xfrm>
          <a:prstGeom prst="roundRect">
            <a:avLst>
              <a:gd name="adj" fmla="val 25000"/>
            </a:avLst>
          </a:prstGeom>
          <a:solidFill>
            <a:srgbClr val="D6E4EF"/>
          </a:solidFill>
          <a:ln/>
        </p:spPr>
      </p:sp>
      <p:sp>
        <p:nvSpPr>
          <p:cNvPr id="101" name="Shape 99"/>
          <p:cNvSpPr/>
          <p:nvPr/>
        </p:nvSpPr>
        <p:spPr>
          <a:xfrm>
            <a:off x="1092200" y="5651500"/>
            <a:ext cx="279400" cy="203200"/>
          </a:xfrm>
          <a:prstGeom prst="roundRect">
            <a:avLst>
              <a:gd name="adj" fmla="val 25000"/>
            </a:avLst>
          </a:prstGeom>
          <a:solidFill>
            <a:srgbClr val="D6E4EF"/>
          </a:solidFill>
          <a:ln/>
        </p:spPr>
      </p:sp>
      <p:sp>
        <p:nvSpPr>
          <p:cNvPr id="102" name="Shape 100"/>
          <p:cNvSpPr/>
          <p:nvPr/>
        </p:nvSpPr>
        <p:spPr>
          <a:xfrm>
            <a:off x="1422400" y="5651500"/>
            <a:ext cx="279400" cy="203200"/>
          </a:xfrm>
          <a:prstGeom prst="roundRect">
            <a:avLst>
              <a:gd name="adj" fmla="val 25000"/>
            </a:avLst>
          </a:prstGeom>
          <a:solidFill>
            <a:srgbClr val="D6E4EF"/>
          </a:solidFill>
          <a:ln/>
        </p:spPr>
      </p:sp>
      <p:sp>
        <p:nvSpPr>
          <p:cNvPr id="103" name="Shape 101"/>
          <p:cNvSpPr/>
          <p:nvPr/>
        </p:nvSpPr>
        <p:spPr>
          <a:xfrm>
            <a:off x="1752600" y="5651500"/>
            <a:ext cx="279400" cy="203200"/>
          </a:xfrm>
          <a:prstGeom prst="roundRect">
            <a:avLst>
              <a:gd name="adj" fmla="val 25000"/>
            </a:avLst>
          </a:prstGeom>
          <a:solidFill>
            <a:srgbClr val="D6E4EF"/>
          </a:solidFill>
          <a:ln/>
        </p:spPr>
      </p:sp>
      <p:sp>
        <p:nvSpPr>
          <p:cNvPr id="104" name="Shape 102"/>
          <p:cNvSpPr/>
          <p:nvPr/>
        </p:nvSpPr>
        <p:spPr>
          <a:xfrm>
            <a:off x="2082800" y="5651500"/>
            <a:ext cx="279400" cy="203200"/>
          </a:xfrm>
          <a:prstGeom prst="roundRect">
            <a:avLst>
              <a:gd name="adj" fmla="val 25000"/>
            </a:avLst>
          </a:prstGeom>
          <a:solidFill>
            <a:srgbClr val="D6E4EF"/>
          </a:solidFill>
          <a:ln/>
        </p:spPr>
      </p:sp>
      <p:sp>
        <p:nvSpPr>
          <p:cNvPr id="105" name="Shape 103"/>
          <p:cNvSpPr/>
          <p:nvPr/>
        </p:nvSpPr>
        <p:spPr>
          <a:xfrm>
            <a:off x="2413000" y="5651500"/>
            <a:ext cx="279400" cy="203200"/>
          </a:xfrm>
          <a:prstGeom prst="roundRect">
            <a:avLst>
              <a:gd name="adj" fmla="val 25000"/>
            </a:avLst>
          </a:prstGeom>
          <a:solidFill>
            <a:srgbClr val="D6E4EF"/>
          </a:solidFill>
          <a:ln/>
        </p:spPr>
      </p:sp>
      <p:sp>
        <p:nvSpPr>
          <p:cNvPr id="106" name="Shape 104"/>
          <p:cNvSpPr/>
          <p:nvPr/>
        </p:nvSpPr>
        <p:spPr>
          <a:xfrm>
            <a:off x="2743200" y="5651500"/>
            <a:ext cx="279400" cy="203200"/>
          </a:xfrm>
          <a:prstGeom prst="roundRect">
            <a:avLst>
              <a:gd name="adj" fmla="val 25000"/>
            </a:avLst>
          </a:prstGeom>
          <a:solidFill>
            <a:srgbClr val="D6E4EF"/>
          </a:solidFill>
          <a:ln/>
        </p:spPr>
      </p:sp>
      <p:sp>
        <p:nvSpPr>
          <p:cNvPr id="107" name="Shape 105"/>
          <p:cNvSpPr/>
          <p:nvPr/>
        </p:nvSpPr>
        <p:spPr>
          <a:xfrm>
            <a:off x="3073400" y="5651500"/>
            <a:ext cx="279400" cy="203200"/>
          </a:xfrm>
          <a:prstGeom prst="roundRect">
            <a:avLst>
              <a:gd name="adj" fmla="val 25000"/>
            </a:avLst>
          </a:prstGeom>
          <a:solidFill>
            <a:srgbClr val="D6E4EF"/>
          </a:solidFill>
          <a:ln/>
        </p:spPr>
      </p:sp>
      <p:sp>
        <p:nvSpPr>
          <p:cNvPr id="108" name="Shape 106"/>
          <p:cNvSpPr/>
          <p:nvPr/>
        </p:nvSpPr>
        <p:spPr>
          <a:xfrm>
            <a:off x="3403600" y="5651500"/>
            <a:ext cx="279400" cy="203200"/>
          </a:xfrm>
          <a:prstGeom prst="roundRect">
            <a:avLst>
              <a:gd name="adj" fmla="val 25000"/>
            </a:avLst>
          </a:prstGeom>
          <a:solidFill>
            <a:srgbClr val="D6E4EF"/>
          </a:solidFill>
          <a:ln/>
        </p:spPr>
      </p:sp>
      <p:sp>
        <p:nvSpPr>
          <p:cNvPr id="109" name="Shape 107"/>
          <p:cNvSpPr/>
          <p:nvPr/>
        </p:nvSpPr>
        <p:spPr>
          <a:xfrm>
            <a:off x="3733800" y="5651500"/>
            <a:ext cx="279400" cy="203200"/>
          </a:xfrm>
          <a:prstGeom prst="roundRect">
            <a:avLst>
              <a:gd name="adj" fmla="val 25000"/>
            </a:avLst>
          </a:prstGeom>
          <a:solidFill>
            <a:srgbClr val="D6E4EF"/>
          </a:solidFill>
          <a:ln/>
        </p:spPr>
      </p:sp>
      <p:sp>
        <p:nvSpPr>
          <p:cNvPr id="110" name="Shape 108"/>
          <p:cNvSpPr/>
          <p:nvPr/>
        </p:nvSpPr>
        <p:spPr>
          <a:xfrm>
            <a:off x="762000" y="6019800"/>
            <a:ext cx="177800" cy="139700"/>
          </a:xfrm>
          <a:prstGeom prst="roundRect">
            <a:avLst>
              <a:gd name="adj" fmla="val 27273"/>
            </a:avLst>
          </a:prstGeom>
          <a:solidFill>
            <a:srgbClr val="C98A1B"/>
          </a:solidFill>
          <a:ln/>
        </p:spPr>
      </p:sp>
      <p:sp>
        <p:nvSpPr>
          <p:cNvPr id="111" name="Text 109"/>
          <p:cNvSpPr/>
          <p:nvPr/>
        </p:nvSpPr>
        <p:spPr>
          <a:xfrm>
            <a:off x="1003300" y="5994400"/>
            <a:ext cx="3429000" cy="190500"/>
          </a:xfrm>
          <a:prstGeom prst="rect">
            <a:avLst/>
          </a:prstGeom>
          <a:noFill/>
          <a:ln/>
        </p:spPr>
        <p:txBody>
          <a:bodyPr wrap="square" lIns="0" tIns="0" rIns="0" bIns="0" rtlCol="0" anchor="ctr"/>
          <a:lstStyle/>
          <a:p>
            <a:pPr algn="l" indent="0" marL="0">
              <a:lnSpc>
                <a:spcPts val="1000"/>
              </a:lnSpc>
              <a:buNone/>
            </a:pPr>
            <a:r>
              <a:rPr lang="en-US" sz="1000" dirty="0">
                <a:solidFill>
                  <a:srgbClr val="00171F"/>
                </a:solidFill>
                <a:latin typeface="Google Sans SemiBold" pitchFamily="34" charset="0"/>
                <a:ea typeface="Google Sans SemiBold" pitchFamily="34" charset="-122"/>
                <a:cs typeface="Google Sans SemiBold" pitchFamily="34" charset="-120"/>
              </a:rPr>
              <a:t>Rp30 habis buat ongkos kirim</a:t>
            </a:r>
            <a:endParaRPr lang="en-US" sz="1000" dirty="0"/>
          </a:p>
        </p:txBody>
      </p:sp>
      <p:sp>
        <p:nvSpPr>
          <p:cNvPr id="112" name="Shape 110"/>
          <p:cNvSpPr/>
          <p:nvPr/>
        </p:nvSpPr>
        <p:spPr>
          <a:xfrm>
            <a:off x="4546600" y="3175000"/>
            <a:ext cx="304800" cy="304800"/>
          </a:xfrm>
          <a:prstGeom prst="ellipse">
            <a:avLst/>
          </a:prstGeom>
          <a:solidFill>
            <a:srgbClr val="003459"/>
          </a:solidFill>
          <a:ln w="38100">
            <a:solidFill>
              <a:srgbClr val="F6F9FB"/>
            </a:solidFill>
            <a:prstDash val="solid"/>
          </a:ln>
        </p:spPr>
      </p:sp>
      <p:pic>
        <p:nvPicPr>
          <p:cNvPr id="113" name="Image 0" descr="public\icons\arrow-right-white.png">    </p:cNvPr>
          <p:cNvPicPr>
            <a:picLocks noChangeAspect="1"/>
          </p:cNvPicPr>
          <p:nvPr/>
        </p:nvPicPr>
        <p:blipFill>
          <a:blip r:embed="rId1"/>
          <a:stretch>
            <a:fillRect/>
          </a:stretch>
        </p:blipFill>
        <p:spPr>
          <a:xfrm>
            <a:off x="4610100" y="3238500"/>
            <a:ext cx="177800" cy="177800"/>
          </a:xfrm>
          <a:prstGeom prst="rect">
            <a:avLst/>
          </a:prstGeom>
        </p:spPr>
      </p:pic>
      <p:sp>
        <p:nvSpPr>
          <p:cNvPr id="114" name="Text 111"/>
          <p:cNvSpPr/>
          <p:nvPr/>
        </p:nvSpPr>
        <p:spPr>
          <a:xfrm>
            <a:off x="5080000" y="533400"/>
            <a:ext cx="2921000" cy="254000"/>
          </a:xfrm>
          <a:prstGeom prst="rect">
            <a:avLst/>
          </a:prstGeom>
          <a:noFill/>
          <a:ln/>
        </p:spPr>
        <p:txBody>
          <a:bodyPr wrap="square" lIns="0" tIns="0" rIns="0" bIns="0" rtlCol="0" anchor="ctr"/>
          <a:lstStyle/>
          <a:p>
            <a:pPr algn="l" indent="0" marL="0">
              <a:lnSpc>
                <a:spcPts val="750"/>
              </a:lnSpc>
              <a:buNone/>
            </a:pPr>
            <a:r>
              <a:rPr lang="en-US" sz="750" b="1" dirty="0">
                <a:solidFill>
                  <a:srgbClr val="003459"/>
                </a:solidFill>
                <a:latin typeface="Google Sans" pitchFamily="34" charset="0"/>
                <a:ea typeface="Google Sans" pitchFamily="34" charset="-122"/>
                <a:cs typeface="Google Sans" pitchFamily="34" charset="-120"/>
              </a:rPr>
              <a:t>JAWABANNYA DI KATALIS ERP</a:t>
            </a:r>
            <a:endParaRPr lang="en-US" sz="750" dirty="0"/>
          </a:p>
        </p:txBody>
      </p:sp>
      <p:sp>
        <p:nvSpPr>
          <p:cNvPr id="115" name="Shape 112"/>
          <p:cNvSpPr/>
          <p:nvPr/>
        </p:nvSpPr>
        <p:spPr>
          <a:xfrm>
            <a:off x="8013700" y="533400"/>
            <a:ext cx="1714500" cy="254000"/>
          </a:xfrm>
          <a:prstGeom prst="roundRect">
            <a:avLst>
              <a:gd name="adj" fmla="val 50000"/>
            </a:avLst>
          </a:prstGeom>
          <a:solidFill>
            <a:srgbClr val="E3EDF5"/>
          </a:solidFill>
          <a:ln/>
        </p:spPr>
      </p:sp>
      <p:pic>
        <p:nvPicPr>
          <p:cNvPr id="116" name="Image 1" descr="public\icons\wallet-green.png">    </p:cNvPr>
          <p:cNvPicPr>
            <a:picLocks noChangeAspect="1"/>
          </p:cNvPicPr>
          <p:nvPr/>
        </p:nvPicPr>
        <p:blipFill>
          <a:blip r:embed="rId2"/>
          <a:stretch>
            <a:fillRect/>
          </a:stretch>
        </p:blipFill>
        <p:spPr>
          <a:xfrm>
            <a:off x="8102600" y="584200"/>
            <a:ext cx="152400" cy="152400"/>
          </a:xfrm>
          <a:prstGeom prst="rect">
            <a:avLst/>
          </a:prstGeom>
        </p:spPr>
      </p:pic>
      <p:sp>
        <p:nvSpPr>
          <p:cNvPr id="117" name="Text 113"/>
          <p:cNvSpPr/>
          <p:nvPr/>
        </p:nvSpPr>
        <p:spPr>
          <a:xfrm>
            <a:off x="8305800" y="533400"/>
            <a:ext cx="1397000" cy="254000"/>
          </a:xfrm>
          <a:prstGeom prst="rect">
            <a:avLst/>
          </a:prstGeom>
          <a:noFill/>
          <a:ln/>
        </p:spPr>
        <p:txBody>
          <a:bodyPr wrap="square" lIns="0" tIns="0" rIns="0" bIns="0" rtlCol="0" anchor="ctr"/>
          <a:lstStyle/>
          <a:p>
            <a:pPr algn="l" indent="0" marL="0">
              <a:lnSpc>
                <a:spcPts val="900"/>
              </a:lnSpc>
              <a:buNone/>
            </a:pPr>
            <a:r>
              <a:rPr lang="en-US" sz="900" dirty="0">
                <a:solidFill>
                  <a:srgbClr val="003459"/>
                </a:solidFill>
                <a:latin typeface="Google Sans SemiBold" pitchFamily="34" charset="0"/>
                <a:ea typeface="Google Sans SemiBold" pitchFamily="34" charset="-122"/>
                <a:cs typeface="Google Sans SemiBold" pitchFamily="34" charset="-120"/>
              </a:rPr>
              <a:t>Laporan biaya</a:t>
            </a:r>
            <a:endParaRPr lang="en-US" sz="900" dirty="0"/>
          </a:p>
        </p:txBody>
      </p:sp>
      <p:sp>
        <p:nvSpPr>
          <p:cNvPr id="118" name="Shape 114"/>
          <p:cNvSpPr/>
          <p:nvPr/>
        </p:nvSpPr>
        <p:spPr>
          <a:xfrm>
            <a:off x="5080000" y="1003300"/>
            <a:ext cx="254000" cy="254000"/>
          </a:xfrm>
          <a:prstGeom prst="ellipse">
            <a:avLst/>
          </a:prstGeom>
          <a:solidFill>
            <a:srgbClr val="1B7FC4"/>
          </a:solidFill>
          <a:ln/>
        </p:spPr>
      </p:sp>
      <p:pic>
        <p:nvPicPr>
          <p:cNvPr id="119" name="Image 2" descr="public\icons\check-white.png">    </p:cNvPr>
          <p:cNvPicPr>
            <a:picLocks noChangeAspect="1"/>
          </p:cNvPicPr>
          <p:nvPr/>
        </p:nvPicPr>
        <p:blipFill>
          <a:blip r:embed="rId3"/>
          <a:stretch>
            <a:fillRect/>
          </a:stretch>
        </p:blipFill>
        <p:spPr>
          <a:xfrm>
            <a:off x="5130800" y="1054100"/>
            <a:ext cx="152400" cy="152400"/>
          </a:xfrm>
          <a:prstGeom prst="rect">
            <a:avLst/>
          </a:prstGeom>
        </p:spPr>
      </p:pic>
      <p:sp>
        <p:nvSpPr>
          <p:cNvPr id="120" name="Text 115"/>
          <p:cNvSpPr/>
          <p:nvPr/>
        </p:nvSpPr>
        <p:spPr>
          <a:xfrm>
            <a:off x="5410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Ongkos tiap kiriman dicatat</a:t>
            </a:r>
            <a:endParaRPr lang="en-US" sz="1200" dirty="0"/>
          </a:p>
        </p:txBody>
      </p:sp>
      <p:sp>
        <p:nvSpPr>
          <p:cNvPr id="121" name="Shape 116"/>
          <p:cNvSpPr/>
          <p:nvPr/>
        </p:nvSpPr>
        <p:spPr>
          <a:xfrm>
            <a:off x="7239000" y="1003300"/>
            <a:ext cx="254000" cy="254000"/>
          </a:xfrm>
          <a:prstGeom prst="ellipse">
            <a:avLst/>
          </a:prstGeom>
          <a:solidFill>
            <a:srgbClr val="1B7FC4"/>
          </a:solidFill>
          <a:ln/>
        </p:spPr>
      </p:sp>
      <p:pic>
        <p:nvPicPr>
          <p:cNvPr id="122" name="Image 3" descr="public\icons\check-white.png">    </p:cNvPr>
          <p:cNvPicPr>
            <a:picLocks noChangeAspect="1"/>
          </p:cNvPicPr>
          <p:nvPr/>
        </p:nvPicPr>
        <p:blipFill>
          <a:blip r:embed="rId4"/>
          <a:stretch>
            <a:fillRect/>
          </a:stretch>
        </p:blipFill>
        <p:spPr>
          <a:xfrm>
            <a:off x="7289800" y="1054100"/>
            <a:ext cx="152400" cy="152400"/>
          </a:xfrm>
          <a:prstGeom prst="rect">
            <a:avLst/>
          </a:prstGeom>
        </p:spPr>
      </p:pic>
      <p:sp>
        <p:nvSpPr>
          <p:cNvPr id="123" name="Text 117"/>
          <p:cNvSpPr/>
          <p:nvPr/>
        </p:nvSpPr>
        <p:spPr>
          <a:xfrm>
            <a:off x="7569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Tarif lama dan baru bisa dibandingkan</a:t>
            </a:r>
            <a:endParaRPr lang="en-US" sz="1200" dirty="0"/>
          </a:p>
        </p:txBody>
      </p:sp>
      <p:sp>
        <p:nvSpPr>
          <p:cNvPr id="124" name="Shape 118"/>
          <p:cNvSpPr/>
          <p:nvPr/>
        </p:nvSpPr>
        <p:spPr>
          <a:xfrm>
            <a:off x="9398000" y="1003300"/>
            <a:ext cx="254000" cy="254000"/>
          </a:xfrm>
          <a:prstGeom prst="ellipse">
            <a:avLst/>
          </a:prstGeom>
          <a:solidFill>
            <a:srgbClr val="1B7FC4"/>
          </a:solidFill>
          <a:ln/>
        </p:spPr>
      </p:sp>
      <p:pic>
        <p:nvPicPr>
          <p:cNvPr id="125" name="Image 4" descr="public\icons\check-white.png">    </p:cNvPr>
          <p:cNvPicPr>
            <a:picLocks noChangeAspect="1"/>
          </p:cNvPicPr>
          <p:nvPr/>
        </p:nvPicPr>
        <p:blipFill>
          <a:blip r:embed="rId5"/>
          <a:stretch>
            <a:fillRect/>
          </a:stretch>
        </p:blipFill>
        <p:spPr>
          <a:xfrm>
            <a:off x="9448800" y="1054100"/>
            <a:ext cx="152400" cy="152400"/>
          </a:xfrm>
          <a:prstGeom prst="rect">
            <a:avLst/>
          </a:prstGeom>
        </p:spPr>
      </p:pic>
      <p:sp>
        <p:nvSpPr>
          <p:cNvPr id="126" name="Text 119"/>
          <p:cNvSpPr/>
          <p:nvPr/>
        </p:nvSpPr>
        <p:spPr>
          <a:xfrm>
            <a:off x="9728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Ada tanda kalau ongkos naik</a:t>
            </a:r>
            <a:endParaRPr lang="en-US" sz="1200" dirty="0"/>
          </a:p>
        </p:txBody>
      </p:sp>
      <p:pic>
        <p:nvPicPr>
          <p:cNvPr id="127" name="Image 5" descr="public\shots\screen-biaya.png">    </p:cNvPr>
          <p:cNvPicPr>
            <a:picLocks noChangeAspect="1"/>
          </p:cNvPicPr>
          <p:nvPr/>
        </p:nvPicPr>
        <p:blipFill>
          <a:blip r:embed="rId6"/>
          <a:stretch>
            <a:fillRect/>
          </a:stretch>
        </p:blipFill>
        <p:spPr>
          <a:xfrm>
            <a:off x="5080000" y="1752600"/>
            <a:ext cx="6350000" cy="3727450"/>
          </a:xfrm>
          <a:prstGeom prst="rect">
            <a:avLst/>
          </a:prstGeom>
        </p:spPr>
      </p:pic>
      <p:sp>
        <p:nvSpPr>
          <p:cNvPr id="128" name="Text 120"/>
          <p:cNvSpPr/>
          <p:nvPr/>
        </p:nvSpPr>
        <p:spPr>
          <a:xfrm>
            <a:off x="762000" y="6502400"/>
            <a:ext cx="8255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Data nyata Siklus 1</a:t>
            </a:r>
            <a:endParaRPr lang="en-US" sz="800" dirty="0"/>
          </a:p>
        </p:txBody>
      </p:sp>
      <p:sp>
        <p:nvSpPr>
          <p:cNvPr id="129" name="Text 121"/>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03 / 15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4699000" cy="6858000"/>
          </a:xfrm>
          <a:prstGeom prst="rect">
            <a:avLst/>
          </a:prstGeom>
          <a:solidFill>
            <a:srgbClr val="EDF2F6"/>
          </a:solidFill>
          <a:ln/>
        </p:spPr>
      </p:sp>
      <p:sp>
        <p:nvSpPr>
          <p:cNvPr id="3" name="Shape 1"/>
          <p:cNvSpPr/>
          <p:nvPr/>
        </p:nvSpPr>
        <p:spPr>
          <a:xfrm>
            <a:off x="762000" y="533400"/>
            <a:ext cx="1473200" cy="254000"/>
          </a:xfrm>
          <a:prstGeom prst="roundRect">
            <a:avLst>
              <a:gd name="adj" fmla="val 50000"/>
            </a:avLst>
          </a:prstGeom>
          <a:solidFill>
            <a:srgbClr val="FFFFFF"/>
          </a:solidFill>
          <a:ln w="10160">
            <a:solidFill>
              <a:srgbClr val="D5DEE4"/>
            </a:solidFill>
            <a:prstDash val="solid"/>
          </a:ln>
        </p:spPr>
      </p:sp>
      <p:sp>
        <p:nvSpPr>
          <p:cNvPr id="4" name="Shape 2"/>
          <p:cNvSpPr/>
          <p:nvPr/>
        </p:nvSpPr>
        <p:spPr>
          <a:xfrm>
            <a:off x="863600" y="622300"/>
            <a:ext cx="76200" cy="76200"/>
          </a:xfrm>
          <a:prstGeom prst="ellipse">
            <a:avLst/>
          </a:prstGeom>
          <a:solidFill>
            <a:srgbClr val="C98A1B"/>
          </a:solidFill>
          <a:ln/>
        </p:spPr>
      </p:sp>
      <p:sp>
        <p:nvSpPr>
          <p:cNvPr id="5" name="Text 3"/>
          <p:cNvSpPr/>
          <p:nvPr/>
        </p:nvSpPr>
        <p:spPr>
          <a:xfrm>
            <a:off x="990600" y="533400"/>
            <a:ext cx="1206500" cy="254000"/>
          </a:xfrm>
          <a:prstGeom prst="rect">
            <a:avLst/>
          </a:prstGeom>
          <a:noFill/>
          <a:ln/>
        </p:spPr>
        <p:txBody>
          <a:bodyPr wrap="square" lIns="0" tIns="0" rIns="0" bIns="0" rtlCol="0" anchor="ctr"/>
          <a:lstStyle/>
          <a:p>
            <a:pPr algn="l" indent="0" marL="0">
              <a:lnSpc>
                <a:spcPts val="750"/>
              </a:lnSpc>
              <a:buNone/>
            </a:pPr>
            <a:r>
              <a:rPr lang="en-US" sz="750" b="1" dirty="0">
                <a:solidFill>
                  <a:srgbClr val="C98A1B"/>
                </a:solidFill>
                <a:latin typeface="Google Sans" pitchFamily="34" charset="0"/>
                <a:ea typeface="Google Sans" pitchFamily="34" charset="-122"/>
                <a:cs typeface="Google Sans" pitchFamily="34" charset="-120"/>
              </a:rPr>
              <a:t>MASALAH 2 DARI 6</a:t>
            </a:r>
            <a:endParaRPr lang="en-US" sz="750" dirty="0"/>
          </a:p>
        </p:txBody>
      </p:sp>
      <p:sp>
        <p:nvSpPr>
          <p:cNvPr id="6" name="Text 4"/>
          <p:cNvSpPr/>
          <p:nvPr/>
        </p:nvSpPr>
        <p:spPr>
          <a:xfrm>
            <a:off x="2336800" y="533400"/>
            <a:ext cx="2159000" cy="2540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Medium" pitchFamily="34" charset="0"/>
                <a:ea typeface="Google Sans Medium" pitchFamily="34" charset="-122"/>
                <a:cs typeface="Google Sans Medium" pitchFamily="34" charset="-120"/>
              </a:rPr>
              <a:t>Hasil tiap ekor</a:t>
            </a:r>
            <a:endParaRPr lang="en-US" sz="900" dirty="0"/>
          </a:p>
        </p:txBody>
      </p:sp>
      <p:sp>
        <p:nvSpPr>
          <p:cNvPr id="7" name="Text 5"/>
          <p:cNvSpPr/>
          <p:nvPr/>
        </p:nvSpPr>
        <p:spPr>
          <a:xfrm>
            <a:off x="762000" y="914400"/>
            <a:ext cx="3746500" cy="1270000"/>
          </a:xfrm>
          <a:prstGeom prst="rect">
            <a:avLst/>
          </a:prstGeom>
          <a:noFill/>
          <a:ln/>
        </p:spPr>
        <p:txBody>
          <a:bodyPr wrap="square" lIns="0" tIns="0" rIns="0" bIns="0" rtlCol="0" anchor="t"/>
          <a:lstStyle/>
          <a:p>
            <a:pPr algn="l" indent="0" marL="0">
              <a:lnSpc>
                <a:spcPts val="2810"/>
              </a:lnSpc>
              <a:buNone/>
            </a:pPr>
            <a:r>
              <a:rPr lang="en-US" sz="2600" b="1" dirty="0">
                <a:solidFill>
                  <a:srgbClr val="00171F"/>
                </a:solidFill>
                <a:latin typeface="Google Sans" pitchFamily="34" charset="0"/>
                <a:ea typeface="Google Sans" pitchFamily="34" charset="-122"/>
                <a:cs typeface="Google Sans" pitchFamily="34" charset="-120"/>
              </a:rPr>
              <a:t>Dari 100 kg ikan, loin yang jadi bisa 52 kg atau 70 kg</a:t>
            </a:r>
            <a:endParaRPr lang="en-US" sz="2600" dirty="0"/>
          </a:p>
        </p:txBody>
      </p:sp>
      <p:sp>
        <p:nvSpPr>
          <p:cNvPr id="8" name="Text 6"/>
          <p:cNvSpPr/>
          <p:nvPr/>
        </p:nvSpPr>
        <p:spPr>
          <a:xfrm>
            <a:off x="762000" y="2235200"/>
            <a:ext cx="3746500" cy="698500"/>
          </a:xfrm>
          <a:prstGeom prst="rect">
            <a:avLst/>
          </a:prstGeom>
          <a:noFill/>
          <a:ln/>
        </p:spPr>
        <p:txBody>
          <a:bodyPr wrap="square" lIns="0" tIns="0" rIns="0" bIns="0" rtlCol="0" anchor="t"/>
          <a:lstStyle/>
          <a:p>
            <a:pPr algn="l" indent="0" marL="0">
              <a:lnSpc>
                <a:spcPts val="1560"/>
              </a:lnSpc>
              <a:buNone/>
            </a:pPr>
            <a:r>
              <a:rPr lang="en-US" sz="1100" dirty="0">
                <a:solidFill>
                  <a:srgbClr val="4B5E69"/>
                </a:solidFill>
                <a:latin typeface="Google Sans" pitchFamily="34" charset="0"/>
                <a:ea typeface="Google Sans" pitchFamily="34" charset="-122"/>
                <a:cs typeface="Google Sans" pitchFamily="34" charset="-120"/>
              </a:rPr>
              <a:t>Rencananya 60 kg. Rata-rata Siklus 1 sudah 62,6 kg, tapi ekor 005 cuma 52,2 kg. Tanpa catatan per ekor, sebabnya sulit dicari.</a:t>
            </a:r>
            <a:endParaRPr lang="en-US" sz="1100" dirty="0"/>
          </a:p>
        </p:txBody>
      </p:sp>
      <p:sp>
        <p:nvSpPr>
          <p:cNvPr id="9" name="Text 7"/>
          <p:cNvSpPr/>
          <p:nvPr/>
        </p:nvSpPr>
        <p:spPr>
          <a:xfrm>
            <a:off x="762000" y="3073400"/>
            <a:ext cx="36830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SemiBold" pitchFamily="34" charset="0"/>
                <a:ea typeface="Google Sans SemiBold" pitchFamily="34" charset="-122"/>
                <a:cs typeface="Google Sans SemiBold" pitchFamily="34" charset="-120"/>
              </a:rPr>
              <a:t>Dari 100 kg ikan, berapa kg yang jadi loin?</a:t>
            </a:r>
            <a:endParaRPr lang="en-US" sz="1100" dirty="0"/>
          </a:p>
        </p:txBody>
      </p:sp>
      <p:sp>
        <p:nvSpPr>
          <p:cNvPr id="10" name="Shape 8"/>
          <p:cNvSpPr/>
          <p:nvPr/>
        </p:nvSpPr>
        <p:spPr>
          <a:xfrm>
            <a:off x="889000" y="4419600"/>
            <a:ext cx="3556000" cy="50800"/>
          </a:xfrm>
          <a:prstGeom prst="roundRect">
            <a:avLst>
              <a:gd name="adj" fmla="val 50000"/>
            </a:avLst>
          </a:prstGeom>
          <a:solidFill>
            <a:srgbClr val="E1E8ED"/>
          </a:solidFill>
          <a:ln/>
        </p:spPr>
      </p:sp>
      <p:sp>
        <p:nvSpPr>
          <p:cNvPr id="11" name="Shape 9"/>
          <p:cNvSpPr/>
          <p:nvPr/>
        </p:nvSpPr>
        <p:spPr>
          <a:xfrm>
            <a:off x="2955636" y="4394200"/>
            <a:ext cx="101600" cy="101600"/>
          </a:xfrm>
          <a:prstGeom prst="ellipse">
            <a:avLst/>
          </a:prstGeom>
          <a:solidFill>
            <a:srgbClr val="9FC3DE"/>
          </a:solidFill>
          <a:ln/>
        </p:spPr>
      </p:sp>
      <p:sp>
        <p:nvSpPr>
          <p:cNvPr id="12" name="Shape 10"/>
          <p:cNvSpPr/>
          <p:nvPr/>
        </p:nvSpPr>
        <p:spPr>
          <a:xfrm>
            <a:off x="2664691" y="4394200"/>
            <a:ext cx="101600" cy="101600"/>
          </a:xfrm>
          <a:prstGeom prst="ellipse">
            <a:avLst/>
          </a:prstGeom>
          <a:solidFill>
            <a:srgbClr val="9FC3DE"/>
          </a:solidFill>
          <a:ln/>
        </p:spPr>
      </p:sp>
      <p:sp>
        <p:nvSpPr>
          <p:cNvPr id="13" name="Shape 11"/>
          <p:cNvSpPr/>
          <p:nvPr/>
        </p:nvSpPr>
        <p:spPr>
          <a:xfrm>
            <a:off x="2680855" y="4394200"/>
            <a:ext cx="101600" cy="101600"/>
          </a:xfrm>
          <a:prstGeom prst="ellipse">
            <a:avLst/>
          </a:prstGeom>
          <a:solidFill>
            <a:srgbClr val="9FC3DE"/>
          </a:solidFill>
          <a:ln/>
        </p:spPr>
      </p:sp>
      <p:sp>
        <p:nvSpPr>
          <p:cNvPr id="14" name="Shape 12"/>
          <p:cNvSpPr/>
          <p:nvPr/>
        </p:nvSpPr>
        <p:spPr>
          <a:xfrm>
            <a:off x="3052618" y="4394200"/>
            <a:ext cx="101600" cy="101600"/>
          </a:xfrm>
          <a:prstGeom prst="ellipse">
            <a:avLst/>
          </a:prstGeom>
          <a:solidFill>
            <a:srgbClr val="9FC3DE"/>
          </a:solidFill>
          <a:ln/>
        </p:spPr>
      </p:sp>
      <p:sp>
        <p:nvSpPr>
          <p:cNvPr id="15" name="Shape 13"/>
          <p:cNvSpPr/>
          <p:nvPr/>
        </p:nvSpPr>
        <p:spPr>
          <a:xfrm>
            <a:off x="1193800" y="4394200"/>
            <a:ext cx="101600" cy="101600"/>
          </a:xfrm>
          <a:prstGeom prst="ellipse">
            <a:avLst/>
          </a:prstGeom>
          <a:solidFill>
            <a:srgbClr val="9FC3DE"/>
          </a:solidFill>
          <a:ln/>
        </p:spPr>
      </p:sp>
      <p:sp>
        <p:nvSpPr>
          <p:cNvPr id="16" name="Shape 14"/>
          <p:cNvSpPr/>
          <p:nvPr/>
        </p:nvSpPr>
        <p:spPr>
          <a:xfrm>
            <a:off x="3165764" y="4394200"/>
            <a:ext cx="101600" cy="101600"/>
          </a:xfrm>
          <a:prstGeom prst="ellipse">
            <a:avLst/>
          </a:prstGeom>
          <a:solidFill>
            <a:srgbClr val="9FC3DE"/>
          </a:solidFill>
          <a:ln/>
        </p:spPr>
      </p:sp>
      <p:sp>
        <p:nvSpPr>
          <p:cNvPr id="17" name="Shape 15"/>
          <p:cNvSpPr/>
          <p:nvPr/>
        </p:nvSpPr>
        <p:spPr>
          <a:xfrm>
            <a:off x="4103255" y="4394200"/>
            <a:ext cx="101600" cy="101600"/>
          </a:xfrm>
          <a:prstGeom prst="ellipse">
            <a:avLst/>
          </a:prstGeom>
          <a:solidFill>
            <a:srgbClr val="9FC3DE"/>
          </a:solidFill>
          <a:ln/>
        </p:spPr>
      </p:sp>
      <p:sp>
        <p:nvSpPr>
          <p:cNvPr id="18" name="Shape 16"/>
          <p:cNvSpPr/>
          <p:nvPr/>
        </p:nvSpPr>
        <p:spPr>
          <a:xfrm>
            <a:off x="3020291" y="4394200"/>
            <a:ext cx="101600" cy="101600"/>
          </a:xfrm>
          <a:prstGeom prst="ellipse">
            <a:avLst/>
          </a:prstGeom>
          <a:solidFill>
            <a:srgbClr val="9FC3DE"/>
          </a:solidFill>
          <a:ln/>
        </p:spPr>
      </p:sp>
      <p:sp>
        <p:nvSpPr>
          <p:cNvPr id="19" name="Shape 17"/>
          <p:cNvSpPr/>
          <p:nvPr/>
        </p:nvSpPr>
        <p:spPr>
          <a:xfrm>
            <a:off x="2987964" y="4394200"/>
            <a:ext cx="101600" cy="101600"/>
          </a:xfrm>
          <a:prstGeom prst="ellipse">
            <a:avLst/>
          </a:prstGeom>
          <a:solidFill>
            <a:srgbClr val="9FC3DE"/>
          </a:solidFill>
          <a:ln/>
        </p:spPr>
      </p:sp>
      <p:sp>
        <p:nvSpPr>
          <p:cNvPr id="20" name="Shape 18"/>
          <p:cNvSpPr/>
          <p:nvPr/>
        </p:nvSpPr>
        <p:spPr>
          <a:xfrm>
            <a:off x="2987964" y="4394200"/>
            <a:ext cx="101600" cy="101600"/>
          </a:xfrm>
          <a:prstGeom prst="ellipse">
            <a:avLst/>
          </a:prstGeom>
          <a:solidFill>
            <a:srgbClr val="9FC3DE"/>
          </a:solidFill>
          <a:ln/>
        </p:spPr>
      </p:sp>
      <p:sp>
        <p:nvSpPr>
          <p:cNvPr id="21" name="Shape 19"/>
          <p:cNvSpPr/>
          <p:nvPr/>
        </p:nvSpPr>
        <p:spPr>
          <a:xfrm>
            <a:off x="2486891" y="4394200"/>
            <a:ext cx="101600" cy="101600"/>
          </a:xfrm>
          <a:prstGeom prst="ellipse">
            <a:avLst/>
          </a:prstGeom>
          <a:solidFill>
            <a:srgbClr val="9FC3DE"/>
          </a:solidFill>
          <a:ln/>
        </p:spPr>
      </p:sp>
      <p:sp>
        <p:nvSpPr>
          <p:cNvPr id="22" name="Shape 20"/>
          <p:cNvSpPr/>
          <p:nvPr/>
        </p:nvSpPr>
        <p:spPr>
          <a:xfrm>
            <a:off x="889000" y="5181600"/>
            <a:ext cx="0" cy="76200"/>
          </a:xfrm>
          <a:prstGeom prst="line">
            <a:avLst/>
          </a:prstGeom>
          <a:noFill/>
          <a:ln w="12700">
            <a:solidFill>
              <a:srgbClr val="7F909A"/>
            </a:solidFill>
            <a:prstDash val="solid"/>
          </a:ln>
        </p:spPr>
      </p:sp>
      <p:sp>
        <p:nvSpPr>
          <p:cNvPr id="23" name="Text 21"/>
          <p:cNvSpPr/>
          <p:nvPr/>
        </p:nvSpPr>
        <p:spPr>
          <a:xfrm>
            <a:off x="698500" y="5308600"/>
            <a:ext cx="381000" cy="152400"/>
          </a:xfrm>
          <a:prstGeom prst="rect">
            <a:avLst/>
          </a:prstGeom>
          <a:noFill/>
          <a:ln/>
        </p:spPr>
        <p:txBody>
          <a:bodyPr wrap="square" lIns="0" tIns="0" rIns="0" bIns="0" rtlCol="0" anchor="ctr"/>
          <a:lstStyle/>
          <a:p>
            <a:pPr algn="ctr" indent="0" marL="0">
              <a:lnSpc>
                <a:spcPts val="900"/>
              </a:lnSpc>
              <a:buNone/>
            </a:pPr>
            <a:r>
              <a:rPr lang="en-US" sz="900" dirty="0">
                <a:solidFill>
                  <a:srgbClr val="7F909A"/>
                </a:solidFill>
                <a:latin typeface="Google Sans" pitchFamily="34" charset="0"/>
                <a:ea typeface="Google Sans" pitchFamily="34" charset="-122"/>
                <a:cs typeface="Google Sans" pitchFamily="34" charset="-120"/>
              </a:rPr>
              <a:t>50</a:t>
            </a:r>
            <a:endParaRPr lang="en-US" sz="900" dirty="0"/>
          </a:p>
        </p:txBody>
      </p:sp>
      <p:sp>
        <p:nvSpPr>
          <p:cNvPr id="24" name="Shape 22"/>
          <p:cNvSpPr/>
          <p:nvPr/>
        </p:nvSpPr>
        <p:spPr>
          <a:xfrm>
            <a:off x="2505364" y="5181600"/>
            <a:ext cx="0" cy="76200"/>
          </a:xfrm>
          <a:prstGeom prst="line">
            <a:avLst/>
          </a:prstGeom>
          <a:noFill/>
          <a:ln w="12700">
            <a:solidFill>
              <a:srgbClr val="7F909A"/>
            </a:solidFill>
            <a:prstDash val="solid"/>
          </a:ln>
        </p:spPr>
      </p:sp>
      <p:sp>
        <p:nvSpPr>
          <p:cNvPr id="25" name="Text 23"/>
          <p:cNvSpPr/>
          <p:nvPr/>
        </p:nvSpPr>
        <p:spPr>
          <a:xfrm>
            <a:off x="2314864" y="5308600"/>
            <a:ext cx="381000" cy="152400"/>
          </a:xfrm>
          <a:prstGeom prst="rect">
            <a:avLst/>
          </a:prstGeom>
          <a:noFill/>
          <a:ln/>
        </p:spPr>
        <p:txBody>
          <a:bodyPr wrap="square" lIns="0" tIns="0" rIns="0" bIns="0" rtlCol="0" anchor="ctr"/>
          <a:lstStyle/>
          <a:p>
            <a:pPr algn="ctr" indent="0" marL="0">
              <a:lnSpc>
                <a:spcPts val="900"/>
              </a:lnSpc>
              <a:buNone/>
            </a:pPr>
            <a:r>
              <a:rPr lang="en-US" sz="900" dirty="0">
                <a:solidFill>
                  <a:srgbClr val="7F909A"/>
                </a:solidFill>
                <a:latin typeface="Google Sans" pitchFamily="34" charset="0"/>
                <a:ea typeface="Google Sans" pitchFamily="34" charset="-122"/>
                <a:cs typeface="Google Sans" pitchFamily="34" charset="-120"/>
              </a:rPr>
              <a:t>60</a:t>
            </a:r>
            <a:endParaRPr lang="en-US" sz="900" dirty="0"/>
          </a:p>
        </p:txBody>
      </p:sp>
      <p:sp>
        <p:nvSpPr>
          <p:cNvPr id="26" name="Shape 24"/>
          <p:cNvSpPr/>
          <p:nvPr/>
        </p:nvSpPr>
        <p:spPr>
          <a:xfrm>
            <a:off x="4121727" y="5181600"/>
            <a:ext cx="0" cy="76200"/>
          </a:xfrm>
          <a:prstGeom prst="line">
            <a:avLst/>
          </a:prstGeom>
          <a:noFill/>
          <a:ln w="12700">
            <a:solidFill>
              <a:srgbClr val="7F909A"/>
            </a:solidFill>
            <a:prstDash val="solid"/>
          </a:ln>
        </p:spPr>
      </p:sp>
      <p:sp>
        <p:nvSpPr>
          <p:cNvPr id="27" name="Text 25"/>
          <p:cNvSpPr/>
          <p:nvPr/>
        </p:nvSpPr>
        <p:spPr>
          <a:xfrm>
            <a:off x="3931227" y="5308600"/>
            <a:ext cx="381000" cy="152400"/>
          </a:xfrm>
          <a:prstGeom prst="rect">
            <a:avLst/>
          </a:prstGeom>
          <a:noFill/>
          <a:ln/>
        </p:spPr>
        <p:txBody>
          <a:bodyPr wrap="square" lIns="0" tIns="0" rIns="0" bIns="0" rtlCol="0" anchor="ctr"/>
          <a:lstStyle/>
          <a:p>
            <a:pPr algn="ctr" indent="0" marL="0">
              <a:lnSpc>
                <a:spcPts val="900"/>
              </a:lnSpc>
              <a:buNone/>
            </a:pPr>
            <a:r>
              <a:rPr lang="en-US" sz="900" dirty="0">
                <a:solidFill>
                  <a:srgbClr val="7F909A"/>
                </a:solidFill>
                <a:latin typeface="Google Sans" pitchFamily="34" charset="0"/>
                <a:ea typeface="Google Sans" pitchFamily="34" charset="-122"/>
                <a:cs typeface="Google Sans" pitchFamily="34" charset="-120"/>
              </a:rPr>
              <a:t>70</a:t>
            </a:r>
            <a:endParaRPr lang="en-US" sz="900" dirty="0"/>
          </a:p>
        </p:txBody>
      </p:sp>
      <p:sp>
        <p:nvSpPr>
          <p:cNvPr id="28" name="Text 26"/>
          <p:cNvSpPr/>
          <p:nvPr/>
        </p:nvSpPr>
        <p:spPr>
          <a:xfrm>
            <a:off x="762000" y="5562600"/>
            <a:ext cx="3683000" cy="190500"/>
          </a:xfrm>
          <a:prstGeom prst="rect">
            <a:avLst/>
          </a:prstGeom>
          <a:noFill/>
          <a:ln/>
        </p:spPr>
        <p:txBody>
          <a:bodyPr wrap="square" lIns="0" tIns="0" rIns="0" bIns="0" rtlCol="0" anchor="ctr"/>
          <a:lstStyle/>
          <a:p>
            <a:pPr algn="l" indent="0" marL="0">
              <a:lnSpc>
                <a:spcPts val="900"/>
              </a:lnSpc>
              <a:buNone/>
            </a:pPr>
            <a:r>
              <a:rPr lang="en-US" sz="900" dirty="0">
                <a:solidFill>
                  <a:srgbClr val="7F909A"/>
                </a:solidFill>
                <a:latin typeface="Google Sans" pitchFamily="34" charset="0"/>
                <a:ea typeface="Google Sans" pitchFamily="34" charset="-122"/>
                <a:cs typeface="Google Sans" pitchFamily="34" charset="-120"/>
              </a:rPr>
              <a:t>kg loin dari tiap 100 kg ikan utuh</a:t>
            </a:r>
            <a:endParaRPr lang="en-US" sz="900" dirty="0"/>
          </a:p>
        </p:txBody>
      </p:sp>
      <p:sp>
        <p:nvSpPr>
          <p:cNvPr id="29" name="Shape 27"/>
          <p:cNvSpPr/>
          <p:nvPr/>
        </p:nvSpPr>
        <p:spPr>
          <a:xfrm>
            <a:off x="1149350" y="4349750"/>
            <a:ext cx="190500" cy="190500"/>
          </a:xfrm>
          <a:prstGeom prst="ellipse">
            <a:avLst/>
          </a:prstGeom>
          <a:solidFill>
            <a:srgbClr val="C98A1B"/>
          </a:solidFill>
          <a:ln w="25400">
            <a:solidFill>
              <a:srgbClr val="FFFFFF"/>
            </a:solidFill>
            <a:prstDash val="solid"/>
          </a:ln>
        </p:spPr>
      </p:sp>
      <p:sp>
        <p:nvSpPr>
          <p:cNvPr id="30" name="Text 28"/>
          <p:cNvSpPr/>
          <p:nvPr/>
        </p:nvSpPr>
        <p:spPr>
          <a:xfrm>
            <a:off x="609600" y="3911600"/>
            <a:ext cx="1270000" cy="190500"/>
          </a:xfrm>
          <a:prstGeom prst="rect">
            <a:avLst/>
          </a:prstGeom>
          <a:noFill/>
          <a:ln/>
        </p:spPr>
        <p:txBody>
          <a:bodyPr wrap="square" lIns="0" tIns="0" rIns="0" bIns="0" rtlCol="0" anchor="ctr"/>
          <a:lstStyle/>
          <a:p>
            <a:pPr algn="ctr" indent="0" marL="0">
              <a:lnSpc>
                <a:spcPts val="950"/>
              </a:lnSpc>
              <a:buNone/>
            </a:pPr>
            <a:r>
              <a:rPr lang="en-US" sz="950" dirty="0">
                <a:solidFill>
                  <a:srgbClr val="4B5E69"/>
                </a:solidFill>
                <a:latin typeface="Google Sans" pitchFamily="34" charset="0"/>
                <a:ea typeface="Google Sans" pitchFamily="34" charset="-122"/>
                <a:cs typeface="Google Sans" pitchFamily="34" charset="-120"/>
              </a:rPr>
              <a:t>Terendah, ekor 005</a:t>
            </a:r>
            <a:endParaRPr lang="en-US" sz="950" dirty="0"/>
          </a:p>
        </p:txBody>
      </p:sp>
      <p:sp>
        <p:nvSpPr>
          <p:cNvPr id="31" name="Text 29"/>
          <p:cNvSpPr/>
          <p:nvPr/>
        </p:nvSpPr>
        <p:spPr>
          <a:xfrm>
            <a:off x="736600" y="4102100"/>
            <a:ext cx="1016000" cy="228600"/>
          </a:xfrm>
          <a:prstGeom prst="rect">
            <a:avLst/>
          </a:prstGeom>
          <a:noFill/>
          <a:ln/>
        </p:spPr>
        <p:txBody>
          <a:bodyPr wrap="square" lIns="0" tIns="0" rIns="0" bIns="0" rtlCol="0" anchor="ctr"/>
          <a:lstStyle/>
          <a:p>
            <a:pPr algn="ctr" indent="0" marL="0">
              <a:lnSpc>
                <a:spcPts val="1500"/>
              </a:lnSpc>
              <a:buNone/>
            </a:pPr>
            <a:r>
              <a:rPr lang="en-US" sz="1500" b="1" dirty="0">
                <a:solidFill>
                  <a:srgbClr val="C98A1B"/>
                </a:solidFill>
                <a:latin typeface="Google Sans" pitchFamily="34" charset="0"/>
                <a:ea typeface="Google Sans" pitchFamily="34" charset="-122"/>
                <a:cs typeface="Google Sans" pitchFamily="34" charset="-120"/>
              </a:rPr>
              <a:t>52,2</a:t>
            </a:r>
            <a:endParaRPr lang="en-US" sz="1500" dirty="0"/>
          </a:p>
        </p:txBody>
      </p:sp>
      <p:sp>
        <p:nvSpPr>
          <p:cNvPr id="32" name="Shape 30"/>
          <p:cNvSpPr/>
          <p:nvPr/>
        </p:nvSpPr>
        <p:spPr>
          <a:xfrm>
            <a:off x="2410114" y="4349750"/>
            <a:ext cx="190500" cy="190500"/>
          </a:xfrm>
          <a:prstGeom prst="ellipse">
            <a:avLst/>
          </a:prstGeom>
          <a:solidFill>
            <a:srgbClr val="00171F"/>
          </a:solidFill>
          <a:ln w="25400">
            <a:solidFill>
              <a:srgbClr val="FFFFFF"/>
            </a:solidFill>
            <a:prstDash val="solid"/>
          </a:ln>
        </p:spPr>
      </p:sp>
      <p:sp>
        <p:nvSpPr>
          <p:cNvPr id="33" name="Text 31"/>
          <p:cNvSpPr/>
          <p:nvPr/>
        </p:nvSpPr>
        <p:spPr>
          <a:xfrm>
            <a:off x="1870364" y="3911600"/>
            <a:ext cx="1270000" cy="190500"/>
          </a:xfrm>
          <a:prstGeom prst="rect">
            <a:avLst/>
          </a:prstGeom>
          <a:noFill/>
          <a:ln/>
        </p:spPr>
        <p:txBody>
          <a:bodyPr wrap="square" lIns="0" tIns="0" rIns="0" bIns="0" rtlCol="0" anchor="ctr"/>
          <a:lstStyle/>
          <a:p>
            <a:pPr algn="ctr" indent="0" marL="0">
              <a:lnSpc>
                <a:spcPts val="950"/>
              </a:lnSpc>
              <a:buNone/>
            </a:pPr>
            <a:r>
              <a:rPr lang="en-US" sz="950" dirty="0">
                <a:solidFill>
                  <a:srgbClr val="4B5E69"/>
                </a:solidFill>
                <a:latin typeface="Google Sans" pitchFamily="34" charset="0"/>
                <a:ea typeface="Google Sans" pitchFamily="34" charset="-122"/>
                <a:cs typeface="Google Sans" pitchFamily="34" charset="-120"/>
              </a:rPr>
              <a:t>Rencana</a:t>
            </a:r>
            <a:endParaRPr lang="en-US" sz="950" dirty="0"/>
          </a:p>
        </p:txBody>
      </p:sp>
      <p:sp>
        <p:nvSpPr>
          <p:cNvPr id="34" name="Text 32"/>
          <p:cNvSpPr/>
          <p:nvPr/>
        </p:nvSpPr>
        <p:spPr>
          <a:xfrm>
            <a:off x="1997364" y="4102100"/>
            <a:ext cx="1016000" cy="228600"/>
          </a:xfrm>
          <a:prstGeom prst="rect">
            <a:avLst/>
          </a:prstGeom>
          <a:noFill/>
          <a:ln/>
        </p:spPr>
        <p:txBody>
          <a:bodyPr wrap="square" lIns="0" tIns="0" rIns="0" bIns="0" rtlCol="0" anchor="ctr"/>
          <a:lstStyle/>
          <a:p>
            <a:pPr algn="ctr" indent="0" marL="0">
              <a:lnSpc>
                <a:spcPts val="1500"/>
              </a:lnSpc>
              <a:buNone/>
            </a:pPr>
            <a:r>
              <a:rPr lang="en-US" sz="1500" b="1" dirty="0">
                <a:solidFill>
                  <a:srgbClr val="00171F"/>
                </a:solidFill>
                <a:latin typeface="Google Sans" pitchFamily="34" charset="0"/>
                <a:ea typeface="Google Sans" pitchFamily="34" charset="-122"/>
                <a:cs typeface="Google Sans" pitchFamily="34" charset="-120"/>
              </a:rPr>
              <a:t>60</a:t>
            </a:r>
            <a:endParaRPr lang="en-US" sz="1500" dirty="0"/>
          </a:p>
        </p:txBody>
      </p:sp>
      <p:sp>
        <p:nvSpPr>
          <p:cNvPr id="35" name="Shape 33"/>
          <p:cNvSpPr/>
          <p:nvPr/>
        </p:nvSpPr>
        <p:spPr>
          <a:xfrm>
            <a:off x="2830368" y="4349750"/>
            <a:ext cx="190500" cy="190500"/>
          </a:xfrm>
          <a:prstGeom prst="ellipse">
            <a:avLst/>
          </a:prstGeom>
          <a:solidFill>
            <a:srgbClr val="003459"/>
          </a:solidFill>
          <a:ln w="25400">
            <a:solidFill>
              <a:srgbClr val="FFFFFF"/>
            </a:solidFill>
            <a:prstDash val="solid"/>
          </a:ln>
        </p:spPr>
      </p:sp>
      <p:sp>
        <p:nvSpPr>
          <p:cNvPr id="36" name="Text 34"/>
          <p:cNvSpPr/>
          <p:nvPr/>
        </p:nvSpPr>
        <p:spPr>
          <a:xfrm>
            <a:off x="2290618" y="4699000"/>
            <a:ext cx="1270000" cy="190500"/>
          </a:xfrm>
          <a:prstGeom prst="rect">
            <a:avLst/>
          </a:prstGeom>
          <a:noFill/>
          <a:ln/>
        </p:spPr>
        <p:txBody>
          <a:bodyPr wrap="square" lIns="0" tIns="0" rIns="0" bIns="0" rtlCol="0" anchor="ctr"/>
          <a:lstStyle/>
          <a:p>
            <a:pPr algn="ctr" indent="0" marL="0">
              <a:lnSpc>
                <a:spcPts val="950"/>
              </a:lnSpc>
              <a:buNone/>
            </a:pPr>
            <a:r>
              <a:rPr lang="en-US" sz="950" dirty="0">
                <a:solidFill>
                  <a:srgbClr val="4B5E69"/>
                </a:solidFill>
                <a:latin typeface="Google Sans" pitchFamily="34" charset="0"/>
                <a:ea typeface="Google Sans" pitchFamily="34" charset="-122"/>
                <a:cs typeface="Google Sans" pitchFamily="34" charset="-120"/>
              </a:rPr>
              <a:t>Rata-rata</a:t>
            </a:r>
            <a:endParaRPr lang="en-US" sz="950" dirty="0"/>
          </a:p>
        </p:txBody>
      </p:sp>
      <p:sp>
        <p:nvSpPr>
          <p:cNvPr id="37" name="Text 35"/>
          <p:cNvSpPr/>
          <p:nvPr/>
        </p:nvSpPr>
        <p:spPr>
          <a:xfrm>
            <a:off x="2417618" y="4889500"/>
            <a:ext cx="1016000" cy="228600"/>
          </a:xfrm>
          <a:prstGeom prst="rect">
            <a:avLst/>
          </a:prstGeom>
          <a:noFill/>
          <a:ln/>
        </p:spPr>
        <p:txBody>
          <a:bodyPr wrap="square" lIns="0" tIns="0" rIns="0" bIns="0" rtlCol="0" anchor="ctr"/>
          <a:lstStyle/>
          <a:p>
            <a:pPr algn="ctr" indent="0" marL="0">
              <a:lnSpc>
                <a:spcPts val="1500"/>
              </a:lnSpc>
              <a:buNone/>
            </a:pPr>
            <a:r>
              <a:rPr lang="en-US" sz="1500" b="1" dirty="0">
                <a:solidFill>
                  <a:srgbClr val="003459"/>
                </a:solidFill>
                <a:latin typeface="Google Sans" pitchFamily="34" charset="0"/>
                <a:ea typeface="Google Sans" pitchFamily="34" charset="-122"/>
                <a:cs typeface="Google Sans" pitchFamily="34" charset="-120"/>
              </a:rPr>
              <a:t>62,6</a:t>
            </a:r>
            <a:endParaRPr lang="en-US" sz="1500" dirty="0"/>
          </a:p>
        </p:txBody>
      </p:sp>
      <p:sp>
        <p:nvSpPr>
          <p:cNvPr id="38" name="Shape 36"/>
          <p:cNvSpPr/>
          <p:nvPr/>
        </p:nvSpPr>
        <p:spPr>
          <a:xfrm>
            <a:off x="4058805" y="4349750"/>
            <a:ext cx="190500" cy="190500"/>
          </a:xfrm>
          <a:prstGeom prst="ellipse">
            <a:avLst/>
          </a:prstGeom>
          <a:solidFill>
            <a:srgbClr val="1B7FC4"/>
          </a:solidFill>
          <a:ln w="25400">
            <a:solidFill>
              <a:srgbClr val="FFFFFF"/>
            </a:solidFill>
            <a:prstDash val="solid"/>
          </a:ln>
        </p:spPr>
      </p:sp>
      <p:sp>
        <p:nvSpPr>
          <p:cNvPr id="39" name="Text 37"/>
          <p:cNvSpPr/>
          <p:nvPr/>
        </p:nvSpPr>
        <p:spPr>
          <a:xfrm>
            <a:off x="3519055" y="4699000"/>
            <a:ext cx="1270000" cy="190500"/>
          </a:xfrm>
          <a:prstGeom prst="rect">
            <a:avLst/>
          </a:prstGeom>
          <a:noFill/>
          <a:ln/>
        </p:spPr>
        <p:txBody>
          <a:bodyPr wrap="square" lIns="0" tIns="0" rIns="0" bIns="0" rtlCol="0" anchor="ctr"/>
          <a:lstStyle/>
          <a:p>
            <a:pPr algn="ctr" indent="0" marL="0">
              <a:lnSpc>
                <a:spcPts val="950"/>
              </a:lnSpc>
              <a:buNone/>
            </a:pPr>
            <a:r>
              <a:rPr lang="en-US" sz="950" dirty="0">
                <a:solidFill>
                  <a:srgbClr val="4B5E69"/>
                </a:solidFill>
                <a:latin typeface="Google Sans" pitchFamily="34" charset="0"/>
                <a:ea typeface="Google Sans" pitchFamily="34" charset="-122"/>
                <a:cs typeface="Google Sans" pitchFamily="34" charset="-120"/>
              </a:rPr>
              <a:t>Tertinggi, ekor 007</a:t>
            </a:r>
            <a:endParaRPr lang="en-US" sz="950" dirty="0"/>
          </a:p>
        </p:txBody>
      </p:sp>
      <p:sp>
        <p:nvSpPr>
          <p:cNvPr id="40" name="Text 38"/>
          <p:cNvSpPr/>
          <p:nvPr/>
        </p:nvSpPr>
        <p:spPr>
          <a:xfrm>
            <a:off x="3646055" y="4889500"/>
            <a:ext cx="1016000" cy="228600"/>
          </a:xfrm>
          <a:prstGeom prst="rect">
            <a:avLst/>
          </a:prstGeom>
          <a:noFill/>
          <a:ln/>
        </p:spPr>
        <p:txBody>
          <a:bodyPr wrap="square" lIns="0" tIns="0" rIns="0" bIns="0" rtlCol="0" anchor="ctr"/>
          <a:lstStyle/>
          <a:p>
            <a:pPr algn="ctr" indent="0" marL="0">
              <a:lnSpc>
                <a:spcPts val="1500"/>
              </a:lnSpc>
              <a:buNone/>
            </a:pPr>
            <a:r>
              <a:rPr lang="en-US" sz="1500" b="1" dirty="0">
                <a:solidFill>
                  <a:srgbClr val="1B7FC4"/>
                </a:solidFill>
                <a:latin typeface="Google Sans" pitchFamily="34" charset="0"/>
                <a:ea typeface="Google Sans" pitchFamily="34" charset="-122"/>
                <a:cs typeface="Google Sans" pitchFamily="34" charset="-120"/>
              </a:rPr>
              <a:t>70,2</a:t>
            </a:r>
            <a:endParaRPr lang="en-US" sz="1500" dirty="0"/>
          </a:p>
        </p:txBody>
      </p:sp>
      <p:sp>
        <p:nvSpPr>
          <p:cNvPr id="41" name="Shape 39"/>
          <p:cNvSpPr/>
          <p:nvPr/>
        </p:nvSpPr>
        <p:spPr>
          <a:xfrm>
            <a:off x="4546600" y="3175000"/>
            <a:ext cx="304800" cy="304800"/>
          </a:xfrm>
          <a:prstGeom prst="ellipse">
            <a:avLst/>
          </a:prstGeom>
          <a:solidFill>
            <a:srgbClr val="003459"/>
          </a:solidFill>
          <a:ln w="38100">
            <a:solidFill>
              <a:srgbClr val="F6F9FB"/>
            </a:solidFill>
            <a:prstDash val="solid"/>
          </a:ln>
        </p:spPr>
      </p:sp>
      <p:pic>
        <p:nvPicPr>
          <p:cNvPr id="42" name="Image 0" descr="public\icons\arrow-right-white.png">    </p:cNvPr>
          <p:cNvPicPr>
            <a:picLocks noChangeAspect="1"/>
          </p:cNvPicPr>
          <p:nvPr/>
        </p:nvPicPr>
        <p:blipFill>
          <a:blip r:embed="rId1"/>
          <a:stretch>
            <a:fillRect/>
          </a:stretch>
        </p:blipFill>
        <p:spPr>
          <a:xfrm>
            <a:off x="4610100" y="3238500"/>
            <a:ext cx="177800" cy="177800"/>
          </a:xfrm>
          <a:prstGeom prst="rect">
            <a:avLst/>
          </a:prstGeom>
        </p:spPr>
      </p:pic>
      <p:sp>
        <p:nvSpPr>
          <p:cNvPr id="43" name="Text 40"/>
          <p:cNvSpPr/>
          <p:nvPr/>
        </p:nvSpPr>
        <p:spPr>
          <a:xfrm>
            <a:off x="5080000" y="533400"/>
            <a:ext cx="2921000" cy="254000"/>
          </a:xfrm>
          <a:prstGeom prst="rect">
            <a:avLst/>
          </a:prstGeom>
          <a:noFill/>
          <a:ln/>
        </p:spPr>
        <p:txBody>
          <a:bodyPr wrap="square" lIns="0" tIns="0" rIns="0" bIns="0" rtlCol="0" anchor="ctr"/>
          <a:lstStyle/>
          <a:p>
            <a:pPr algn="l" indent="0" marL="0">
              <a:lnSpc>
                <a:spcPts val="750"/>
              </a:lnSpc>
              <a:buNone/>
            </a:pPr>
            <a:r>
              <a:rPr lang="en-US" sz="750" b="1" dirty="0">
                <a:solidFill>
                  <a:srgbClr val="003459"/>
                </a:solidFill>
                <a:latin typeface="Google Sans" pitchFamily="34" charset="0"/>
                <a:ea typeface="Google Sans" pitchFamily="34" charset="-122"/>
                <a:cs typeface="Google Sans" pitchFamily="34" charset="-120"/>
              </a:rPr>
              <a:t>JAWABANNYA DI KATALIS ERP</a:t>
            </a:r>
            <a:endParaRPr lang="en-US" sz="750" dirty="0"/>
          </a:p>
        </p:txBody>
      </p:sp>
      <p:sp>
        <p:nvSpPr>
          <p:cNvPr id="44" name="Shape 41"/>
          <p:cNvSpPr/>
          <p:nvPr/>
        </p:nvSpPr>
        <p:spPr>
          <a:xfrm>
            <a:off x="8013700" y="533400"/>
            <a:ext cx="1714500" cy="254000"/>
          </a:xfrm>
          <a:prstGeom prst="roundRect">
            <a:avLst>
              <a:gd name="adj" fmla="val 50000"/>
            </a:avLst>
          </a:prstGeom>
          <a:solidFill>
            <a:srgbClr val="E3EDF5"/>
          </a:solidFill>
          <a:ln/>
        </p:spPr>
      </p:sp>
      <p:pic>
        <p:nvPicPr>
          <p:cNvPr id="45" name="Image 1" descr="public\icons\factory-green.png">    </p:cNvPr>
          <p:cNvPicPr>
            <a:picLocks noChangeAspect="1"/>
          </p:cNvPicPr>
          <p:nvPr/>
        </p:nvPicPr>
        <p:blipFill>
          <a:blip r:embed="rId2"/>
          <a:stretch>
            <a:fillRect/>
          </a:stretch>
        </p:blipFill>
        <p:spPr>
          <a:xfrm>
            <a:off x="8102600" y="584200"/>
            <a:ext cx="152400" cy="152400"/>
          </a:xfrm>
          <a:prstGeom prst="rect">
            <a:avLst/>
          </a:prstGeom>
        </p:spPr>
      </p:pic>
      <p:sp>
        <p:nvSpPr>
          <p:cNvPr id="46" name="Text 42"/>
          <p:cNvSpPr/>
          <p:nvPr/>
        </p:nvSpPr>
        <p:spPr>
          <a:xfrm>
            <a:off x="8305800" y="533400"/>
            <a:ext cx="1397000" cy="254000"/>
          </a:xfrm>
          <a:prstGeom prst="rect">
            <a:avLst/>
          </a:prstGeom>
          <a:noFill/>
          <a:ln/>
        </p:spPr>
        <p:txBody>
          <a:bodyPr wrap="square" lIns="0" tIns="0" rIns="0" bIns="0" rtlCol="0" anchor="ctr"/>
          <a:lstStyle/>
          <a:p>
            <a:pPr algn="l" indent="0" marL="0">
              <a:lnSpc>
                <a:spcPts val="900"/>
              </a:lnSpc>
              <a:buNone/>
            </a:pPr>
            <a:r>
              <a:rPr lang="en-US" sz="900" dirty="0">
                <a:solidFill>
                  <a:srgbClr val="003459"/>
                </a:solidFill>
                <a:latin typeface="Google Sans SemiBold" pitchFamily="34" charset="0"/>
                <a:ea typeface="Google Sans SemiBold" pitchFamily="34" charset="-122"/>
                <a:cs typeface="Google Sans SemiBold" pitchFamily="34" charset="-120"/>
              </a:rPr>
              <a:t>Produksi</a:t>
            </a:r>
            <a:endParaRPr lang="en-US" sz="900" dirty="0"/>
          </a:p>
        </p:txBody>
      </p:sp>
      <p:sp>
        <p:nvSpPr>
          <p:cNvPr id="47" name="Shape 43"/>
          <p:cNvSpPr/>
          <p:nvPr/>
        </p:nvSpPr>
        <p:spPr>
          <a:xfrm>
            <a:off x="5080000" y="1003300"/>
            <a:ext cx="254000" cy="254000"/>
          </a:xfrm>
          <a:prstGeom prst="ellipse">
            <a:avLst/>
          </a:prstGeom>
          <a:solidFill>
            <a:srgbClr val="1B7FC4"/>
          </a:solidFill>
          <a:ln/>
        </p:spPr>
      </p:sp>
      <p:pic>
        <p:nvPicPr>
          <p:cNvPr id="48" name="Image 2" descr="public\icons\check-white.png">    </p:cNvPr>
          <p:cNvPicPr>
            <a:picLocks noChangeAspect="1"/>
          </p:cNvPicPr>
          <p:nvPr/>
        </p:nvPicPr>
        <p:blipFill>
          <a:blip r:embed="rId3"/>
          <a:stretch>
            <a:fillRect/>
          </a:stretch>
        </p:blipFill>
        <p:spPr>
          <a:xfrm>
            <a:off x="5130800" y="1054100"/>
            <a:ext cx="152400" cy="152400"/>
          </a:xfrm>
          <a:prstGeom prst="rect">
            <a:avLst/>
          </a:prstGeom>
        </p:spPr>
      </p:pic>
      <p:sp>
        <p:nvSpPr>
          <p:cNvPr id="49" name="Text 44"/>
          <p:cNvSpPr/>
          <p:nvPr/>
        </p:nvSpPr>
        <p:spPr>
          <a:xfrm>
            <a:off x="5410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Hasil tiap ekor dicatat</a:t>
            </a:r>
            <a:endParaRPr lang="en-US" sz="1200" dirty="0"/>
          </a:p>
        </p:txBody>
      </p:sp>
      <p:sp>
        <p:nvSpPr>
          <p:cNvPr id="50" name="Shape 45"/>
          <p:cNvSpPr/>
          <p:nvPr/>
        </p:nvSpPr>
        <p:spPr>
          <a:xfrm>
            <a:off x="7239000" y="1003300"/>
            <a:ext cx="254000" cy="254000"/>
          </a:xfrm>
          <a:prstGeom prst="ellipse">
            <a:avLst/>
          </a:prstGeom>
          <a:solidFill>
            <a:srgbClr val="1B7FC4"/>
          </a:solidFill>
          <a:ln/>
        </p:spPr>
      </p:sp>
      <p:pic>
        <p:nvPicPr>
          <p:cNvPr id="51" name="Image 3" descr="public\icons\check-white.png">    </p:cNvPr>
          <p:cNvPicPr>
            <a:picLocks noChangeAspect="1"/>
          </p:cNvPicPr>
          <p:nvPr/>
        </p:nvPicPr>
        <p:blipFill>
          <a:blip r:embed="rId4"/>
          <a:stretch>
            <a:fillRect/>
          </a:stretch>
        </p:blipFill>
        <p:spPr>
          <a:xfrm>
            <a:off x="7289800" y="1054100"/>
            <a:ext cx="152400" cy="152400"/>
          </a:xfrm>
          <a:prstGeom prst="rect">
            <a:avLst/>
          </a:prstGeom>
        </p:spPr>
      </p:pic>
      <p:sp>
        <p:nvSpPr>
          <p:cNvPr id="52" name="Text 46"/>
          <p:cNvSpPr/>
          <p:nvPr/>
        </p:nvSpPr>
        <p:spPr>
          <a:xfrm>
            <a:off x="7569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Langsung dibandingkan dengan rencana</a:t>
            </a:r>
            <a:endParaRPr lang="en-US" sz="1200" dirty="0"/>
          </a:p>
        </p:txBody>
      </p:sp>
      <p:sp>
        <p:nvSpPr>
          <p:cNvPr id="53" name="Shape 47"/>
          <p:cNvSpPr/>
          <p:nvPr/>
        </p:nvSpPr>
        <p:spPr>
          <a:xfrm>
            <a:off x="9398000" y="1003300"/>
            <a:ext cx="254000" cy="254000"/>
          </a:xfrm>
          <a:prstGeom prst="ellipse">
            <a:avLst/>
          </a:prstGeom>
          <a:solidFill>
            <a:srgbClr val="1B7FC4"/>
          </a:solidFill>
          <a:ln/>
        </p:spPr>
      </p:sp>
      <p:pic>
        <p:nvPicPr>
          <p:cNvPr id="54" name="Image 4" descr="public\icons\check-white.png">    </p:cNvPr>
          <p:cNvPicPr>
            <a:picLocks noChangeAspect="1"/>
          </p:cNvPicPr>
          <p:nvPr/>
        </p:nvPicPr>
        <p:blipFill>
          <a:blip r:embed="rId5"/>
          <a:stretch>
            <a:fillRect/>
          </a:stretch>
        </p:blipFill>
        <p:spPr>
          <a:xfrm>
            <a:off x="9448800" y="1054100"/>
            <a:ext cx="152400" cy="152400"/>
          </a:xfrm>
          <a:prstGeom prst="rect">
            <a:avLst/>
          </a:prstGeom>
        </p:spPr>
      </p:pic>
      <p:sp>
        <p:nvSpPr>
          <p:cNvPr id="55" name="Text 48"/>
          <p:cNvSpPr/>
          <p:nvPr/>
        </p:nvSpPr>
        <p:spPr>
          <a:xfrm>
            <a:off x="9728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Ekor yang hasilnya rendah ketahuan</a:t>
            </a:r>
            <a:endParaRPr lang="en-US" sz="1200" dirty="0"/>
          </a:p>
        </p:txBody>
      </p:sp>
      <p:pic>
        <p:nvPicPr>
          <p:cNvPr id="56" name="Image 5" descr="public\shots\screen-produksi.png">    </p:cNvPr>
          <p:cNvPicPr>
            <a:picLocks noChangeAspect="1"/>
          </p:cNvPicPr>
          <p:nvPr/>
        </p:nvPicPr>
        <p:blipFill>
          <a:blip r:embed="rId6"/>
          <a:stretch>
            <a:fillRect/>
          </a:stretch>
        </p:blipFill>
        <p:spPr>
          <a:xfrm>
            <a:off x="5080000" y="1752600"/>
            <a:ext cx="6350000" cy="4057650"/>
          </a:xfrm>
          <a:prstGeom prst="rect">
            <a:avLst/>
          </a:prstGeom>
        </p:spPr>
      </p:pic>
      <p:sp>
        <p:nvSpPr>
          <p:cNvPr id="57" name="Text 49"/>
          <p:cNvSpPr/>
          <p:nvPr/>
        </p:nvSpPr>
        <p:spPr>
          <a:xfrm>
            <a:off x="762000" y="6502400"/>
            <a:ext cx="8255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Data nyata Siklus 1 (11 ekor, 481 kg)</a:t>
            </a:r>
            <a:endParaRPr lang="en-US" sz="800" dirty="0"/>
          </a:p>
        </p:txBody>
      </p:sp>
      <p:sp>
        <p:nvSpPr>
          <p:cNvPr id="58" name="Text 50"/>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04 / 15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4699000" cy="6858000"/>
          </a:xfrm>
          <a:prstGeom prst="rect">
            <a:avLst/>
          </a:prstGeom>
          <a:solidFill>
            <a:srgbClr val="EDF2F6"/>
          </a:solidFill>
          <a:ln/>
        </p:spPr>
      </p:sp>
      <p:sp>
        <p:nvSpPr>
          <p:cNvPr id="3" name="Shape 1"/>
          <p:cNvSpPr/>
          <p:nvPr/>
        </p:nvSpPr>
        <p:spPr>
          <a:xfrm>
            <a:off x="762000" y="533400"/>
            <a:ext cx="1473200" cy="254000"/>
          </a:xfrm>
          <a:prstGeom prst="roundRect">
            <a:avLst>
              <a:gd name="adj" fmla="val 50000"/>
            </a:avLst>
          </a:prstGeom>
          <a:solidFill>
            <a:srgbClr val="FFFFFF"/>
          </a:solidFill>
          <a:ln w="10160">
            <a:solidFill>
              <a:srgbClr val="D5DEE4"/>
            </a:solidFill>
            <a:prstDash val="solid"/>
          </a:ln>
        </p:spPr>
      </p:sp>
      <p:sp>
        <p:nvSpPr>
          <p:cNvPr id="4" name="Shape 2"/>
          <p:cNvSpPr/>
          <p:nvPr/>
        </p:nvSpPr>
        <p:spPr>
          <a:xfrm>
            <a:off x="863600" y="622300"/>
            <a:ext cx="76200" cy="76200"/>
          </a:xfrm>
          <a:prstGeom prst="ellipse">
            <a:avLst/>
          </a:prstGeom>
          <a:solidFill>
            <a:srgbClr val="C98A1B"/>
          </a:solidFill>
          <a:ln/>
        </p:spPr>
      </p:sp>
      <p:sp>
        <p:nvSpPr>
          <p:cNvPr id="5" name="Text 3"/>
          <p:cNvSpPr/>
          <p:nvPr/>
        </p:nvSpPr>
        <p:spPr>
          <a:xfrm>
            <a:off x="990600" y="533400"/>
            <a:ext cx="1206500" cy="254000"/>
          </a:xfrm>
          <a:prstGeom prst="rect">
            <a:avLst/>
          </a:prstGeom>
          <a:noFill/>
          <a:ln/>
        </p:spPr>
        <p:txBody>
          <a:bodyPr wrap="square" lIns="0" tIns="0" rIns="0" bIns="0" rtlCol="0" anchor="ctr"/>
          <a:lstStyle/>
          <a:p>
            <a:pPr algn="l" indent="0" marL="0">
              <a:lnSpc>
                <a:spcPts val="750"/>
              </a:lnSpc>
              <a:buNone/>
            </a:pPr>
            <a:r>
              <a:rPr lang="en-US" sz="750" b="1" dirty="0">
                <a:solidFill>
                  <a:srgbClr val="C98A1B"/>
                </a:solidFill>
                <a:latin typeface="Google Sans" pitchFamily="34" charset="0"/>
                <a:ea typeface="Google Sans" pitchFamily="34" charset="-122"/>
                <a:cs typeface="Google Sans" pitchFamily="34" charset="-120"/>
              </a:rPr>
              <a:t>MASALAH 3 DARI 6</a:t>
            </a:r>
            <a:endParaRPr lang="en-US" sz="750" dirty="0"/>
          </a:p>
        </p:txBody>
      </p:sp>
      <p:sp>
        <p:nvSpPr>
          <p:cNvPr id="6" name="Text 4"/>
          <p:cNvSpPr/>
          <p:nvPr/>
        </p:nvSpPr>
        <p:spPr>
          <a:xfrm>
            <a:off x="2336800" y="533400"/>
            <a:ext cx="2159000" cy="2540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Medium" pitchFamily="34" charset="0"/>
                <a:ea typeface="Google Sans Medium" pitchFamily="34" charset="-122"/>
                <a:cs typeface="Google Sans Medium" pitchFamily="34" charset="-120"/>
              </a:rPr>
              <a:t>Sisa potongan dan mutu</a:t>
            </a:r>
            <a:endParaRPr lang="en-US" sz="900" dirty="0"/>
          </a:p>
        </p:txBody>
      </p:sp>
      <p:sp>
        <p:nvSpPr>
          <p:cNvPr id="7" name="Text 5"/>
          <p:cNvSpPr/>
          <p:nvPr/>
        </p:nvSpPr>
        <p:spPr>
          <a:xfrm>
            <a:off x="762000" y="914400"/>
            <a:ext cx="3746500" cy="1270000"/>
          </a:xfrm>
          <a:prstGeom prst="rect">
            <a:avLst/>
          </a:prstGeom>
          <a:noFill/>
          <a:ln/>
        </p:spPr>
        <p:txBody>
          <a:bodyPr wrap="square" lIns="0" tIns="0" rIns="0" bIns="0" rtlCol="0" anchor="t"/>
          <a:lstStyle/>
          <a:p>
            <a:pPr algn="l" indent="0" marL="0">
              <a:lnSpc>
                <a:spcPts val="2810"/>
              </a:lnSpc>
              <a:buNone/>
            </a:pPr>
            <a:r>
              <a:rPr lang="en-US" sz="2600" b="1" dirty="0">
                <a:solidFill>
                  <a:srgbClr val="00171F"/>
                </a:solidFill>
                <a:latin typeface="Google Sans" pitchFamily="34" charset="0"/>
                <a:ea typeface="Google Sans" pitchFamily="34" charset="-122"/>
                <a:cs typeface="Google Sans" pitchFamily="34" charset="-120"/>
              </a:rPr>
              <a:t>65 kg sisa potongan ikan belum laku</a:t>
            </a:r>
            <a:endParaRPr lang="en-US" sz="2600" dirty="0"/>
          </a:p>
        </p:txBody>
      </p:sp>
      <p:sp>
        <p:nvSpPr>
          <p:cNvPr id="8" name="Text 6"/>
          <p:cNvSpPr/>
          <p:nvPr/>
        </p:nvSpPr>
        <p:spPr>
          <a:xfrm>
            <a:off x="762000" y="2235200"/>
            <a:ext cx="3746500" cy="698500"/>
          </a:xfrm>
          <a:prstGeom prst="rect">
            <a:avLst/>
          </a:prstGeom>
          <a:noFill/>
          <a:ln/>
        </p:spPr>
        <p:txBody>
          <a:bodyPr wrap="square" lIns="0" tIns="0" rIns="0" bIns="0" rtlCol="0" anchor="t"/>
          <a:lstStyle/>
          <a:p>
            <a:pPr algn="l" indent="0" marL="0">
              <a:lnSpc>
                <a:spcPts val="1560"/>
              </a:lnSpc>
              <a:buNone/>
            </a:pPr>
            <a:r>
              <a:rPr lang="en-US" sz="1100" dirty="0">
                <a:solidFill>
                  <a:srgbClr val="4B5E69"/>
                </a:solidFill>
                <a:latin typeface="Google Sans" pitchFamily="34" charset="0"/>
                <a:ea typeface="Google Sans" pitchFamily="34" charset="-122"/>
                <a:cs typeface="Google Sans" pitchFamily="34" charset="-120"/>
              </a:rPr>
              <a:t>Kepala, tetelan, dan potongan lain tertinggal setelah daging diambil. Harga tiap kelas mutu juga beda, jadi gampang salah patok.</a:t>
            </a:r>
            <a:endParaRPr lang="en-US" sz="1100" dirty="0"/>
          </a:p>
        </p:txBody>
      </p:sp>
      <p:sp>
        <p:nvSpPr>
          <p:cNvPr id="9" name="Text 7"/>
          <p:cNvSpPr/>
          <p:nvPr/>
        </p:nvSpPr>
        <p:spPr>
          <a:xfrm>
            <a:off x="762000" y="3175000"/>
            <a:ext cx="3810000" cy="1397000"/>
          </a:xfrm>
          <a:prstGeom prst="rect">
            <a:avLst/>
          </a:prstGeom>
          <a:noFill/>
          <a:ln/>
        </p:spPr>
        <p:txBody>
          <a:bodyPr wrap="square" lIns="0" tIns="0" rIns="0" bIns="0" rtlCol="0" anchor="ctr"/>
          <a:lstStyle/>
          <a:p>
            <a:pPr algn="l" indent="0" marL="0">
              <a:lnSpc>
                <a:spcPts val="8500"/>
              </a:lnSpc>
              <a:buNone/>
            </a:pPr>
            <a:r>
              <a:rPr lang="en-US" sz="8500" b="1" dirty="0">
                <a:solidFill>
                  <a:srgbClr val="C98A1B"/>
                </a:solidFill>
                <a:latin typeface="Google Sans" pitchFamily="34" charset="0"/>
                <a:ea typeface="Google Sans" pitchFamily="34" charset="-122"/>
                <a:cs typeface="Google Sans" pitchFamily="34" charset="-120"/>
              </a:rPr>
              <a:t>65 kg</a:t>
            </a:r>
            <a:endParaRPr lang="en-US" sz="8500" dirty="0"/>
          </a:p>
        </p:txBody>
      </p:sp>
      <p:sp>
        <p:nvSpPr>
          <p:cNvPr id="10" name="Text 8"/>
          <p:cNvSpPr/>
          <p:nvPr/>
        </p:nvSpPr>
        <p:spPr>
          <a:xfrm>
            <a:off x="762000" y="4635500"/>
            <a:ext cx="3556000" cy="444500"/>
          </a:xfrm>
          <a:prstGeom prst="rect">
            <a:avLst/>
          </a:prstGeom>
          <a:noFill/>
          <a:ln/>
        </p:spPr>
        <p:txBody>
          <a:bodyPr wrap="square" lIns="0" tIns="0" rIns="0" bIns="0" rtlCol="0" anchor="t"/>
          <a:lstStyle/>
          <a:p>
            <a:pPr algn="l" indent="0" marL="0">
              <a:lnSpc>
                <a:spcPts val="1690"/>
              </a:lnSpc>
              <a:buNone/>
            </a:pPr>
            <a:r>
              <a:rPr lang="en-US" sz="1300" dirty="0">
                <a:solidFill>
                  <a:srgbClr val="00171F"/>
                </a:solidFill>
                <a:latin typeface="Google Sans Medium" pitchFamily="34" charset="0"/>
                <a:ea typeface="Google Sans Medium" pitchFamily="34" charset="-122"/>
                <a:cs typeface="Google Sans Medium" pitchFamily="34" charset="-120"/>
              </a:rPr>
              <a:t>sisa potongan di stok yang belum ada pembelinya</a:t>
            </a:r>
            <a:endParaRPr lang="en-US" sz="1300" dirty="0"/>
          </a:p>
        </p:txBody>
      </p:sp>
      <p:sp>
        <p:nvSpPr>
          <p:cNvPr id="11" name="Shape 9"/>
          <p:cNvSpPr/>
          <p:nvPr/>
        </p:nvSpPr>
        <p:spPr>
          <a:xfrm>
            <a:off x="762000" y="5397500"/>
            <a:ext cx="3556000" cy="609600"/>
          </a:xfrm>
          <a:prstGeom prst="roundRect">
            <a:avLst>
              <a:gd name="adj" fmla="val 25000"/>
            </a:avLst>
          </a:prstGeom>
          <a:solidFill>
            <a:srgbClr val="FFFFFF"/>
          </a:solidFill>
          <a:ln w="10160">
            <a:solidFill>
              <a:srgbClr val="D5DEE4"/>
            </a:solidFill>
            <a:prstDash val="solid"/>
          </a:ln>
        </p:spPr>
      </p:sp>
      <p:pic>
        <p:nvPicPr>
          <p:cNvPr id="12" name="Image 0" descr="public\icons\tag-green.png">    </p:cNvPr>
          <p:cNvPicPr>
            <a:picLocks noChangeAspect="1"/>
          </p:cNvPicPr>
          <p:nvPr/>
        </p:nvPicPr>
        <p:blipFill>
          <a:blip r:embed="rId1"/>
          <a:stretch>
            <a:fillRect/>
          </a:stretch>
        </p:blipFill>
        <p:spPr>
          <a:xfrm>
            <a:off x="939800" y="5575300"/>
            <a:ext cx="254000" cy="254000"/>
          </a:xfrm>
          <a:prstGeom prst="rect">
            <a:avLst/>
          </a:prstGeom>
        </p:spPr>
      </p:pic>
      <p:sp>
        <p:nvSpPr>
          <p:cNvPr id="13" name="Text 10"/>
          <p:cNvSpPr/>
          <p:nvPr/>
        </p:nvSpPr>
        <p:spPr>
          <a:xfrm>
            <a:off x="1320800" y="5397500"/>
            <a:ext cx="2857500" cy="609600"/>
          </a:xfrm>
          <a:prstGeom prst="rect">
            <a:avLst/>
          </a:prstGeom>
          <a:noFill/>
          <a:ln/>
        </p:spPr>
        <p:txBody>
          <a:bodyPr wrap="square" lIns="0" tIns="0" rIns="0" bIns="0" rtlCol="0" anchor="ctr"/>
          <a:lstStyle/>
          <a:p>
            <a:pPr algn="l" indent="0" marL="0">
              <a:lnSpc>
                <a:spcPts val="1440"/>
              </a:lnSpc>
              <a:buNone/>
            </a:pPr>
            <a:r>
              <a:rPr lang="en-US" sz="1200" dirty="0">
                <a:solidFill>
                  <a:srgbClr val="00171F"/>
                </a:solidFill>
                <a:latin typeface="Google Sans SemiBold" pitchFamily="34" charset="0"/>
                <a:ea typeface="Google Sans SemiBold" pitchFamily="34" charset="-122"/>
                <a:cs typeface="Google Sans SemiBold" pitchFamily="34" charset="-120"/>
              </a:rPr>
              <a:t>6 kelas mutu, 6 harga berbeda</a:t>
            </a:r>
            <a:endParaRPr lang="en-US" sz="1200" dirty="0"/>
          </a:p>
        </p:txBody>
      </p:sp>
      <p:sp>
        <p:nvSpPr>
          <p:cNvPr id="14" name="Shape 11"/>
          <p:cNvSpPr/>
          <p:nvPr/>
        </p:nvSpPr>
        <p:spPr>
          <a:xfrm>
            <a:off x="4546600" y="3175000"/>
            <a:ext cx="304800" cy="304800"/>
          </a:xfrm>
          <a:prstGeom prst="ellipse">
            <a:avLst/>
          </a:prstGeom>
          <a:solidFill>
            <a:srgbClr val="003459"/>
          </a:solidFill>
          <a:ln w="38100">
            <a:solidFill>
              <a:srgbClr val="F6F9FB"/>
            </a:solidFill>
            <a:prstDash val="solid"/>
          </a:ln>
        </p:spPr>
      </p:sp>
      <p:pic>
        <p:nvPicPr>
          <p:cNvPr id="15" name="Image 1" descr="public\icons\arrow-right-white.png">    </p:cNvPr>
          <p:cNvPicPr>
            <a:picLocks noChangeAspect="1"/>
          </p:cNvPicPr>
          <p:nvPr/>
        </p:nvPicPr>
        <p:blipFill>
          <a:blip r:embed="rId2"/>
          <a:stretch>
            <a:fillRect/>
          </a:stretch>
        </p:blipFill>
        <p:spPr>
          <a:xfrm>
            <a:off x="4610100" y="3238500"/>
            <a:ext cx="177800" cy="177800"/>
          </a:xfrm>
          <a:prstGeom prst="rect">
            <a:avLst/>
          </a:prstGeom>
        </p:spPr>
      </p:pic>
      <p:sp>
        <p:nvSpPr>
          <p:cNvPr id="16" name="Text 12"/>
          <p:cNvSpPr/>
          <p:nvPr/>
        </p:nvSpPr>
        <p:spPr>
          <a:xfrm>
            <a:off x="5080000" y="533400"/>
            <a:ext cx="2921000" cy="254000"/>
          </a:xfrm>
          <a:prstGeom prst="rect">
            <a:avLst/>
          </a:prstGeom>
          <a:noFill/>
          <a:ln/>
        </p:spPr>
        <p:txBody>
          <a:bodyPr wrap="square" lIns="0" tIns="0" rIns="0" bIns="0" rtlCol="0" anchor="ctr"/>
          <a:lstStyle/>
          <a:p>
            <a:pPr algn="l" indent="0" marL="0">
              <a:lnSpc>
                <a:spcPts val="750"/>
              </a:lnSpc>
              <a:buNone/>
            </a:pPr>
            <a:r>
              <a:rPr lang="en-US" sz="750" b="1" dirty="0">
                <a:solidFill>
                  <a:srgbClr val="003459"/>
                </a:solidFill>
                <a:latin typeface="Google Sans" pitchFamily="34" charset="0"/>
                <a:ea typeface="Google Sans" pitchFamily="34" charset="-122"/>
                <a:cs typeface="Google Sans" pitchFamily="34" charset="-120"/>
              </a:rPr>
              <a:t>JAWABANNYA DI KATALIS ERP</a:t>
            </a:r>
            <a:endParaRPr lang="en-US" sz="750" dirty="0"/>
          </a:p>
        </p:txBody>
      </p:sp>
      <p:sp>
        <p:nvSpPr>
          <p:cNvPr id="17" name="Shape 13"/>
          <p:cNvSpPr/>
          <p:nvPr/>
        </p:nvSpPr>
        <p:spPr>
          <a:xfrm>
            <a:off x="8013700" y="533400"/>
            <a:ext cx="1714500" cy="254000"/>
          </a:xfrm>
          <a:prstGeom prst="roundRect">
            <a:avLst>
              <a:gd name="adj" fmla="val 50000"/>
            </a:avLst>
          </a:prstGeom>
          <a:solidFill>
            <a:srgbClr val="E3EDF5"/>
          </a:solidFill>
          <a:ln/>
        </p:spPr>
      </p:sp>
      <p:pic>
        <p:nvPicPr>
          <p:cNvPr id="18" name="Image 2" descr="public\icons\package-green.png">    </p:cNvPr>
          <p:cNvPicPr>
            <a:picLocks noChangeAspect="1"/>
          </p:cNvPicPr>
          <p:nvPr/>
        </p:nvPicPr>
        <p:blipFill>
          <a:blip r:embed="rId3"/>
          <a:stretch>
            <a:fillRect/>
          </a:stretch>
        </p:blipFill>
        <p:spPr>
          <a:xfrm>
            <a:off x="8102600" y="584200"/>
            <a:ext cx="152400" cy="152400"/>
          </a:xfrm>
          <a:prstGeom prst="rect">
            <a:avLst/>
          </a:prstGeom>
        </p:spPr>
      </p:pic>
      <p:sp>
        <p:nvSpPr>
          <p:cNvPr id="19" name="Text 14"/>
          <p:cNvSpPr/>
          <p:nvPr/>
        </p:nvSpPr>
        <p:spPr>
          <a:xfrm>
            <a:off x="8305800" y="533400"/>
            <a:ext cx="1397000" cy="254000"/>
          </a:xfrm>
          <a:prstGeom prst="rect">
            <a:avLst/>
          </a:prstGeom>
          <a:noFill/>
          <a:ln/>
        </p:spPr>
        <p:txBody>
          <a:bodyPr wrap="square" lIns="0" tIns="0" rIns="0" bIns="0" rtlCol="0" anchor="ctr"/>
          <a:lstStyle/>
          <a:p>
            <a:pPr algn="l" indent="0" marL="0">
              <a:lnSpc>
                <a:spcPts val="900"/>
              </a:lnSpc>
              <a:buNone/>
            </a:pPr>
            <a:r>
              <a:rPr lang="en-US" sz="900" dirty="0">
                <a:solidFill>
                  <a:srgbClr val="003459"/>
                </a:solidFill>
                <a:latin typeface="Google Sans SemiBold" pitchFamily="34" charset="0"/>
                <a:ea typeface="Google Sans SemiBold" pitchFamily="34" charset="-122"/>
                <a:cs typeface="Google Sans SemiBold" pitchFamily="34" charset="-120"/>
              </a:rPr>
              <a:t>Stok dan mutu</a:t>
            </a:r>
            <a:endParaRPr lang="en-US" sz="900" dirty="0"/>
          </a:p>
        </p:txBody>
      </p:sp>
      <p:sp>
        <p:nvSpPr>
          <p:cNvPr id="20" name="Shape 15"/>
          <p:cNvSpPr/>
          <p:nvPr/>
        </p:nvSpPr>
        <p:spPr>
          <a:xfrm>
            <a:off x="5080000" y="1003300"/>
            <a:ext cx="254000" cy="254000"/>
          </a:xfrm>
          <a:prstGeom prst="ellipse">
            <a:avLst/>
          </a:prstGeom>
          <a:solidFill>
            <a:srgbClr val="1B7FC4"/>
          </a:solidFill>
          <a:ln/>
        </p:spPr>
      </p:sp>
      <p:pic>
        <p:nvPicPr>
          <p:cNvPr id="21" name="Image 3" descr="public\icons\check-white.png">    </p:cNvPr>
          <p:cNvPicPr>
            <a:picLocks noChangeAspect="1"/>
          </p:cNvPicPr>
          <p:nvPr/>
        </p:nvPicPr>
        <p:blipFill>
          <a:blip r:embed="rId4"/>
          <a:stretch>
            <a:fillRect/>
          </a:stretch>
        </p:blipFill>
        <p:spPr>
          <a:xfrm>
            <a:off x="5130800" y="1054100"/>
            <a:ext cx="152400" cy="152400"/>
          </a:xfrm>
          <a:prstGeom prst="rect">
            <a:avLst/>
          </a:prstGeom>
        </p:spPr>
      </p:pic>
      <p:sp>
        <p:nvSpPr>
          <p:cNvPr id="22" name="Text 16"/>
          <p:cNvSpPr/>
          <p:nvPr/>
        </p:nvSpPr>
        <p:spPr>
          <a:xfrm>
            <a:off x="5410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Sisa potongan tercatat di stok</a:t>
            </a:r>
            <a:endParaRPr lang="en-US" sz="1200" dirty="0"/>
          </a:p>
        </p:txBody>
      </p:sp>
      <p:sp>
        <p:nvSpPr>
          <p:cNvPr id="23" name="Shape 17"/>
          <p:cNvSpPr/>
          <p:nvPr/>
        </p:nvSpPr>
        <p:spPr>
          <a:xfrm>
            <a:off x="7239000" y="1003300"/>
            <a:ext cx="254000" cy="254000"/>
          </a:xfrm>
          <a:prstGeom prst="ellipse">
            <a:avLst/>
          </a:prstGeom>
          <a:solidFill>
            <a:srgbClr val="1B7FC4"/>
          </a:solidFill>
          <a:ln/>
        </p:spPr>
      </p:sp>
      <p:pic>
        <p:nvPicPr>
          <p:cNvPr id="24" name="Image 4" descr="public\icons\check-white.png">    </p:cNvPr>
          <p:cNvPicPr>
            <a:picLocks noChangeAspect="1"/>
          </p:cNvPicPr>
          <p:nvPr/>
        </p:nvPicPr>
        <p:blipFill>
          <a:blip r:embed="rId5"/>
          <a:stretch>
            <a:fillRect/>
          </a:stretch>
        </p:blipFill>
        <p:spPr>
          <a:xfrm>
            <a:off x="7289800" y="1054100"/>
            <a:ext cx="152400" cy="152400"/>
          </a:xfrm>
          <a:prstGeom prst="rect">
            <a:avLst/>
          </a:prstGeom>
        </p:spPr>
      </p:pic>
      <p:sp>
        <p:nvSpPr>
          <p:cNvPr id="25" name="Text 18"/>
          <p:cNvSpPr/>
          <p:nvPr/>
        </p:nvSpPr>
        <p:spPr>
          <a:xfrm>
            <a:off x="7569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Calon pembeli bisa dicatat</a:t>
            </a:r>
            <a:endParaRPr lang="en-US" sz="1200" dirty="0"/>
          </a:p>
        </p:txBody>
      </p:sp>
      <p:sp>
        <p:nvSpPr>
          <p:cNvPr id="26" name="Shape 19"/>
          <p:cNvSpPr/>
          <p:nvPr/>
        </p:nvSpPr>
        <p:spPr>
          <a:xfrm>
            <a:off x="9398000" y="1003300"/>
            <a:ext cx="254000" cy="254000"/>
          </a:xfrm>
          <a:prstGeom prst="ellipse">
            <a:avLst/>
          </a:prstGeom>
          <a:solidFill>
            <a:srgbClr val="1B7FC4"/>
          </a:solidFill>
          <a:ln/>
        </p:spPr>
      </p:sp>
      <p:pic>
        <p:nvPicPr>
          <p:cNvPr id="27" name="Image 5" descr="public\icons\check-white.png">    </p:cNvPr>
          <p:cNvPicPr>
            <a:picLocks noChangeAspect="1"/>
          </p:cNvPicPr>
          <p:nvPr/>
        </p:nvPicPr>
        <p:blipFill>
          <a:blip r:embed="rId6"/>
          <a:stretch>
            <a:fillRect/>
          </a:stretch>
        </p:blipFill>
        <p:spPr>
          <a:xfrm>
            <a:off x="9448800" y="1054100"/>
            <a:ext cx="152400" cy="152400"/>
          </a:xfrm>
          <a:prstGeom prst="rect">
            <a:avLst/>
          </a:prstGeom>
        </p:spPr>
      </p:pic>
      <p:sp>
        <p:nvSpPr>
          <p:cNvPr id="28" name="Text 20"/>
          <p:cNvSpPr/>
          <p:nvPr/>
        </p:nvSpPr>
        <p:spPr>
          <a:xfrm>
            <a:off x="9728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Harga otomatis ikut kelas mutu</a:t>
            </a:r>
            <a:endParaRPr lang="en-US" sz="1200" dirty="0"/>
          </a:p>
        </p:txBody>
      </p:sp>
      <p:pic>
        <p:nvPicPr>
          <p:cNvPr id="29" name="Image 6" descr="public\shots\screen-stok.png">    </p:cNvPr>
          <p:cNvPicPr>
            <a:picLocks noChangeAspect="1"/>
          </p:cNvPicPr>
          <p:nvPr/>
        </p:nvPicPr>
        <p:blipFill>
          <a:blip r:embed="rId7"/>
          <a:stretch>
            <a:fillRect/>
          </a:stretch>
        </p:blipFill>
        <p:spPr>
          <a:xfrm>
            <a:off x="5080000" y="1752600"/>
            <a:ext cx="6350000" cy="3727450"/>
          </a:xfrm>
          <a:prstGeom prst="rect">
            <a:avLst/>
          </a:prstGeom>
        </p:spPr>
      </p:pic>
      <p:sp>
        <p:nvSpPr>
          <p:cNvPr id="30" name="Text 21"/>
          <p:cNvSpPr/>
          <p:nvPr/>
        </p:nvSpPr>
        <p:spPr>
          <a:xfrm>
            <a:off x="762000" y="6502400"/>
            <a:ext cx="8255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Data nyata Siklus 1</a:t>
            </a:r>
            <a:endParaRPr lang="en-US" sz="800" dirty="0"/>
          </a:p>
        </p:txBody>
      </p:sp>
      <p:sp>
        <p:nvSpPr>
          <p:cNvPr id="31" name="Text 22"/>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05 / 15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4699000" cy="6858000"/>
          </a:xfrm>
          <a:prstGeom prst="rect">
            <a:avLst/>
          </a:prstGeom>
          <a:solidFill>
            <a:srgbClr val="EDF2F6"/>
          </a:solidFill>
          <a:ln/>
        </p:spPr>
      </p:sp>
      <p:sp>
        <p:nvSpPr>
          <p:cNvPr id="3" name="Shape 1"/>
          <p:cNvSpPr/>
          <p:nvPr/>
        </p:nvSpPr>
        <p:spPr>
          <a:xfrm>
            <a:off x="762000" y="533400"/>
            <a:ext cx="1473200" cy="254000"/>
          </a:xfrm>
          <a:prstGeom prst="roundRect">
            <a:avLst>
              <a:gd name="adj" fmla="val 50000"/>
            </a:avLst>
          </a:prstGeom>
          <a:solidFill>
            <a:srgbClr val="FFFFFF"/>
          </a:solidFill>
          <a:ln w="10160">
            <a:solidFill>
              <a:srgbClr val="D5DEE4"/>
            </a:solidFill>
            <a:prstDash val="solid"/>
          </a:ln>
        </p:spPr>
      </p:sp>
      <p:sp>
        <p:nvSpPr>
          <p:cNvPr id="4" name="Shape 2"/>
          <p:cNvSpPr/>
          <p:nvPr/>
        </p:nvSpPr>
        <p:spPr>
          <a:xfrm>
            <a:off x="863600" y="622300"/>
            <a:ext cx="76200" cy="76200"/>
          </a:xfrm>
          <a:prstGeom prst="ellipse">
            <a:avLst/>
          </a:prstGeom>
          <a:solidFill>
            <a:srgbClr val="C98A1B"/>
          </a:solidFill>
          <a:ln/>
        </p:spPr>
      </p:sp>
      <p:sp>
        <p:nvSpPr>
          <p:cNvPr id="5" name="Text 3"/>
          <p:cNvSpPr/>
          <p:nvPr/>
        </p:nvSpPr>
        <p:spPr>
          <a:xfrm>
            <a:off x="990600" y="533400"/>
            <a:ext cx="1206500" cy="254000"/>
          </a:xfrm>
          <a:prstGeom prst="rect">
            <a:avLst/>
          </a:prstGeom>
          <a:noFill/>
          <a:ln/>
        </p:spPr>
        <p:txBody>
          <a:bodyPr wrap="square" lIns="0" tIns="0" rIns="0" bIns="0" rtlCol="0" anchor="ctr"/>
          <a:lstStyle/>
          <a:p>
            <a:pPr algn="l" indent="0" marL="0">
              <a:lnSpc>
                <a:spcPts val="750"/>
              </a:lnSpc>
              <a:buNone/>
            </a:pPr>
            <a:r>
              <a:rPr lang="en-US" sz="750" b="1" dirty="0">
                <a:solidFill>
                  <a:srgbClr val="C98A1B"/>
                </a:solidFill>
                <a:latin typeface="Google Sans" pitchFamily="34" charset="0"/>
                <a:ea typeface="Google Sans" pitchFamily="34" charset="-122"/>
                <a:cs typeface="Google Sans" pitchFamily="34" charset="-120"/>
              </a:rPr>
              <a:t>MASALAH 4 DARI 6</a:t>
            </a:r>
            <a:endParaRPr lang="en-US" sz="750" dirty="0"/>
          </a:p>
        </p:txBody>
      </p:sp>
      <p:sp>
        <p:nvSpPr>
          <p:cNvPr id="6" name="Text 4"/>
          <p:cNvSpPr/>
          <p:nvPr/>
        </p:nvSpPr>
        <p:spPr>
          <a:xfrm>
            <a:off x="2336800" y="533400"/>
            <a:ext cx="2159000" cy="2540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Medium" pitchFamily="34" charset="0"/>
                <a:ea typeface="Google Sans Medium" pitchFamily="34" charset="-122"/>
                <a:cs typeface="Google Sans Medium" pitchFamily="34" charset="-120"/>
              </a:rPr>
              <a:t>Gudang dingin</a:t>
            </a:r>
            <a:endParaRPr lang="en-US" sz="900" dirty="0"/>
          </a:p>
        </p:txBody>
      </p:sp>
      <p:sp>
        <p:nvSpPr>
          <p:cNvPr id="7" name="Text 5"/>
          <p:cNvSpPr/>
          <p:nvPr/>
        </p:nvSpPr>
        <p:spPr>
          <a:xfrm>
            <a:off x="762000" y="914400"/>
            <a:ext cx="3746500" cy="1270000"/>
          </a:xfrm>
          <a:prstGeom prst="rect">
            <a:avLst/>
          </a:prstGeom>
          <a:noFill/>
          <a:ln/>
        </p:spPr>
        <p:txBody>
          <a:bodyPr wrap="square" lIns="0" tIns="0" rIns="0" bIns="0" rtlCol="0" anchor="t"/>
          <a:lstStyle/>
          <a:p>
            <a:pPr algn="l" indent="0" marL="0">
              <a:lnSpc>
                <a:spcPts val="2810"/>
              </a:lnSpc>
              <a:buNone/>
            </a:pPr>
            <a:r>
              <a:rPr lang="en-US" sz="2600" b="1" dirty="0">
                <a:solidFill>
                  <a:srgbClr val="00171F"/>
                </a:solidFill>
                <a:latin typeface="Google Sans" pitchFamily="34" charset="0"/>
                <a:ea typeface="Google Sans" pitchFamily="34" charset="-122"/>
                <a:cs typeface="Google Sans" pitchFamily="34" charset="-120"/>
              </a:rPr>
              <a:t>Tagihan gudang dingin dihitung pakai tangan, gampang salah</a:t>
            </a:r>
            <a:endParaRPr lang="en-US" sz="2600" dirty="0"/>
          </a:p>
        </p:txBody>
      </p:sp>
      <p:sp>
        <p:nvSpPr>
          <p:cNvPr id="8" name="Text 6"/>
          <p:cNvSpPr/>
          <p:nvPr/>
        </p:nvSpPr>
        <p:spPr>
          <a:xfrm>
            <a:off x="762000" y="2235200"/>
            <a:ext cx="3746500" cy="698500"/>
          </a:xfrm>
          <a:prstGeom prst="rect">
            <a:avLst/>
          </a:prstGeom>
          <a:noFill/>
          <a:ln/>
        </p:spPr>
        <p:txBody>
          <a:bodyPr wrap="square" lIns="0" tIns="0" rIns="0" bIns="0" rtlCol="0" anchor="t"/>
          <a:lstStyle/>
          <a:p>
            <a:pPr algn="l" indent="0" marL="0">
              <a:lnSpc>
                <a:spcPts val="1560"/>
              </a:lnSpc>
              <a:buNone/>
            </a:pPr>
            <a:r>
              <a:rPr lang="en-US" sz="1100" dirty="0">
                <a:solidFill>
                  <a:srgbClr val="4B5E69"/>
                </a:solidFill>
                <a:latin typeface="Google Sans" pitchFamily="34" charset="0"/>
                <a:ea typeface="Google Sans" pitchFamily="34" charset="-122"/>
                <a:cs typeface="Google Sans" pitchFamily="34" charset="-120"/>
              </a:rPr>
              <a:t>Tarifnya naik sesuai lama simpan: Rp75 per kg untuk sehari, Rp2.250 per kg untuk sebulan. Salah hitung sedikit, tagihan pelanggan ikut salah.</a:t>
            </a:r>
            <a:endParaRPr lang="en-US" sz="1100" dirty="0"/>
          </a:p>
        </p:txBody>
      </p:sp>
      <p:sp>
        <p:nvSpPr>
          <p:cNvPr id="9" name="Text 7"/>
          <p:cNvSpPr/>
          <p:nvPr/>
        </p:nvSpPr>
        <p:spPr>
          <a:xfrm>
            <a:off x="762000" y="3175000"/>
            <a:ext cx="3556000" cy="190500"/>
          </a:xfrm>
          <a:prstGeom prst="rect">
            <a:avLst/>
          </a:prstGeom>
          <a:noFill/>
          <a:ln/>
        </p:spPr>
        <p:txBody>
          <a:bodyPr wrap="square" lIns="0" tIns="0" rIns="0" bIns="0" rtlCol="0" anchor="ctr"/>
          <a:lstStyle/>
          <a:p>
            <a:pPr algn="l" indent="0" marL="0">
              <a:lnSpc>
                <a:spcPts val="1000"/>
              </a:lnSpc>
              <a:buNone/>
            </a:pPr>
            <a:r>
              <a:rPr lang="en-US" sz="1000" dirty="0">
                <a:solidFill>
                  <a:srgbClr val="7F909A"/>
                </a:solidFill>
                <a:latin typeface="Google Sans SemiBold" pitchFamily="34" charset="0"/>
                <a:ea typeface="Google Sans SemiBold" pitchFamily="34" charset="-122"/>
                <a:cs typeface="Google Sans SemiBold" pitchFamily="34" charset="-120"/>
              </a:rPr>
              <a:t>Tarif simpan</a:t>
            </a:r>
            <a:endParaRPr lang="en-US" sz="1000" dirty="0"/>
          </a:p>
        </p:txBody>
      </p:sp>
      <p:sp>
        <p:nvSpPr>
          <p:cNvPr id="10" name="Shape 8"/>
          <p:cNvSpPr/>
          <p:nvPr/>
        </p:nvSpPr>
        <p:spPr>
          <a:xfrm>
            <a:off x="762000" y="3429000"/>
            <a:ext cx="3556000" cy="0"/>
          </a:xfrm>
          <a:prstGeom prst="line">
            <a:avLst/>
          </a:prstGeom>
          <a:noFill/>
          <a:ln w="10160">
            <a:solidFill>
              <a:srgbClr val="D5DEE4"/>
            </a:solidFill>
            <a:prstDash val="solid"/>
          </a:ln>
        </p:spPr>
      </p:sp>
      <p:sp>
        <p:nvSpPr>
          <p:cNvPr id="11" name="Text 9"/>
          <p:cNvSpPr/>
          <p:nvPr/>
        </p:nvSpPr>
        <p:spPr>
          <a:xfrm>
            <a:off x="762000" y="3479800"/>
            <a:ext cx="2159000" cy="304800"/>
          </a:xfrm>
          <a:prstGeom prst="rect">
            <a:avLst/>
          </a:prstGeom>
          <a:noFill/>
          <a:ln/>
        </p:spPr>
        <p:txBody>
          <a:bodyPr wrap="square" lIns="0" tIns="0" rIns="0" bIns="0" rtlCol="0" anchor="ctr"/>
          <a:lstStyle/>
          <a:p>
            <a:pPr algn="l" indent="0" marL="0">
              <a:lnSpc>
                <a:spcPts val="1200"/>
              </a:lnSpc>
              <a:buNone/>
            </a:pPr>
            <a:r>
              <a:rPr lang="en-US" sz="1200" dirty="0">
                <a:solidFill>
                  <a:srgbClr val="4B5E69"/>
                </a:solidFill>
                <a:latin typeface="Google Sans" pitchFamily="34" charset="0"/>
                <a:ea typeface="Google Sans" pitchFamily="34" charset="-122"/>
                <a:cs typeface="Google Sans" pitchFamily="34" charset="-120"/>
              </a:rPr>
              <a:t>Sampai 24 jam</a:t>
            </a:r>
            <a:endParaRPr lang="en-US" sz="1200" dirty="0"/>
          </a:p>
        </p:txBody>
      </p:sp>
      <p:sp>
        <p:nvSpPr>
          <p:cNvPr id="12" name="Text 10"/>
          <p:cNvSpPr/>
          <p:nvPr/>
        </p:nvSpPr>
        <p:spPr>
          <a:xfrm>
            <a:off x="2794000" y="3479800"/>
            <a:ext cx="1524000" cy="304800"/>
          </a:xfrm>
          <a:prstGeom prst="rect">
            <a:avLst/>
          </a:prstGeom>
          <a:noFill/>
          <a:ln/>
        </p:spPr>
        <p:txBody>
          <a:bodyPr wrap="square" lIns="0" tIns="0" rIns="0" bIns="0" rtlCol="0" anchor="ctr"/>
          <a:lstStyle/>
          <a:p>
            <a:pPr algn="r" indent="0" marL="0">
              <a:lnSpc>
                <a:spcPts val="1300"/>
              </a:lnSpc>
              <a:buNone/>
            </a:pPr>
            <a:r>
              <a:rPr lang="en-US" sz="1300" b="1" dirty="0">
                <a:solidFill>
                  <a:srgbClr val="00171F"/>
                </a:solidFill>
                <a:latin typeface="Google Sans" pitchFamily="34" charset="0"/>
                <a:ea typeface="Google Sans" pitchFamily="34" charset="-122"/>
                <a:cs typeface="Google Sans" pitchFamily="34" charset="-120"/>
              </a:rPr>
              <a:t>Rp75/kg</a:t>
            </a:r>
            <a:endParaRPr lang="en-US" sz="1300" dirty="0"/>
          </a:p>
        </p:txBody>
      </p:sp>
      <p:sp>
        <p:nvSpPr>
          <p:cNvPr id="13" name="Shape 11"/>
          <p:cNvSpPr/>
          <p:nvPr/>
        </p:nvSpPr>
        <p:spPr>
          <a:xfrm>
            <a:off x="762000" y="3822700"/>
            <a:ext cx="3556000" cy="0"/>
          </a:xfrm>
          <a:prstGeom prst="line">
            <a:avLst/>
          </a:prstGeom>
          <a:noFill/>
          <a:ln w="10160">
            <a:solidFill>
              <a:srgbClr val="D5DEE4"/>
            </a:solidFill>
            <a:prstDash val="solid"/>
          </a:ln>
        </p:spPr>
      </p:sp>
      <p:sp>
        <p:nvSpPr>
          <p:cNvPr id="14" name="Text 12"/>
          <p:cNvSpPr/>
          <p:nvPr/>
        </p:nvSpPr>
        <p:spPr>
          <a:xfrm>
            <a:off x="762000" y="3873500"/>
            <a:ext cx="2159000" cy="304800"/>
          </a:xfrm>
          <a:prstGeom prst="rect">
            <a:avLst/>
          </a:prstGeom>
          <a:noFill/>
          <a:ln/>
        </p:spPr>
        <p:txBody>
          <a:bodyPr wrap="square" lIns="0" tIns="0" rIns="0" bIns="0" rtlCol="0" anchor="ctr"/>
          <a:lstStyle/>
          <a:p>
            <a:pPr algn="l" indent="0" marL="0">
              <a:lnSpc>
                <a:spcPts val="1200"/>
              </a:lnSpc>
              <a:buNone/>
            </a:pPr>
            <a:r>
              <a:rPr lang="en-US" sz="1200" dirty="0">
                <a:solidFill>
                  <a:srgbClr val="4B5E69"/>
                </a:solidFill>
                <a:latin typeface="Google Sans" pitchFamily="34" charset="0"/>
                <a:ea typeface="Google Sans" pitchFamily="34" charset="-122"/>
                <a:cs typeface="Google Sans" pitchFamily="34" charset="-120"/>
              </a:rPr>
              <a:t>Sampai 10 hari</a:t>
            </a:r>
            <a:endParaRPr lang="en-US" sz="1200" dirty="0"/>
          </a:p>
        </p:txBody>
      </p:sp>
      <p:sp>
        <p:nvSpPr>
          <p:cNvPr id="15" name="Text 13"/>
          <p:cNvSpPr/>
          <p:nvPr/>
        </p:nvSpPr>
        <p:spPr>
          <a:xfrm>
            <a:off x="2794000" y="3873500"/>
            <a:ext cx="1524000" cy="304800"/>
          </a:xfrm>
          <a:prstGeom prst="rect">
            <a:avLst/>
          </a:prstGeom>
          <a:noFill/>
          <a:ln/>
        </p:spPr>
        <p:txBody>
          <a:bodyPr wrap="square" lIns="0" tIns="0" rIns="0" bIns="0" rtlCol="0" anchor="ctr"/>
          <a:lstStyle/>
          <a:p>
            <a:pPr algn="r" indent="0" marL="0">
              <a:lnSpc>
                <a:spcPts val="1300"/>
              </a:lnSpc>
              <a:buNone/>
            </a:pPr>
            <a:r>
              <a:rPr lang="en-US" sz="1300" b="1" dirty="0">
                <a:solidFill>
                  <a:srgbClr val="00171F"/>
                </a:solidFill>
                <a:latin typeface="Google Sans" pitchFamily="34" charset="0"/>
                <a:ea typeface="Google Sans" pitchFamily="34" charset="-122"/>
                <a:cs typeface="Google Sans" pitchFamily="34" charset="-120"/>
              </a:rPr>
              <a:t>Rp750/kg</a:t>
            </a:r>
            <a:endParaRPr lang="en-US" sz="1300" dirty="0"/>
          </a:p>
        </p:txBody>
      </p:sp>
      <p:sp>
        <p:nvSpPr>
          <p:cNvPr id="16" name="Shape 14"/>
          <p:cNvSpPr/>
          <p:nvPr/>
        </p:nvSpPr>
        <p:spPr>
          <a:xfrm>
            <a:off x="762000" y="4216400"/>
            <a:ext cx="3556000" cy="0"/>
          </a:xfrm>
          <a:prstGeom prst="line">
            <a:avLst/>
          </a:prstGeom>
          <a:noFill/>
          <a:ln w="10160">
            <a:solidFill>
              <a:srgbClr val="D5DEE4"/>
            </a:solidFill>
            <a:prstDash val="solid"/>
          </a:ln>
        </p:spPr>
      </p:sp>
      <p:sp>
        <p:nvSpPr>
          <p:cNvPr id="17" name="Text 15"/>
          <p:cNvSpPr/>
          <p:nvPr/>
        </p:nvSpPr>
        <p:spPr>
          <a:xfrm>
            <a:off x="762000" y="4267200"/>
            <a:ext cx="2159000" cy="304800"/>
          </a:xfrm>
          <a:prstGeom prst="rect">
            <a:avLst/>
          </a:prstGeom>
          <a:noFill/>
          <a:ln/>
        </p:spPr>
        <p:txBody>
          <a:bodyPr wrap="square" lIns="0" tIns="0" rIns="0" bIns="0" rtlCol="0" anchor="ctr"/>
          <a:lstStyle/>
          <a:p>
            <a:pPr algn="l" indent="0" marL="0">
              <a:lnSpc>
                <a:spcPts val="1200"/>
              </a:lnSpc>
              <a:buNone/>
            </a:pPr>
            <a:r>
              <a:rPr lang="en-US" sz="1200" dirty="0">
                <a:solidFill>
                  <a:srgbClr val="4B5E69"/>
                </a:solidFill>
                <a:latin typeface="Google Sans" pitchFamily="34" charset="0"/>
                <a:ea typeface="Google Sans" pitchFamily="34" charset="-122"/>
                <a:cs typeface="Google Sans" pitchFamily="34" charset="-120"/>
              </a:rPr>
              <a:t>30 hari</a:t>
            </a:r>
            <a:endParaRPr lang="en-US" sz="1200" dirty="0"/>
          </a:p>
        </p:txBody>
      </p:sp>
      <p:sp>
        <p:nvSpPr>
          <p:cNvPr id="18" name="Text 16"/>
          <p:cNvSpPr/>
          <p:nvPr/>
        </p:nvSpPr>
        <p:spPr>
          <a:xfrm>
            <a:off x="2794000" y="4267200"/>
            <a:ext cx="1524000" cy="304800"/>
          </a:xfrm>
          <a:prstGeom prst="rect">
            <a:avLst/>
          </a:prstGeom>
          <a:noFill/>
          <a:ln/>
        </p:spPr>
        <p:txBody>
          <a:bodyPr wrap="square" lIns="0" tIns="0" rIns="0" bIns="0" rtlCol="0" anchor="ctr"/>
          <a:lstStyle/>
          <a:p>
            <a:pPr algn="r" indent="0" marL="0">
              <a:lnSpc>
                <a:spcPts val="1300"/>
              </a:lnSpc>
              <a:buNone/>
            </a:pPr>
            <a:r>
              <a:rPr lang="en-US" sz="1300" b="1" dirty="0">
                <a:solidFill>
                  <a:srgbClr val="00171F"/>
                </a:solidFill>
                <a:latin typeface="Google Sans" pitchFamily="34" charset="0"/>
                <a:ea typeface="Google Sans" pitchFamily="34" charset="-122"/>
                <a:cs typeface="Google Sans" pitchFamily="34" charset="-120"/>
              </a:rPr>
              <a:t>Rp2.250/kg</a:t>
            </a:r>
            <a:endParaRPr lang="en-US" sz="1300" dirty="0"/>
          </a:p>
        </p:txBody>
      </p:sp>
      <p:sp>
        <p:nvSpPr>
          <p:cNvPr id="19" name="Shape 17"/>
          <p:cNvSpPr/>
          <p:nvPr/>
        </p:nvSpPr>
        <p:spPr>
          <a:xfrm>
            <a:off x="762000" y="4826000"/>
            <a:ext cx="3556000" cy="1270000"/>
          </a:xfrm>
          <a:prstGeom prst="roundRect">
            <a:avLst>
              <a:gd name="adj" fmla="val 14000"/>
            </a:avLst>
          </a:prstGeom>
          <a:solidFill>
            <a:srgbClr val="003459"/>
          </a:solidFill>
          <a:ln/>
        </p:spPr>
      </p:sp>
      <p:sp>
        <p:nvSpPr>
          <p:cNvPr id="20" name="Text 18"/>
          <p:cNvSpPr/>
          <p:nvPr/>
        </p:nvSpPr>
        <p:spPr>
          <a:xfrm>
            <a:off x="965200" y="4965700"/>
            <a:ext cx="3175000" cy="177800"/>
          </a:xfrm>
          <a:prstGeom prst="rect">
            <a:avLst/>
          </a:prstGeom>
          <a:noFill/>
          <a:ln/>
        </p:spPr>
        <p:txBody>
          <a:bodyPr wrap="square" lIns="0" tIns="0" rIns="0" bIns="0" rtlCol="0" anchor="ctr"/>
          <a:lstStyle/>
          <a:p>
            <a:pPr algn="l" indent="0" marL="0">
              <a:lnSpc>
                <a:spcPts val="1000"/>
              </a:lnSpc>
              <a:buNone/>
            </a:pPr>
            <a:r>
              <a:rPr lang="en-US" sz="1000" dirty="0">
                <a:solidFill>
                  <a:srgbClr val="CFE0EE"/>
                </a:solidFill>
                <a:latin typeface="Google Sans" pitchFamily="34" charset="0"/>
                <a:ea typeface="Google Sans" pitchFamily="34" charset="-122"/>
                <a:cs typeface="Google Sans" pitchFamily="34" charset="-120"/>
              </a:rPr>
              <a:t>Contoh: 10.000 kg disimpan 15 hari</a:t>
            </a:r>
            <a:endParaRPr lang="en-US" sz="1000" dirty="0"/>
          </a:p>
        </p:txBody>
      </p:sp>
      <p:sp>
        <p:nvSpPr>
          <p:cNvPr id="21" name="Text 19"/>
          <p:cNvSpPr/>
          <p:nvPr/>
        </p:nvSpPr>
        <p:spPr>
          <a:xfrm>
            <a:off x="965200" y="5219700"/>
            <a:ext cx="3175000" cy="571500"/>
          </a:xfrm>
          <a:prstGeom prst="rect">
            <a:avLst/>
          </a:prstGeom>
          <a:noFill/>
          <a:ln/>
        </p:spPr>
        <p:txBody>
          <a:bodyPr wrap="square" lIns="0" tIns="0" rIns="0" bIns="0" rtlCol="0" anchor="ctr"/>
          <a:lstStyle/>
          <a:p>
            <a:pPr algn="l" indent="0" marL="0">
              <a:lnSpc>
                <a:spcPts val="3400"/>
              </a:lnSpc>
              <a:buNone/>
            </a:pPr>
            <a:r>
              <a:rPr lang="en-US" sz="3400" b="1" dirty="0">
                <a:solidFill>
                  <a:srgbClr val="FFFFFF"/>
                </a:solidFill>
                <a:latin typeface="Google Sans" pitchFamily="34" charset="0"/>
                <a:ea typeface="Google Sans" pitchFamily="34" charset="-122"/>
                <a:cs typeface="Google Sans" pitchFamily="34" charset="-120"/>
              </a:rPr>
              <a:t>Rp11.250.000</a:t>
            </a:r>
            <a:endParaRPr lang="en-US" sz="3400" dirty="0"/>
          </a:p>
        </p:txBody>
      </p:sp>
      <p:sp>
        <p:nvSpPr>
          <p:cNvPr id="22" name="Text 20"/>
          <p:cNvSpPr/>
          <p:nvPr/>
        </p:nvSpPr>
        <p:spPr>
          <a:xfrm>
            <a:off x="965200" y="5816600"/>
            <a:ext cx="3175000" cy="177800"/>
          </a:xfrm>
          <a:prstGeom prst="rect">
            <a:avLst/>
          </a:prstGeom>
          <a:noFill/>
          <a:ln/>
        </p:spPr>
        <p:txBody>
          <a:bodyPr wrap="square" lIns="0" tIns="0" rIns="0" bIns="0" rtlCol="0" anchor="ctr"/>
          <a:lstStyle/>
          <a:p>
            <a:pPr algn="l" indent="0" marL="0">
              <a:lnSpc>
                <a:spcPts val="1000"/>
              </a:lnSpc>
              <a:buNone/>
            </a:pPr>
            <a:r>
              <a:rPr lang="en-US" sz="1000" dirty="0">
                <a:solidFill>
                  <a:srgbClr val="CFE0EE"/>
                </a:solidFill>
                <a:latin typeface="Google Sans" pitchFamily="34" charset="0"/>
                <a:ea typeface="Google Sans" pitchFamily="34" charset="-122"/>
                <a:cs typeface="Google Sans" pitchFamily="34" charset="-120"/>
              </a:rPr>
              <a:t>dihitung otomatis, tanpa kalkulator</a:t>
            </a:r>
            <a:endParaRPr lang="en-US" sz="1000" dirty="0"/>
          </a:p>
        </p:txBody>
      </p:sp>
      <p:sp>
        <p:nvSpPr>
          <p:cNvPr id="23" name="Shape 21"/>
          <p:cNvSpPr/>
          <p:nvPr/>
        </p:nvSpPr>
        <p:spPr>
          <a:xfrm>
            <a:off x="4546600" y="3175000"/>
            <a:ext cx="304800" cy="304800"/>
          </a:xfrm>
          <a:prstGeom prst="ellipse">
            <a:avLst/>
          </a:prstGeom>
          <a:solidFill>
            <a:srgbClr val="003459"/>
          </a:solidFill>
          <a:ln w="38100">
            <a:solidFill>
              <a:srgbClr val="F6F9FB"/>
            </a:solidFill>
            <a:prstDash val="solid"/>
          </a:ln>
        </p:spPr>
      </p:sp>
      <p:pic>
        <p:nvPicPr>
          <p:cNvPr id="24" name="Image 0" descr="public\icons\arrow-right-white.png">    </p:cNvPr>
          <p:cNvPicPr>
            <a:picLocks noChangeAspect="1"/>
          </p:cNvPicPr>
          <p:nvPr/>
        </p:nvPicPr>
        <p:blipFill>
          <a:blip r:embed="rId1"/>
          <a:stretch>
            <a:fillRect/>
          </a:stretch>
        </p:blipFill>
        <p:spPr>
          <a:xfrm>
            <a:off x="4610100" y="3238500"/>
            <a:ext cx="177800" cy="177800"/>
          </a:xfrm>
          <a:prstGeom prst="rect">
            <a:avLst/>
          </a:prstGeom>
        </p:spPr>
      </p:pic>
      <p:sp>
        <p:nvSpPr>
          <p:cNvPr id="25" name="Text 22"/>
          <p:cNvSpPr/>
          <p:nvPr/>
        </p:nvSpPr>
        <p:spPr>
          <a:xfrm>
            <a:off x="5080000" y="533400"/>
            <a:ext cx="2921000" cy="254000"/>
          </a:xfrm>
          <a:prstGeom prst="rect">
            <a:avLst/>
          </a:prstGeom>
          <a:noFill/>
          <a:ln/>
        </p:spPr>
        <p:txBody>
          <a:bodyPr wrap="square" lIns="0" tIns="0" rIns="0" bIns="0" rtlCol="0" anchor="ctr"/>
          <a:lstStyle/>
          <a:p>
            <a:pPr algn="l" indent="0" marL="0">
              <a:lnSpc>
                <a:spcPts val="750"/>
              </a:lnSpc>
              <a:buNone/>
            </a:pPr>
            <a:r>
              <a:rPr lang="en-US" sz="750" b="1" dirty="0">
                <a:solidFill>
                  <a:srgbClr val="003459"/>
                </a:solidFill>
                <a:latin typeface="Google Sans" pitchFamily="34" charset="0"/>
                <a:ea typeface="Google Sans" pitchFamily="34" charset="-122"/>
                <a:cs typeface="Google Sans" pitchFamily="34" charset="-120"/>
              </a:rPr>
              <a:t>JAWABANNYA DI KATALIS ERP</a:t>
            </a:r>
            <a:endParaRPr lang="en-US" sz="750" dirty="0"/>
          </a:p>
        </p:txBody>
      </p:sp>
      <p:sp>
        <p:nvSpPr>
          <p:cNvPr id="26" name="Shape 23"/>
          <p:cNvSpPr/>
          <p:nvPr/>
        </p:nvSpPr>
        <p:spPr>
          <a:xfrm>
            <a:off x="8013700" y="533400"/>
            <a:ext cx="1714500" cy="254000"/>
          </a:xfrm>
          <a:prstGeom prst="roundRect">
            <a:avLst>
              <a:gd name="adj" fmla="val 50000"/>
            </a:avLst>
          </a:prstGeom>
          <a:solidFill>
            <a:srgbClr val="E3EDF5"/>
          </a:solidFill>
          <a:ln/>
        </p:spPr>
      </p:sp>
      <p:pic>
        <p:nvPicPr>
          <p:cNvPr id="27" name="Image 1" descr="public\icons\snowflake-green.png">    </p:cNvPr>
          <p:cNvPicPr>
            <a:picLocks noChangeAspect="1"/>
          </p:cNvPicPr>
          <p:nvPr/>
        </p:nvPicPr>
        <p:blipFill>
          <a:blip r:embed="rId2"/>
          <a:stretch>
            <a:fillRect/>
          </a:stretch>
        </p:blipFill>
        <p:spPr>
          <a:xfrm>
            <a:off x="8102600" y="584200"/>
            <a:ext cx="152400" cy="152400"/>
          </a:xfrm>
          <a:prstGeom prst="rect">
            <a:avLst/>
          </a:prstGeom>
        </p:spPr>
      </p:pic>
      <p:sp>
        <p:nvSpPr>
          <p:cNvPr id="28" name="Text 24"/>
          <p:cNvSpPr/>
          <p:nvPr/>
        </p:nvSpPr>
        <p:spPr>
          <a:xfrm>
            <a:off x="8305800" y="533400"/>
            <a:ext cx="1397000" cy="254000"/>
          </a:xfrm>
          <a:prstGeom prst="rect">
            <a:avLst/>
          </a:prstGeom>
          <a:noFill/>
          <a:ln/>
        </p:spPr>
        <p:txBody>
          <a:bodyPr wrap="square" lIns="0" tIns="0" rIns="0" bIns="0" rtlCol="0" anchor="ctr"/>
          <a:lstStyle/>
          <a:p>
            <a:pPr algn="l" indent="0" marL="0">
              <a:lnSpc>
                <a:spcPts val="900"/>
              </a:lnSpc>
              <a:buNone/>
            </a:pPr>
            <a:r>
              <a:rPr lang="en-US" sz="900" dirty="0">
                <a:solidFill>
                  <a:srgbClr val="003459"/>
                </a:solidFill>
                <a:latin typeface="Google Sans SemiBold" pitchFamily="34" charset="0"/>
                <a:ea typeface="Google Sans SemiBold" pitchFamily="34" charset="-122"/>
                <a:cs typeface="Google Sans SemiBold" pitchFamily="34" charset="-120"/>
              </a:rPr>
              <a:t>Gudang dingin</a:t>
            </a:r>
            <a:endParaRPr lang="en-US" sz="900" dirty="0"/>
          </a:p>
        </p:txBody>
      </p:sp>
      <p:sp>
        <p:nvSpPr>
          <p:cNvPr id="29" name="Shape 25"/>
          <p:cNvSpPr/>
          <p:nvPr/>
        </p:nvSpPr>
        <p:spPr>
          <a:xfrm>
            <a:off x="5080000" y="1003300"/>
            <a:ext cx="254000" cy="254000"/>
          </a:xfrm>
          <a:prstGeom prst="ellipse">
            <a:avLst/>
          </a:prstGeom>
          <a:solidFill>
            <a:srgbClr val="1B7FC4"/>
          </a:solidFill>
          <a:ln/>
        </p:spPr>
      </p:sp>
      <p:pic>
        <p:nvPicPr>
          <p:cNvPr id="30" name="Image 2" descr="public\icons\check-white.png">    </p:cNvPr>
          <p:cNvPicPr>
            <a:picLocks noChangeAspect="1"/>
          </p:cNvPicPr>
          <p:nvPr/>
        </p:nvPicPr>
        <p:blipFill>
          <a:blip r:embed="rId3"/>
          <a:stretch>
            <a:fillRect/>
          </a:stretch>
        </p:blipFill>
        <p:spPr>
          <a:xfrm>
            <a:off x="5130800" y="1054100"/>
            <a:ext cx="152400" cy="152400"/>
          </a:xfrm>
          <a:prstGeom prst="rect">
            <a:avLst/>
          </a:prstGeom>
        </p:spPr>
      </p:pic>
      <p:sp>
        <p:nvSpPr>
          <p:cNvPr id="31" name="Text 26"/>
          <p:cNvSpPr/>
          <p:nvPr/>
        </p:nvSpPr>
        <p:spPr>
          <a:xfrm>
            <a:off x="5410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Tarif tersimpan di aplikasi</a:t>
            </a:r>
            <a:endParaRPr lang="en-US" sz="1200" dirty="0"/>
          </a:p>
        </p:txBody>
      </p:sp>
      <p:sp>
        <p:nvSpPr>
          <p:cNvPr id="32" name="Shape 27"/>
          <p:cNvSpPr/>
          <p:nvPr/>
        </p:nvSpPr>
        <p:spPr>
          <a:xfrm>
            <a:off x="7239000" y="1003300"/>
            <a:ext cx="254000" cy="254000"/>
          </a:xfrm>
          <a:prstGeom prst="ellipse">
            <a:avLst/>
          </a:prstGeom>
          <a:solidFill>
            <a:srgbClr val="1B7FC4"/>
          </a:solidFill>
          <a:ln/>
        </p:spPr>
      </p:sp>
      <p:pic>
        <p:nvPicPr>
          <p:cNvPr id="33" name="Image 3" descr="public\icons\check-white.png">    </p:cNvPr>
          <p:cNvPicPr>
            <a:picLocks noChangeAspect="1"/>
          </p:cNvPicPr>
          <p:nvPr/>
        </p:nvPicPr>
        <p:blipFill>
          <a:blip r:embed="rId4"/>
          <a:stretch>
            <a:fillRect/>
          </a:stretch>
        </p:blipFill>
        <p:spPr>
          <a:xfrm>
            <a:off x="7289800" y="1054100"/>
            <a:ext cx="152400" cy="152400"/>
          </a:xfrm>
          <a:prstGeom prst="rect">
            <a:avLst/>
          </a:prstGeom>
        </p:spPr>
      </p:pic>
      <p:sp>
        <p:nvSpPr>
          <p:cNvPr id="34" name="Text 28"/>
          <p:cNvSpPr/>
          <p:nvPr/>
        </p:nvSpPr>
        <p:spPr>
          <a:xfrm>
            <a:off x="7569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Tagihan keluar sendiri, tinggal dicek</a:t>
            </a:r>
            <a:endParaRPr lang="en-US" sz="1200" dirty="0"/>
          </a:p>
        </p:txBody>
      </p:sp>
      <p:sp>
        <p:nvSpPr>
          <p:cNvPr id="35" name="Shape 29"/>
          <p:cNvSpPr/>
          <p:nvPr/>
        </p:nvSpPr>
        <p:spPr>
          <a:xfrm>
            <a:off x="9398000" y="1003300"/>
            <a:ext cx="254000" cy="254000"/>
          </a:xfrm>
          <a:prstGeom prst="ellipse">
            <a:avLst/>
          </a:prstGeom>
          <a:solidFill>
            <a:srgbClr val="1B7FC4"/>
          </a:solidFill>
          <a:ln/>
        </p:spPr>
      </p:sp>
      <p:pic>
        <p:nvPicPr>
          <p:cNvPr id="36" name="Image 4" descr="public\icons\check-white.png">    </p:cNvPr>
          <p:cNvPicPr>
            <a:picLocks noChangeAspect="1"/>
          </p:cNvPicPr>
          <p:nvPr/>
        </p:nvPicPr>
        <p:blipFill>
          <a:blip r:embed="rId5"/>
          <a:stretch>
            <a:fillRect/>
          </a:stretch>
        </p:blipFill>
        <p:spPr>
          <a:xfrm>
            <a:off x="9448800" y="1054100"/>
            <a:ext cx="152400" cy="152400"/>
          </a:xfrm>
          <a:prstGeom prst="rect">
            <a:avLst/>
          </a:prstGeom>
        </p:spPr>
      </p:pic>
      <p:sp>
        <p:nvSpPr>
          <p:cNvPr id="37" name="Text 30"/>
          <p:cNvSpPr/>
          <p:nvPr/>
        </p:nvSpPr>
        <p:spPr>
          <a:xfrm>
            <a:off x="9728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Tarif bisa diubah kalau berubah</a:t>
            </a:r>
            <a:endParaRPr lang="en-US" sz="1200" dirty="0"/>
          </a:p>
        </p:txBody>
      </p:sp>
      <p:pic>
        <p:nvPicPr>
          <p:cNvPr id="38" name="Image 5" descr="public\shots\screen-gudang.png">    </p:cNvPr>
          <p:cNvPicPr>
            <a:picLocks noChangeAspect="1"/>
          </p:cNvPicPr>
          <p:nvPr/>
        </p:nvPicPr>
        <p:blipFill>
          <a:blip r:embed="rId6"/>
          <a:stretch>
            <a:fillRect/>
          </a:stretch>
        </p:blipFill>
        <p:spPr>
          <a:xfrm>
            <a:off x="5080000" y="1752600"/>
            <a:ext cx="6350000" cy="4057650"/>
          </a:xfrm>
          <a:prstGeom prst="rect">
            <a:avLst/>
          </a:prstGeom>
        </p:spPr>
      </p:pic>
      <p:sp>
        <p:nvSpPr>
          <p:cNvPr id="39" name="Text 31"/>
          <p:cNvSpPr/>
          <p:nvPr/>
        </p:nvSpPr>
        <p:spPr>
          <a:xfrm>
            <a:off x="762000" y="6502400"/>
            <a:ext cx="8255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Contoh hitungan, bukan tagihan nyata</a:t>
            </a:r>
            <a:endParaRPr lang="en-US" sz="800" dirty="0"/>
          </a:p>
        </p:txBody>
      </p:sp>
      <p:sp>
        <p:nvSpPr>
          <p:cNvPr id="40" name="Text 32"/>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06 / 15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4699000" cy="6858000"/>
          </a:xfrm>
          <a:prstGeom prst="rect">
            <a:avLst/>
          </a:prstGeom>
          <a:solidFill>
            <a:srgbClr val="EDF2F6"/>
          </a:solidFill>
          <a:ln/>
        </p:spPr>
      </p:sp>
      <p:sp>
        <p:nvSpPr>
          <p:cNvPr id="3" name="Shape 1"/>
          <p:cNvSpPr/>
          <p:nvPr/>
        </p:nvSpPr>
        <p:spPr>
          <a:xfrm>
            <a:off x="762000" y="533400"/>
            <a:ext cx="1473200" cy="254000"/>
          </a:xfrm>
          <a:prstGeom prst="roundRect">
            <a:avLst>
              <a:gd name="adj" fmla="val 50000"/>
            </a:avLst>
          </a:prstGeom>
          <a:solidFill>
            <a:srgbClr val="FFFFFF"/>
          </a:solidFill>
          <a:ln w="10160">
            <a:solidFill>
              <a:srgbClr val="D5DEE4"/>
            </a:solidFill>
            <a:prstDash val="solid"/>
          </a:ln>
        </p:spPr>
      </p:sp>
      <p:sp>
        <p:nvSpPr>
          <p:cNvPr id="4" name="Shape 2"/>
          <p:cNvSpPr/>
          <p:nvPr/>
        </p:nvSpPr>
        <p:spPr>
          <a:xfrm>
            <a:off x="863600" y="622300"/>
            <a:ext cx="76200" cy="76200"/>
          </a:xfrm>
          <a:prstGeom prst="ellipse">
            <a:avLst/>
          </a:prstGeom>
          <a:solidFill>
            <a:srgbClr val="C98A1B"/>
          </a:solidFill>
          <a:ln/>
        </p:spPr>
      </p:sp>
      <p:sp>
        <p:nvSpPr>
          <p:cNvPr id="5" name="Text 3"/>
          <p:cNvSpPr/>
          <p:nvPr/>
        </p:nvSpPr>
        <p:spPr>
          <a:xfrm>
            <a:off x="990600" y="533400"/>
            <a:ext cx="1206500" cy="254000"/>
          </a:xfrm>
          <a:prstGeom prst="rect">
            <a:avLst/>
          </a:prstGeom>
          <a:noFill/>
          <a:ln/>
        </p:spPr>
        <p:txBody>
          <a:bodyPr wrap="square" lIns="0" tIns="0" rIns="0" bIns="0" rtlCol="0" anchor="ctr"/>
          <a:lstStyle/>
          <a:p>
            <a:pPr algn="l" indent="0" marL="0">
              <a:lnSpc>
                <a:spcPts val="750"/>
              </a:lnSpc>
              <a:buNone/>
            </a:pPr>
            <a:r>
              <a:rPr lang="en-US" sz="750" b="1" dirty="0">
                <a:solidFill>
                  <a:srgbClr val="C98A1B"/>
                </a:solidFill>
                <a:latin typeface="Google Sans" pitchFamily="34" charset="0"/>
                <a:ea typeface="Google Sans" pitchFamily="34" charset="-122"/>
                <a:cs typeface="Google Sans" pitchFamily="34" charset="-120"/>
              </a:rPr>
              <a:t>MASALAH 5 DARI 6</a:t>
            </a:r>
            <a:endParaRPr lang="en-US" sz="750" dirty="0"/>
          </a:p>
        </p:txBody>
      </p:sp>
      <p:sp>
        <p:nvSpPr>
          <p:cNvPr id="6" name="Text 4"/>
          <p:cNvSpPr/>
          <p:nvPr/>
        </p:nvSpPr>
        <p:spPr>
          <a:xfrm>
            <a:off x="2336800" y="533400"/>
            <a:ext cx="2159000" cy="2540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Medium" pitchFamily="34" charset="0"/>
                <a:ea typeface="Google Sans Medium" pitchFamily="34" charset="-122"/>
                <a:cs typeface="Google Sans Medium" pitchFamily="34" charset="-120"/>
              </a:rPr>
              <a:t>Jadwal</a:t>
            </a:r>
            <a:endParaRPr lang="en-US" sz="900" dirty="0"/>
          </a:p>
        </p:txBody>
      </p:sp>
      <p:sp>
        <p:nvSpPr>
          <p:cNvPr id="7" name="Text 5"/>
          <p:cNvSpPr/>
          <p:nvPr/>
        </p:nvSpPr>
        <p:spPr>
          <a:xfrm>
            <a:off x="762000" y="914400"/>
            <a:ext cx="3746500" cy="1270000"/>
          </a:xfrm>
          <a:prstGeom prst="rect">
            <a:avLst/>
          </a:prstGeom>
          <a:noFill/>
          <a:ln/>
        </p:spPr>
        <p:txBody>
          <a:bodyPr wrap="square" lIns="0" tIns="0" rIns="0" bIns="0" rtlCol="0" anchor="t"/>
          <a:lstStyle/>
          <a:p>
            <a:pPr algn="l" indent="0" marL="0">
              <a:lnSpc>
                <a:spcPts val="2810"/>
              </a:lnSpc>
              <a:buNone/>
            </a:pPr>
            <a:r>
              <a:rPr lang="en-US" sz="2600" b="1" dirty="0">
                <a:solidFill>
                  <a:srgbClr val="00171F"/>
                </a:solidFill>
                <a:latin typeface="Google Sans" pitchFamily="34" charset="0"/>
                <a:ea typeface="Google Sans" pitchFamily="34" charset="-122"/>
                <a:cs typeface="Google Sans" pitchFamily="34" charset="-120"/>
              </a:rPr>
              <a:t>Dua mitra bergantian pakai mesin, jadwal bisa saling tabrak</a:t>
            </a:r>
            <a:endParaRPr lang="en-US" sz="2600" dirty="0"/>
          </a:p>
        </p:txBody>
      </p:sp>
      <p:sp>
        <p:nvSpPr>
          <p:cNvPr id="8" name="Text 6"/>
          <p:cNvSpPr/>
          <p:nvPr/>
        </p:nvSpPr>
        <p:spPr>
          <a:xfrm>
            <a:off x="762000" y="2235200"/>
            <a:ext cx="3746500" cy="698500"/>
          </a:xfrm>
          <a:prstGeom prst="rect">
            <a:avLst/>
          </a:prstGeom>
          <a:noFill/>
          <a:ln/>
        </p:spPr>
        <p:txBody>
          <a:bodyPr wrap="square" lIns="0" tIns="0" rIns="0" bIns="0" rtlCol="0" anchor="t"/>
          <a:lstStyle/>
          <a:p>
            <a:pPr algn="l" indent="0" marL="0">
              <a:lnSpc>
                <a:spcPts val="1560"/>
              </a:lnSpc>
              <a:buNone/>
            </a:pPr>
            <a:r>
              <a:rPr lang="en-US" sz="1100" dirty="0">
                <a:solidFill>
                  <a:srgbClr val="4B5E69"/>
                </a:solidFill>
                <a:latin typeface="Google Sans" pitchFamily="34" charset="0"/>
                <a:ea typeface="Google Sans" pitchFamily="34" charset="-122"/>
                <a:cs typeface="Google Sans" pitchFamily="34" charset="-120"/>
              </a:rPr>
              <a:t>CV DUS pakai mesin Senin, Rabu, Jumat. PT SNS Selasa, Kamis, Sabtu. Pesanan ABF jam 10.00 hari Senin menabrak jadwal CV DUS.</a:t>
            </a:r>
            <a:endParaRPr lang="en-US" sz="1100" dirty="0"/>
          </a:p>
        </p:txBody>
      </p:sp>
      <p:sp>
        <p:nvSpPr>
          <p:cNvPr id="9" name="Text 7"/>
          <p:cNvSpPr/>
          <p:nvPr/>
        </p:nvSpPr>
        <p:spPr>
          <a:xfrm>
            <a:off x="762000" y="3175000"/>
            <a:ext cx="952500" cy="355600"/>
          </a:xfrm>
          <a:prstGeom prst="rect">
            <a:avLst/>
          </a:prstGeom>
          <a:noFill/>
          <a:ln/>
        </p:spPr>
        <p:txBody>
          <a:bodyPr wrap="square" lIns="0" tIns="0" rIns="0" bIns="0" rtlCol="0" anchor="ctr"/>
          <a:lstStyle/>
          <a:p>
            <a:pPr algn="l" indent="0" marL="0">
              <a:lnSpc>
                <a:spcPts val="1200"/>
              </a:lnSpc>
              <a:buNone/>
            </a:pPr>
            <a:r>
              <a:rPr lang="en-US" sz="1200" dirty="0">
                <a:solidFill>
                  <a:srgbClr val="00171F"/>
                </a:solidFill>
                <a:latin typeface="Google Sans SemiBold" pitchFamily="34" charset="0"/>
                <a:ea typeface="Google Sans SemiBold" pitchFamily="34" charset="-122"/>
                <a:cs typeface="Google Sans SemiBold" pitchFamily="34" charset="-120"/>
              </a:rPr>
              <a:t>Senin</a:t>
            </a:r>
            <a:endParaRPr lang="en-US" sz="1200" dirty="0"/>
          </a:p>
        </p:txBody>
      </p:sp>
      <p:sp>
        <p:nvSpPr>
          <p:cNvPr id="10" name="Shape 8"/>
          <p:cNvSpPr/>
          <p:nvPr/>
        </p:nvSpPr>
        <p:spPr>
          <a:xfrm>
            <a:off x="1714500" y="3175000"/>
            <a:ext cx="2603500" cy="355600"/>
          </a:xfrm>
          <a:prstGeom prst="roundRect">
            <a:avLst>
              <a:gd name="adj" fmla="val 32143"/>
            </a:avLst>
          </a:prstGeom>
          <a:solidFill>
            <a:srgbClr val="00171F"/>
          </a:solidFill>
          <a:ln/>
        </p:spPr>
      </p:sp>
      <p:sp>
        <p:nvSpPr>
          <p:cNvPr id="11" name="Text 9"/>
          <p:cNvSpPr/>
          <p:nvPr/>
        </p:nvSpPr>
        <p:spPr>
          <a:xfrm>
            <a:off x="1866900" y="3175000"/>
            <a:ext cx="2286000" cy="355600"/>
          </a:xfrm>
          <a:prstGeom prst="rect">
            <a:avLst/>
          </a:prstGeom>
          <a:noFill/>
          <a:ln/>
        </p:spPr>
        <p:txBody>
          <a:bodyPr wrap="square" lIns="0" tIns="0" rIns="0" bIns="0" rtlCol="0" anchor="ctr"/>
          <a:lstStyle/>
          <a:p>
            <a:pPr algn="l" indent="0" marL="0">
              <a:lnSpc>
                <a:spcPts val="1100"/>
              </a:lnSpc>
              <a:buNone/>
            </a:pPr>
            <a:r>
              <a:rPr lang="en-US" sz="1100" dirty="0">
                <a:solidFill>
                  <a:srgbClr val="FFFFFF"/>
                </a:solidFill>
                <a:latin typeface="Google Sans SemiBold" pitchFamily="34" charset="0"/>
                <a:ea typeface="Google Sans SemiBold" pitchFamily="34" charset="-122"/>
                <a:cs typeface="Google Sans SemiBold" pitchFamily="34" charset="-120"/>
              </a:rPr>
              <a:t>CV DUS</a:t>
            </a:r>
            <a:endParaRPr lang="en-US" sz="1100" dirty="0"/>
          </a:p>
        </p:txBody>
      </p:sp>
      <p:sp>
        <p:nvSpPr>
          <p:cNvPr id="12" name="Text 10"/>
          <p:cNvSpPr/>
          <p:nvPr/>
        </p:nvSpPr>
        <p:spPr>
          <a:xfrm>
            <a:off x="762000" y="3644900"/>
            <a:ext cx="952500" cy="355600"/>
          </a:xfrm>
          <a:prstGeom prst="rect">
            <a:avLst/>
          </a:prstGeom>
          <a:noFill/>
          <a:ln/>
        </p:spPr>
        <p:txBody>
          <a:bodyPr wrap="square" lIns="0" tIns="0" rIns="0" bIns="0" rtlCol="0" anchor="ctr"/>
          <a:lstStyle/>
          <a:p>
            <a:pPr algn="l" indent="0" marL="0">
              <a:lnSpc>
                <a:spcPts val="1200"/>
              </a:lnSpc>
              <a:buNone/>
            </a:pPr>
            <a:r>
              <a:rPr lang="en-US" sz="1200" dirty="0">
                <a:solidFill>
                  <a:srgbClr val="00171F"/>
                </a:solidFill>
                <a:latin typeface="Google Sans SemiBold" pitchFamily="34" charset="0"/>
                <a:ea typeface="Google Sans SemiBold" pitchFamily="34" charset="-122"/>
                <a:cs typeface="Google Sans SemiBold" pitchFamily="34" charset="-120"/>
              </a:rPr>
              <a:t>Selasa</a:t>
            </a:r>
            <a:endParaRPr lang="en-US" sz="1200" dirty="0"/>
          </a:p>
        </p:txBody>
      </p:sp>
      <p:sp>
        <p:nvSpPr>
          <p:cNvPr id="13" name="Shape 11"/>
          <p:cNvSpPr/>
          <p:nvPr/>
        </p:nvSpPr>
        <p:spPr>
          <a:xfrm>
            <a:off x="1714500" y="3644900"/>
            <a:ext cx="2603500" cy="355600"/>
          </a:xfrm>
          <a:prstGeom prst="roundRect">
            <a:avLst>
              <a:gd name="adj" fmla="val 32143"/>
            </a:avLst>
          </a:prstGeom>
          <a:solidFill>
            <a:srgbClr val="003459"/>
          </a:solidFill>
          <a:ln/>
        </p:spPr>
      </p:sp>
      <p:sp>
        <p:nvSpPr>
          <p:cNvPr id="14" name="Text 12"/>
          <p:cNvSpPr/>
          <p:nvPr/>
        </p:nvSpPr>
        <p:spPr>
          <a:xfrm>
            <a:off x="1866900" y="3644900"/>
            <a:ext cx="2286000" cy="355600"/>
          </a:xfrm>
          <a:prstGeom prst="rect">
            <a:avLst/>
          </a:prstGeom>
          <a:noFill/>
          <a:ln/>
        </p:spPr>
        <p:txBody>
          <a:bodyPr wrap="square" lIns="0" tIns="0" rIns="0" bIns="0" rtlCol="0" anchor="ctr"/>
          <a:lstStyle/>
          <a:p>
            <a:pPr algn="l" indent="0" marL="0">
              <a:lnSpc>
                <a:spcPts val="1100"/>
              </a:lnSpc>
              <a:buNone/>
            </a:pPr>
            <a:r>
              <a:rPr lang="en-US" sz="1100" dirty="0">
                <a:solidFill>
                  <a:srgbClr val="FFFFFF"/>
                </a:solidFill>
                <a:latin typeface="Google Sans SemiBold" pitchFamily="34" charset="0"/>
                <a:ea typeface="Google Sans SemiBold" pitchFamily="34" charset="-122"/>
                <a:cs typeface="Google Sans SemiBold" pitchFamily="34" charset="-120"/>
              </a:rPr>
              <a:t>PT SNS</a:t>
            </a:r>
            <a:endParaRPr lang="en-US" sz="1100" dirty="0"/>
          </a:p>
        </p:txBody>
      </p:sp>
      <p:sp>
        <p:nvSpPr>
          <p:cNvPr id="15" name="Text 13"/>
          <p:cNvSpPr/>
          <p:nvPr/>
        </p:nvSpPr>
        <p:spPr>
          <a:xfrm>
            <a:off x="762000" y="4114800"/>
            <a:ext cx="952500" cy="355600"/>
          </a:xfrm>
          <a:prstGeom prst="rect">
            <a:avLst/>
          </a:prstGeom>
          <a:noFill/>
          <a:ln/>
        </p:spPr>
        <p:txBody>
          <a:bodyPr wrap="square" lIns="0" tIns="0" rIns="0" bIns="0" rtlCol="0" anchor="ctr"/>
          <a:lstStyle/>
          <a:p>
            <a:pPr algn="l" indent="0" marL="0">
              <a:lnSpc>
                <a:spcPts val="1200"/>
              </a:lnSpc>
              <a:buNone/>
            </a:pPr>
            <a:r>
              <a:rPr lang="en-US" sz="1200" dirty="0">
                <a:solidFill>
                  <a:srgbClr val="00171F"/>
                </a:solidFill>
                <a:latin typeface="Google Sans SemiBold" pitchFamily="34" charset="0"/>
                <a:ea typeface="Google Sans SemiBold" pitchFamily="34" charset="-122"/>
                <a:cs typeface="Google Sans SemiBold" pitchFamily="34" charset="-120"/>
              </a:rPr>
              <a:t>Rabu</a:t>
            </a:r>
            <a:endParaRPr lang="en-US" sz="1200" dirty="0"/>
          </a:p>
        </p:txBody>
      </p:sp>
      <p:sp>
        <p:nvSpPr>
          <p:cNvPr id="16" name="Shape 14"/>
          <p:cNvSpPr/>
          <p:nvPr/>
        </p:nvSpPr>
        <p:spPr>
          <a:xfrm>
            <a:off x="1714500" y="4114800"/>
            <a:ext cx="2603500" cy="355600"/>
          </a:xfrm>
          <a:prstGeom prst="roundRect">
            <a:avLst>
              <a:gd name="adj" fmla="val 32143"/>
            </a:avLst>
          </a:prstGeom>
          <a:solidFill>
            <a:srgbClr val="00171F"/>
          </a:solidFill>
          <a:ln/>
        </p:spPr>
      </p:sp>
      <p:sp>
        <p:nvSpPr>
          <p:cNvPr id="17" name="Text 15"/>
          <p:cNvSpPr/>
          <p:nvPr/>
        </p:nvSpPr>
        <p:spPr>
          <a:xfrm>
            <a:off x="1866900" y="4114800"/>
            <a:ext cx="2286000" cy="355600"/>
          </a:xfrm>
          <a:prstGeom prst="rect">
            <a:avLst/>
          </a:prstGeom>
          <a:noFill/>
          <a:ln/>
        </p:spPr>
        <p:txBody>
          <a:bodyPr wrap="square" lIns="0" tIns="0" rIns="0" bIns="0" rtlCol="0" anchor="ctr"/>
          <a:lstStyle/>
          <a:p>
            <a:pPr algn="l" indent="0" marL="0">
              <a:lnSpc>
                <a:spcPts val="1100"/>
              </a:lnSpc>
              <a:buNone/>
            </a:pPr>
            <a:r>
              <a:rPr lang="en-US" sz="1100" dirty="0">
                <a:solidFill>
                  <a:srgbClr val="FFFFFF"/>
                </a:solidFill>
                <a:latin typeface="Google Sans SemiBold" pitchFamily="34" charset="0"/>
                <a:ea typeface="Google Sans SemiBold" pitchFamily="34" charset="-122"/>
                <a:cs typeface="Google Sans SemiBold" pitchFamily="34" charset="-120"/>
              </a:rPr>
              <a:t>CV DUS</a:t>
            </a:r>
            <a:endParaRPr lang="en-US" sz="1100" dirty="0"/>
          </a:p>
        </p:txBody>
      </p:sp>
      <p:sp>
        <p:nvSpPr>
          <p:cNvPr id="18" name="Text 16"/>
          <p:cNvSpPr/>
          <p:nvPr/>
        </p:nvSpPr>
        <p:spPr>
          <a:xfrm>
            <a:off x="762000" y="4584700"/>
            <a:ext cx="952500" cy="355600"/>
          </a:xfrm>
          <a:prstGeom prst="rect">
            <a:avLst/>
          </a:prstGeom>
          <a:noFill/>
          <a:ln/>
        </p:spPr>
        <p:txBody>
          <a:bodyPr wrap="square" lIns="0" tIns="0" rIns="0" bIns="0" rtlCol="0" anchor="ctr"/>
          <a:lstStyle/>
          <a:p>
            <a:pPr algn="l" indent="0" marL="0">
              <a:lnSpc>
                <a:spcPts val="1200"/>
              </a:lnSpc>
              <a:buNone/>
            </a:pPr>
            <a:r>
              <a:rPr lang="en-US" sz="1200" dirty="0">
                <a:solidFill>
                  <a:srgbClr val="00171F"/>
                </a:solidFill>
                <a:latin typeface="Google Sans SemiBold" pitchFamily="34" charset="0"/>
                <a:ea typeface="Google Sans SemiBold" pitchFamily="34" charset="-122"/>
                <a:cs typeface="Google Sans SemiBold" pitchFamily="34" charset="-120"/>
              </a:rPr>
              <a:t>Kamis</a:t>
            </a:r>
            <a:endParaRPr lang="en-US" sz="1200" dirty="0"/>
          </a:p>
        </p:txBody>
      </p:sp>
      <p:sp>
        <p:nvSpPr>
          <p:cNvPr id="19" name="Shape 17"/>
          <p:cNvSpPr/>
          <p:nvPr/>
        </p:nvSpPr>
        <p:spPr>
          <a:xfrm>
            <a:off x="1714500" y="4584700"/>
            <a:ext cx="2603500" cy="355600"/>
          </a:xfrm>
          <a:prstGeom prst="roundRect">
            <a:avLst>
              <a:gd name="adj" fmla="val 32143"/>
            </a:avLst>
          </a:prstGeom>
          <a:solidFill>
            <a:srgbClr val="003459"/>
          </a:solidFill>
          <a:ln/>
        </p:spPr>
      </p:sp>
      <p:sp>
        <p:nvSpPr>
          <p:cNvPr id="20" name="Text 18"/>
          <p:cNvSpPr/>
          <p:nvPr/>
        </p:nvSpPr>
        <p:spPr>
          <a:xfrm>
            <a:off x="1866900" y="4584700"/>
            <a:ext cx="2286000" cy="355600"/>
          </a:xfrm>
          <a:prstGeom prst="rect">
            <a:avLst/>
          </a:prstGeom>
          <a:noFill/>
          <a:ln/>
        </p:spPr>
        <p:txBody>
          <a:bodyPr wrap="square" lIns="0" tIns="0" rIns="0" bIns="0" rtlCol="0" anchor="ctr"/>
          <a:lstStyle/>
          <a:p>
            <a:pPr algn="l" indent="0" marL="0">
              <a:lnSpc>
                <a:spcPts val="1100"/>
              </a:lnSpc>
              <a:buNone/>
            </a:pPr>
            <a:r>
              <a:rPr lang="en-US" sz="1100" dirty="0">
                <a:solidFill>
                  <a:srgbClr val="FFFFFF"/>
                </a:solidFill>
                <a:latin typeface="Google Sans SemiBold" pitchFamily="34" charset="0"/>
                <a:ea typeface="Google Sans SemiBold" pitchFamily="34" charset="-122"/>
                <a:cs typeface="Google Sans SemiBold" pitchFamily="34" charset="-120"/>
              </a:rPr>
              <a:t>PT SNS</a:t>
            </a:r>
            <a:endParaRPr lang="en-US" sz="1100" dirty="0"/>
          </a:p>
        </p:txBody>
      </p:sp>
      <p:sp>
        <p:nvSpPr>
          <p:cNvPr id="21" name="Text 19"/>
          <p:cNvSpPr/>
          <p:nvPr/>
        </p:nvSpPr>
        <p:spPr>
          <a:xfrm>
            <a:off x="762000" y="5054600"/>
            <a:ext cx="952500" cy="355600"/>
          </a:xfrm>
          <a:prstGeom prst="rect">
            <a:avLst/>
          </a:prstGeom>
          <a:noFill/>
          <a:ln/>
        </p:spPr>
        <p:txBody>
          <a:bodyPr wrap="square" lIns="0" tIns="0" rIns="0" bIns="0" rtlCol="0" anchor="ctr"/>
          <a:lstStyle/>
          <a:p>
            <a:pPr algn="l" indent="0" marL="0">
              <a:lnSpc>
                <a:spcPts val="1200"/>
              </a:lnSpc>
              <a:buNone/>
            </a:pPr>
            <a:r>
              <a:rPr lang="en-US" sz="1200" dirty="0">
                <a:solidFill>
                  <a:srgbClr val="00171F"/>
                </a:solidFill>
                <a:latin typeface="Google Sans SemiBold" pitchFamily="34" charset="0"/>
                <a:ea typeface="Google Sans SemiBold" pitchFamily="34" charset="-122"/>
                <a:cs typeface="Google Sans SemiBold" pitchFamily="34" charset="-120"/>
              </a:rPr>
              <a:t>Jumat</a:t>
            </a:r>
            <a:endParaRPr lang="en-US" sz="1200" dirty="0"/>
          </a:p>
        </p:txBody>
      </p:sp>
      <p:sp>
        <p:nvSpPr>
          <p:cNvPr id="22" name="Shape 20"/>
          <p:cNvSpPr/>
          <p:nvPr/>
        </p:nvSpPr>
        <p:spPr>
          <a:xfrm>
            <a:off x="1714500" y="5054600"/>
            <a:ext cx="2603500" cy="355600"/>
          </a:xfrm>
          <a:prstGeom prst="roundRect">
            <a:avLst>
              <a:gd name="adj" fmla="val 32143"/>
            </a:avLst>
          </a:prstGeom>
          <a:solidFill>
            <a:srgbClr val="00171F"/>
          </a:solidFill>
          <a:ln/>
        </p:spPr>
      </p:sp>
      <p:sp>
        <p:nvSpPr>
          <p:cNvPr id="23" name="Text 21"/>
          <p:cNvSpPr/>
          <p:nvPr/>
        </p:nvSpPr>
        <p:spPr>
          <a:xfrm>
            <a:off x="1866900" y="5054600"/>
            <a:ext cx="2286000" cy="355600"/>
          </a:xfrm>
          <a:prstGeom prst="rect">
            <a:avLst/>
          </a:prstGeom>
          <a:noFill/>
          <a:ln/>
        </p:spPr>
        <p:txBody>
          <a:bodyPr wrap="square" lIns="0" tIns="0" rIns="0" bIns="0" rtlCol="0" anchor="ctr"/>
          <a:lstStyle/>
          <a:p>
            <a:pPr algn="l" indent="0" marL="0">
              <a:lnSpc>
                <a:spcPts val="1100"/>
              </a:lnSpc>
              <a:buNone/>
            </a:pPr>
            <a:r>
              <a:rPr lang="en-US" sz="1100" dirty="0">
                <a:solidFill>
                  <a:srgbClr val="FFFFFF"/>
                </a:solidFill>
                <a:latin typeface="Google Sans SemiBold" pitchFamily="34" charset="0"/>
                <a:ea typeface="Google Sans SemiBold" pitchFamily="34" charset="-122"/>
                <a:cs typeface="Google Sans SemiBold" pitchFamily="34" charset="-120"/>
              </a:rPr>
              <a:t>CV DUS</a:t>
            </a:r>
            <a:endParaRPr lang="en-US" sz="1100" dirty="0"/>
          </a:p>
        </p:txBody>
      </p:sp>
      <p:sp>
        <p:nvSpPr>
          <p:cNvPr id="24" name="Text 22"/>
          <p:cNvSpPr/>
          <p:nvPr/>
        </p:nvSpPr>
        <p:spPr>
          <a:xfrm>
            <a:off x="762000" y="5524500"/>
            <a:ext cx="952500" cy="355600"/>
          </a:xfrm>
          <a:prstGeom prst="rect">
            <a:avLst/>
          </a:prstGeom>
          <a:noFill/>
          <a:ln/>
        </p:spPr>
        <p:txBody>
          <a:bodyPr wrap="square" lIns="0" tIns="0" rIns="0" bIns="0" rtlCol="0" anchor="ctr"/>
          <a:lstStyle/>
          <a:p>
            <a:pPr algn="l" indent="0" marL="0">
              <a:lnSpc>
                <a:spcPts val="1200"/>
              </a:lnSpc>
              <a:buNone/>
            </a:pPr>
            <a:r>
              <a:rPr lang="en-US" sz="1200" dirty="0">
                <a:solidFill>
                  <a:srgbClr val="00171F"/>
                </a:solidFill>
                <a:latin typeface="Google Sans SemiBold" pitchFamily="34" charset="0"/>
                <a:ea typeface="Google Sans SemiBold" pitchFamily="34" charset="-122"/>
                <a:cs typeface="Google Sans SemiBold" pitchFamily="34" charset="-120"/>
              </a:rPr>
              <a:t>Sabtu</a:t>
            </a:r>
            <a:endParaRPr lang="en-US" sz="1200" dirty="0"/>
          </a:p>
        </p:txBody>
      </p:sp>
      <p:sp>
        <p:nvSpPr>
          <p:cNvPr id="25" name="Shape 23"/>
          <p:cNvSpPr/>
          <p:nvPr/>
        </p:nvSpPr>
        <p:spPr>
          <a:xfrm>
            <a:off x="1714500" y="5524500"/>
            <a:ext cx="2603500" cy="355600"/>
          </a:xfrm>
          <a:prstGeom prst="roundRect">
            <a:avLst>
              <a:gd name="adj" fmla="val 32143"/>
            </a:avLst>
          </a:prstGeom>
          <a:solidFill>
            <a:srgbClr val="003459"/>
          </a:solidFill>
          <a:ln/>
        </p:spPr>
      </p:sp>
      <p:sp>
        <p:nvSpPr>
          <p:cNvPr id="26" name="Text 24"/>
          <p:cNvSpPr/>
          <p:nvPr/>
        </p:nvSpPr>
        <p:spPr>
          <a:xfrm>
            <a:off x="1866900" y="5524500"/>
            <a:ext cx="2286000" cy="355600"/>
          </a:xfrm>
          <a:prstGeom prst="rect">
            <a:avLst/>
          </a:prstGeom>
          <a:noFill/>
          <a:ln/>
        </p:spPr>
        <p:txBody>
          <a:bodyPr wrap="square" lIns="0" tIns="0" rIns="0" bIns="0" rtlCol="0" anchor="ctr"/>
          <a:lstStyle/>
          <a:p>
            <a:pPr algn="l" indent="0" marL="0">
              <a:lnSpc>
                <a:spcPts val="1100"/>
              </a:lnSpc>
              <a:buNone/>
            </a:pPr>
            <a:r>
              <a:rPr lang="en-US" sz="1100" dirty="0">
                <a:solidFill>
                  <a:srgbClr val="FFFFFF"/>
                </a:solidFill>
                <a:latin typeface="Google Sans SemiBold" pitchFamily="34" charset="0"/>
                <a:ea typeface="Google Sans SemiBold" pitchFamily="34" charset="-122"/>
                <a:cs typeface="Google Sans SemiBold" pitchFamily="34" charset="-120"/>
              </a:rPr>
              <a:t>PT SNS</a:t>
            </a:r>
            <a:endParaRPr lang="en-US" sz="1100" dirty="0"/>
          </a:p>
        </p:txBody>
      </p:sp>
      <p:sp>
        <p:nvSpPr>
          <p:cNvPr id="27" name="Shape 25"/>
          <p:cNvSpPr/>
          <p:nvPr/>
        </p:nvSpPr>
        <p:spPr>
          <a:xfrm>
            <a:off x="3124200" y="3175000"/>
            <a:ext cx="1193800" cy="355600"/>
          </a:xfrm>
          <a:prstGeom prst="roundRect">
            <a:avLst>
              <a:gd name="adj" fmla="val 32143"/>
            </a:avLst>
          </a:prstGeom>
          <a:solidFill>
            <a:srgbClr val="B4443C"/>
          </a:solidFill>
          <a:ln w="25400">
            <a:solidFill>
              <a:srgbClr val="FFFFFF"/>
            </a:solidFill>
            <a:prstDash val="solid"/>
          </a:ln>
        </p:spPr>
      </p:sp>
      <p:pic>
        <p:nvPicPr>
          <p:cNvPr id="28" name="Image 0" descr="public\icons\triangle-alert-white.png">    </p:cNvPr>
          <p:cNvPicPr>
            <a:picLocks noChangeAspect="1"/>
          </p:cNvPicPr>
          <p:nvPr/>
        </p:nvPicPr>
        <p:blipFill>
          <a:blip r:embed="rId1"/>
          <a:stretch>
            <a:fillRect/>
          </a:stretch>
        </p:blipFill>
        <p:spPr>
          <a:xfrm>
            <a:off x="3225800" y="3251200"/>
            <a:ext cx="203200" cy="203200"/>
          </a:xfrm>
          <a:prstGeom prst="rect">
            <a:avLst/>
          </a:prstGeom>
        </p:spPr>
      </p:pic>
      <p:sp>
        <p:nvSpPr>
          <p:cNvPr id="29" name="Text 26"/>
          <p:cNvSpPr/>
          <p:nvPr/>
        </p:nvSpPr>
        <p:spPr>
          <a:xfrm>
            <a:off x="3479800" y="3175000"/>
            <a:ext cx="825500" cy="355600"/>
          </a:xfrm>
          <a:prstGeom prst="rect">
            <a:avLst/>
          </a:prstGeom>
          <a:noFill/>
          <a:ln/>
        </p:spPr>
        <p:txBody>
          <a:bodyPr wrap="square" lIns="0" tIns="0" rIns="0" bIns="0" rtlCol="0" anchor="ctr"/>
          <a:lstStyle/>
          <a:p>
            <a:pPr algn="l" indent="0" marL="0">
              <a:lnSpc>
                <a:spcPts val="1100"/>
              </a:lnSpc>
              <a:buNone/>
            </a:pPr>
            <a:r>
              <a:rPr lang="en-US" sz="1100" b="1" dirty="0">
                <a:solidFill>
                  <a:srgbClr val="FFFFFF"/>
                </a:solidFill>
                <a:latin typeface="Google Sans" pitchFamily="34" charset="0"/>
                <a:ea typeface="Google Sans" pitchFamily="34" charset="-122"/>
                <a:cs typeface="Google Sans" pitchFamily="34" charset="-120"/>
              </a:rPr>
              <a:t>ABF</a:t>
            </a:r>
            <a:endParaRPr lang="en-US" sz="1100" dirty="0"/>
          </a:p>
        </p:txBody>
      </p:sp>
      <p:sp>
        <p:nvSpPr>
          <p:cNvPr id="30" name="Text 27"/>
          <p:cNvSpPr/>
          <p:nvPr/>
        </p:nvSpPr>
        <p:spPr>
          <a:xfrm>
            <a:off x="762000" y="6032500"/>
            <a:ext cx="3556000" cy="190500"/>
          </a:xfrm>
          <a:prstGeom prst="rect">
            <a:avLst/>
          </a:prstGeom>
          <a:noFill/>
          <a:ln/>
        </p:spPr>
        <p:txBody>
          <a:bodyPr wrap="square" lIns="0" tIns="0" rIns="0" bIns="0" rtlCol="0" anchor="ctr"/>
          <a:lstStyle/>
          <a:p>
            <a:pPr algn="l" indent="0" marL="0">
              <a:lnSpc>
                <a:spcPts val="1000"/>
              </a:lnSpc>
              <a:buNone/>
            </a:pPr>
            <a:r>
              <a:rPr lang="en-US" sz="1000" dirty="0">
                <a:solidFill>
                  <a:srgbClr val="B4443C"/>
                </a:solidFill>
                <a:latin typeface="Google Sans SemiBold" pitchFamily="34" charset="0"/>
                <a:ea typeface="Google Sans SemiBold" pitchFamily="34" charset="-122"/>
                <a:cs typeface="Google Sans SemiBold" pitchFamily="34" charset="-120"/>
              </a:rPr>
              <a:t>Senin: pesanan ABF menabrak produksi</a:t>
            </a:r>
            <a:endParaRPr lang="en-US" sz="1000" dirty="0"/>
          </a:p>
        </p:txBody>
      </p:sp>
      <p:sp>
        <p:nvSpPr>
          <p:cNvPr id="31" name="Shape 28"/>
          <p:cNvSpPr/>
          <p:nvPr/>
        </p:nvSpPr>
        <p:spPr>
          <a:xfrm>
            <a:off x="4546600" y="3175000"/>
            <a:ext cx="304800" cy="304800"/>
          </a:xfrm>
          <a:prstGeom prst="ellipse">
            <a:avLst/>
          </a:prstGeom>
          <a:solidFill>
            <a:srgbClr val="003459"/>
          </a:solidFill>
          <a:ln w="38100">
            <a:solidFill>
              <a:srgbClr val="F6F9FB"/>
            </a:solidFill>
            <a:prstDash val="solid"/>
          </a:ln>
        </p:spPr>
      </p:sp>
      <p:pic>
        <p:nvPicPr>
          <p:cNvPr id="32" name="Image 1" descr="public\icons\arrow-right-white.png">    </p:cNvPr>
          <p:cNvPicPr>
            <a:picLocks noChangeAspect="1"/>
          </p:cNvPicPr>
          <p:nvPr/>
        </p:nvPicPr>
        <p:blipFill>
          <a:blip r:embed="rId2"/>
          <a:stretch>
            <a:fillRect/>
          </a:stretch>
        </p:blipFill>
        <p:spPr>
          <a:xfrm>
            <a:off x="4610100" y="3238500"/>
            <a:ext cx="177800" cy="177800"/>
          </a:xfrm>
          <a:prstGeom prst="rect">
            <a:avLst/>
          </a:prstGeom>
        </p:spPr>
      </p:pic>
      <p:sp>
        <p:nvSpPr>
          <p:cNvPr id="33" name="Text 29"/>
          <p:cNvSpPr/>
          <p:nvPr/>
        </p:nvSpPr>
        <p:spPr>
          <a:xfrm>
            <a:off x="5080000" y="533400"/>
            <a:ext cx="2921000" cy="254000"/>
          </a:xfrm>
          <a:prstGeom prst="rect">
            <a:avLst/>
          </a:prstGeom>
          <a:noFill/>
          <a:ln/>
        </p:spPr>
        <p:txBody>
          <a:bodyPr wrap="square" lIns="0" tIns="0" rIns="0" bIns="0" rtlCol="0" anchor="ctr"/>
          <a:lstStyle/>
          <a:p>
            <a:pPr algn="l" indent="0" marL="0">
              <a:lnSpc>
                <a:spcPts val="750"/>
              </a:lnSpc>
              <a:buNone/>
            </a:pPr>
            <a:r>
              <a:rPr lang="en-US" sz="750" b="1" dirty="0">
                <a:solidFill>
                  <a:srgbClr val="003459"/>
                </a:solidFill>
                <a:latin typeface="Google Sans" pitchFamily="34" charset="0"/>
                <a:ea typeface="Google Sans" pitchFamily="34" charset="-122"/>
                <a:cs typeface="Google Sans" pitchFamily="34" charset="-120"/>
              </a:rPr>
              <a:t>JAWABANNYA DI KATALIS ERP</a:t>
            </a:r>
            <a:endParaRPr lang="en-US" sz="750" dirty="0"/>
          </a:p>
        </p:txBody>
      </p:sp>
      <p:sp>
        <p:nvSpPr>
          <p:cNvPr id="34" name="Shape 30"/>
          <p:cNvSpPr/>
          <p:nvPr/>
        </p:nvSpPr>
        <p:spPr>
          <a:xfrm>
            <a:off x="8013700" y="533400"/>
            <a:ext cx="1714500" cy="254000"/>
          </a:xfrm>
          <a:prstGeom prst="roundRect">
            <a:avLst>
              <a:gd name="adj" fmla="val 50000"/>
            </a:avLst>
          </a:prstGeom>
          <a:solidFill>
            <a:srgbClr val="E3EDF5"/>
          </a:solidFill>
          <a:ln/>
        </p:spPr>
      </p:sp>
      <p:pic>
        <p:nvPicPr>
          <p:cNvPr id="35" name="Image 2" descr="public\icons\calendar-clock-green.png">    </p:cNvPr>
          <p:cNvPicPr>
            <a:picLocks noChangeAspect="1"/>
          </p:cNvPicPr>
          <p:nvPr/>
        </p:nvPicPr>
        <p:blipFill>
          <a:blip r:embed="rId3"/>
          <a:stretch>
            <a:fillRect/>
          </a:stretch>
        </p:blipFill>
        <p:spPr>
          <a:xfrm>
            <a:off x="8102600" y="584200"/>
            <a:ext cx="152400" cy="152400"/>
          </a:xfrm>
          <a:prstGeom prst="rect">
            <a:avLst/>
          </a:prstGeom>
        </p:spPr>
      </p:pic>
      <p:sp>
        <p:nvSpPr>
          <p:cNvPr id="36" name="Text 31"/>
          <p:cNvSpPr/>
          <p:nvPr/>
        </p:nvSpPr>
        <p:spPr>
          <a:xfrm>
            <a:off x="8305800" y="533400"/>
            <a:ext cx="1397000" cy="254000"/>
          </a:xfrm>
          <a:prstGeom prst="rect">
            <a:avLst/>
          </a:prstGeom>
          <a:noFill/>
          <a:ln/>
        </p:spPr>
        <p:txBody>
          <a:bodyPr wrap="square" lIns="0" tIns="0" rIns="0" bIns="0" rtlCol="0" anchor="ctr"/>
          <a:lstStyle/>
          <a:p>
            <a:pPr algn="l" indent="0" marL="0">
              <a:lnSpc>
                <a:spcPts val="900"/>
              </a:lnSpc>
              <a:buNone/>
            </a:pPr>
            <a:r>
              <a:rPr lang="en-US" sz="900" dirty="0">
                <a:solidFill>
                  <a:srgbClr val="003459"/>
                </a:solidFill>
                <a:latin typeface="Google Sans SemiBold" pitchFamily="34" charset="0"/>
                <a:ea typeface="Google Sans SemiBold" pitchFamily="34" charset="-122"/>
                <a:cs typeface="Google Sans SemiBold" pitchFamily="34" charset="-120"/>
              </a:rPr>
              <a:t>Jadwal</a:t>
            </a:r>
            <a:endParaRPr lang="en-US" sz="900" dirty="0"/>
          </a:p>
        </p:txBody>
      </p:sp>
      <p:sp>
        <p:nvSpPr>
          <p:cNvPr id="37" name="Shape 32"/>
          <p:cNvSpPr/>
          <p:nvPr/>
        </p:nvSpPr>
        <p:spPr>
          <a:xfrm>
            <a:off x="5080000" y="1003300"/>
            <a:ext cx="254000" cy="254000"/>
          </a:xfrm>
          <a:prstGeom prst="ellipse">
            <a:avLst/>
          </a:prstGeom>
          <a:solidFill>
            <a:srgbClr val="1B7FC4"/>
          </a:solidFill>
          <a:ln/>
        </p:spPr>
      </p:sp>
      <p:pic>
        <p:nvPicPr>
          <p:cNvPr id="38" name="Image 3" descr="public\icons\check-white.png">    </p:cNvPr>
          <p:cNvPicPr>
            <a:picLocks noChangeAspect="1"/>
          </p:cNvPicPr>
          <p:nvPr/>
        </p:nvPicPr>
        <p:blipFill>
          <a:blip r:embed="rId4"/>
          <a:stretch>
            <a:fillRect/>
          </a:stretch>
        </p:blipFill>
        <p:spPr>
          <a:xfrm>
            <a:off x="5130800" y="1054100"/>
            <a:ext cx="152400" cy="152400"/>
          </a:xfrm>
          <a:prstGeom prst="rect">
            <a:avLst/>
          </a:prstGeom>
        </p:spPr>
      </p:pic>
      <p:sp>
        <p:nvSpPr>
          <p:cNvPr id="39" name="Text 33"/>
          <p:cNvSpPr/>
          <p:nvPr/>
        </p:nvSpPr>
        <p:spPr>
          <a:xfrm>
            <a:off x="5410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Jadwal semua mitra dalam satu kalender</a:t>
            </a:r>
            <a:endParaRPr lang="en-US" sz="1200" dirty="0"/>
          </a:p>
        </p:txBody>
      </p:sp>
      <p:sp>
        <p:nvSpPr>
          <p:cNvPr id="40" name="Shape 34"/>
          <p:cNvSpPr/>
          <p:nvPr/>
        </p:nvSpPr>
        <p:spPr>
          <a:xfrm>
            <a:off x="7239000" y="1003300"/>
            <a:ext cx="254000" cy="254000"/>
          </a:xfrm>
          <a:prstGeom prst="ellipse">
            <a:avLst/>
          </a:prstGeom>
          <a:solidFill>
            <a:srgbClr val="1B7FC4"/>
          </a:solidFill>
          <a:ln/>
        </p:spPr>
      </p:sp>
      <p:pic>
        <p:nvPicPr>
          <p:cNvPr id="41" name="Image 4" descr="public\icons\check-white.png">    </p:cNvPr>
          <p:cNvPicPr>
            <a:picLocks noChangeAspect="1"/>
          </p:cNvPicPr>
          <p:nvPr/>
        </p:nvPicPr>
        <p:blipFill>
          <a:blip r:embed="rId5"/>
          <a:stretch>
            <a:fillRect/>
          </a:stretch>
        </p:blipFill>
        <p:spPr>
          <a:xfrm>
            <a:off x="7289800" y="1054100"/>
            <a:ext cx="152400" cy="152400"/>
          </a:xfrm>
          <a:prstGeom prst="rect">
            <a:avLst/>
          </a:prstGeom>
        </p:spPr>
      </p:pic>
      <p:sp>
        <p:nvSpPr>
          <p:cNvPr id="42" name="Text 35"/>
          <p:cNvSpPr/>
          <p:nvPr/>
        </p:nvSpPr>
        <p:spPr>
          <a:xfrm>
            <a:off x="7569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Bentrok ketahuan sebelum hari H</a:t>
            </a:r>
            <a:endParaRPr lang="en-US" sz="1200" dirty="0"/>
          </a:p>
        </p:txBody>
      </p:sp>
      <p:sp>
        <p:nvSpPr>
          <p:cNvPr id="43" name="Shape 36"/>
          <p:cNvSpPr/>
          <p:nvPr/>
        </p:nvSpPr>
        <p:spPr>
          <a:xfrm>
            <a:off x="9398000" y="1003300"/>
            <a:ext cx="254000" cy="254000"/>
          </a:xfrm>
          <a:prstGeom prst="ellipse">
            <a:avLst/>
          </a:prstGeom>
          <a:solidFill>
            <a:srgbClr val="1B7FC4"/>
          </a:solidFill>
          <a:ln/>
        </p:spPr>
      </p:sp>
      <p:pic>
        <p:nvPicPr>
          <p:cNvPr id="44" name="Image 5" descr="public\icons\check-white.png">    </p:cNvPr>
          <p:cNvPicPr>
            <a:picLocks noChangeAspect="1"/>
          </p:cNvPicPr>
          <p:nvPr/>
        </p:nvPicPr>
        <p:blipFill>
          <a:blip r:embed="rId6"/>
          <a:stretch>
            <a:fillRect/>
          </a:stretch>
        </p:blipFill>
        <p:spPr>
          <a:xfrm>
            <a:off x="9448800" y="1054100"/>
            <a:ext cx="152400" cy="152400"/>
          </a:xfrm>
          <a:prstGeom prst="rect">
            <a:avLst/>
          </a:prstGeom>
        </p:spPr>
      </p:pic>
      <p:sp>
        <p:nvSpPr>
          <p:cNvPr id="45" name="Text 37"/>
          <p:cNvSpPr/>
          <p:nvPr/>
        </p:nvSpPr>
        <p:spPr>
          <a:xfrm>
            <a:off x="9728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Pesanan ABF bisa dipindah ke jam kosong</a:t>
            </a:r>
            <a:endParaRPr lang="en-US" sz="1200" dirty="0"/>
          </a:p>
        </p:txBody>
      </p:sp>
      <p:pic>
        <p:nvPicPr>
          <p:cNvPr id="46" name="Image 6" descr="public\shots\screen-jadwal.png">    </p:cNvPr>
          <p:cNvPicPr>
            <a:picLocks noChangeAspect="1"/>
          </p:cNvPicPr>
          <p:nvPr/>
        </p:nvPicPr>
        <p:blipFill>
          <a:blip r:embed="rId7"/>
          <a:stretch>
            <a:fillRect/>
          </a:stretch>
        </p:blipFill>
        <p:spPr>
          <a:xfrm>
            <a:off x="5080000" y="1752600"/>
            <a:ext cx="6350000" cy="4057650"/>
          </a:xfrm>
          <a:prstGeom prst="rect">
            <a:avLst/>
          </a:prstGeom>
        </p:spPr>
      </p:pic>
      <p:sp>
        <p:nvSpPr>
          <p:cNvPr id="47" name="Text 38"/>
          <p:cNvSpPr/>
          <p:nvPr/>
        </p:nvSpPr>
        <p:spPr>
          <a:xfrm>
            <a:off x="762000" y="6502400"/>
            <a:ext cx="8255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Angka kapasitas adalah perkiraan</a:t>
            </a:r>
            <a:endParaRPr lang="en-US" sz="800" dirty="0"/>
          </a:p>
        </p:txBody>
      </p:sp>
      <p:sp>
        <p:nvSpPr>
          <p:cNvPr id="48" name="Text 39"/>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07 / 15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4699000" cy="6858000"/>
          </a:xfrm>
          <a:prstGeom prst="rect">
            <a:avLst/>
          </a:prstGeom>
          <a:solidFill>
            <a:srgbClr val="EDF2F6"/>
          </a:solidFill>
          <a:ln/>
        </p:spPr>
      </p:sp>
      <p:sp>
        <p:nvSpPr>
          <p:cNvPr id="3" name="Shape 1"/>
          <p:cNvSpPr/>
          <p:nvPr/>
        </p:nvSpPr>
        <p:spPr>
          <a:xfrm>
            <a:off x="762000" y="533400"/>
            <a:ext cx="1473200" cy="254000"/>
          </a:xfrm>
          <a:prstGeom prst="roundRect">
            <a:avLst>
              <a:gd name="adj" fmla="val 50000"/>
            </a:avLst>
          </a:prstGeom>
          <a:solidFill>
            <a:srgbClr val="FFFFFF"/>
          </a:solidFill>
          <a:ln w="10160">
            <a:solidFill>
              <a:srgbClr val="D5DEE4"/>
            </a:solidFill>
            <a:prstDash val="solid"/>
          </a:ln>
        </p:spPr>
      </p:sp>
      <p:sp>
        <p:nvSpPr>
          <p:cNvPr id="4" name="Shape 2"/>
          <p:cNvSpPr/>
          <p:nvPr/>
        </p:nvSpPr>
        <p:spPr>
          <a:xfrm>
            <a:off x="863600" y="622300"/>
            <a:ext cx="76200" cy="76200"/>
          </a:xfrm>
          <a:prstGeom prst="ellipse">
            <a:avLst/>
          </a:prstGeom>
          <a:solidFill>
            <a:srgbClr val="C98A1B"/>
          </a:solidFill>
          <a:ln/>
        </p:spPr>
      </p:sp>
      <p:sp>
        <p:nvSpPr>
          <p:cNvPr id="5" name="Text 3"/>
          <p:cNvSpPr/>
          <p:nvPr/>
        </p:nvSpPr>
        <p:spPr>
          <a:xfrm>
            <a:off x="990600" y="533400"/>
            <a:ext cx="1206500" cy="254000"/>
          </a:xfrm>
          <a:prstGeom prst="rect">
            <a:avLst/>
          </a:prstGeom>
          <a:noFill/>
          <a:ln/>
        </p:spPr>
        <p:txBody>
          <a:bodyPr wrap="square" lIns="0" tIns="0" rIns="0" bIns="0" rtlCol="0" anchor="ctr"/>
          <a:lstStyle/>
          <a:p>
            <a:pPr algn="l" indent="0" marL="0">
              <a:lnSpc>
                <a:spcPts val="750"/>
              </a:lnSpc>
              <a:buNone/>
            </a:pPr>
            <a:r>
              <a:rPr lang="en-US" sz="750" b="1" dirty="0">
                <a:solidFill>
                  <a:srgbClr val="C98A1B"/>
                </a:solidFill>
                <a:latin typeface="Google Sans" pitchFamily="34" charset="0"/>
                <a:ea typeface="Google Sans" pitchFamily="34" charset="-122"/>
                <a:cs typeface="Google Sans" pitchFamily="34" charset="-120"/>
              </a:rPr>
              <a:t>MASALAH 6 DARI 6</a:t>
            </a:r>
            <a:endParaRPr lang="en-US" sz="750" dirty="0"/>
          </a:p>
        </p:txBody>
      </p:sp>
      <p:sp>
        <p:nvSpPr>
          <p:cNvPr id="6" name="Text 4"/>
          <p:cNvSpPr/>
          <p:nvPr/>
        </p:nvSpPr>
        <p:spPr>
          <a:xfrm>
            <a:off x="2336800" y="533400"/>
            <a:ext cx="2159000" cy="2540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Medium" pitchFamily="34" charset="0"/>
                <a:ea typeface="Google Sans Medium" pitchFamily="34" charset="-122"/>
                <a:cs typeface="Google Sans Medium" pitchFamily="34" charset="-120"/>
              </a:rPr>
              <a:t>Keuangan</a:t>
            </a:r>
            <a:endParaRPr lang="en-US" sz="900" dirty="0"/>
          </a:p>
        </p:txBody>
      </p:sp>
      <p:sp>
        <p:nvSpPr>
          <p:cNvPr id="7" name="Text 5"/>
          <p:cNvSpPr/>
          <p:nvPr/>
        </p:nvSpPr>
        <p:spPr>
          <a:xfrm>
            <a:off x="762000" y="914400"/>
            <a:ext cx="3746500" cy="1270000"/>
          </a:xfrm>
          <a:prstGeom prst="rect">
            <a:avLst/>
          </a:prstGeom>
          <a:noFill/>
          <a:ln/>
        </p:spPr>
        <p:txBody>
          <a:bodyPr wrap="square" lIns="0" tIns="0" rIns="0" bIns="0" rtlCol="0" anchor="t"/>
          <a:lstStyle/>
          <a:p>
            <a:pPr algn="l" indent="0" marL="0">
              <a:lnSpc>
                <a:spcPts val="2810"/>
              </a:lnSpc>
              <a:buNone/>
            </a:pPr>
            <a:r>
              <a:rPr lang="en-US" sz="2600" b="1" dirty="0">
                <a:solidFill>
                  <a:srgbClr val="00171F"/>
                </a:solidFill>
                <a:latin typeface="Google Sans" pitchFamily="34" charset="0"/>
                <a:ea typeface="Google Sans" pitchFamily="34" charset="-122"/>
                <a:cs typeface="Google Sans" pitchFamily="34" charset="-120"/>
              </a:rPr>
              <a:t>55 transaksi belum punya bukti transfer</a:t>
            </a:r>
            <a:endParaRPr lang="en-US" sz="2600" dirty="0"/>
          </a:p>
        </p:txBody>
      </p:sp>
      <p:sp>
        <p:nvSpPr>
          <p:cNvPr id="8" name="Text 6"/>
          <p:cNvSpPr/>
          <p:nvPr/>
        </p:nvSpPr>
        <p:spPr>
          <a:xfrm>
            <a:off x="762000" y="2235200"/>
            <a:ext cx="3746500" cy="698500"/>
          </a:xfrm>
          <a:prstGeom prst="rect">
            <a:avLst/>
          </a:prstGeom>
          <a:noFill/>
          <a:ln/>
        </p:spPr>
        <p:txBody>
          <a:bodyPr wrap="square" lIns="0" tIns="0" rIns="0" bIns="0" rtlCol="0" anchor="t"/>
          <a:lstStyle/>
          <a:p>
            <a:pPr algn="l" indent="0" marL="0">
              <a:lnSpc>
                <a:spcPts val="1560"/>
              </a:lnSpc>
              <a:buNone/>
            </a:pPr>
            <a:r>
              <a:rPr lang="en-US" sz="1100" dirty="0">
                <a:solidFill>
                  <a:srgbClr val="4B5E69"/>
                </a:solidFill>
                <a:latin typeface="Google Sans" pitchFamily="34" charset="0"/>
                <a:ea typeface="Google Sans" pitchFamily="34" charset="-122"/>
                <a:cs typeface="Google Sans" pitchFamily="34" charset="-120"/>
              </a:rPr>
              <a:t>Nota sudah lengkap semua. Tapi dari 219 transaksi, baru 164 yang ada bukti transfernya. Tanpa bukti, tutup buku jadi tebak-tebakan.</a:t>
            </a:r>
            <a:endParaRPr lang="en-US" sz="1100" dirty="0"/>
          </a:p>
        </p:txBody>
      </p:sp>
      <p:sp>
        <p:nvSpPr>
          <p:cNvPr id="9" name="Text 7"/>
          <p:cNvSpPr/>
          <p:nvPr/>
        </p:nvSpPr>
        <p:spPr>
          <a:xfrm>
            <a:off x="762000" y="3175000"/>
            <a:ext cx="3556000" cy="190500"/>
          </a:xfrm>
          <a:prstGeom prst="rect">
            <a:avLst/>
          </a:prstGeom>
          <a:noFill/>
          <a:ln/>
        </p:spPr>
        <p:txBody>
          <a:bodyPr wrap="square" lIns="0" tIns="0" rIns="0" bIns="0" rtlCol="0" anchor="ctr"/>
          <a:lstStyle/>
          <a:p>
            <a:pPr algn="l" indent="0" marL="0">
              <a:lnSpc>
                <a:spcPts val="1100"/>
              </a:lnSpc>
              <a:buNone/>
            </a:pPr>
            <a:r>
              <a:rPr lang="en-US" sz="1100" dirty="0">
                <a:solidFill>
                  <a:srgbClr val="00171F"/>
                </a:solidFill>
                <a:latin typeface="Google Sans SemiBold" pitchFamily="34" charset="0"/>
                <a:ea typeface="Google Sans SemiBold" pitchFamily="34" charset="-122"/>
                <a:cs typeface="Google Sans SemiBold" pitchFamily="34" charset="-120"/>
              </a:rPr>
              <a:t>Bukti transfer yang sudah lengkap</a:t>
            </a:r>
            <a:endParaRPr lang="en-US" sz="1100" dirty="0"/>
          </a:p>
        </p:txBody>
      </p:sp>
      <p:sp>
        <p:nvSpPr>
          <p:cNvPr id="10" name="Text 8"/>
          <p:cNvSpPr/>
          <p:nvPr/>
        </p:nvSpPr>
        <p:spPr>
          <a:xfrm>
            <a:off x="762000" y="3403600"/>
            <a:ext cx="3683000" cy="1143000"/>
          </a:xfrm>
          <a:prstGeom prst="rect">
            <a:avLst/>
          </a:prstGeom>
          <a:noFill/>
          <a:ln/>
        </p:spPr>
        <p:txBody>
          <a:bodyPr wrap="square" lIns="0" tIns="0" rIns="0" bIns="0" rtlCol="0" anchor="ctr"/>
          <a:lstStyle/>
          <a:p>
            <a:pPr algn="l" indent="0" marL="0">
              <a:lnSpc>
                <a:spcPts val="7000"/>
              </a:lnSpc>
              <a:buNone/>
            </a:pPr>
            <a:r>
              <a:rPr lang="en-US" sz="7000" b="1" dirty="0">
                <a:solidFill>
                  <a:srgbClr val="003459"/>
                </a:solidFill>
                <a:latin typeface="Google Sans" pitchFamily="34" charset="0"/>
                <a:ea typeface="Google Sans" pitchFamily="34" charset="-122"/>
                <a:cs typeface="Google Sans" pitchFamily="34" charset="-120"/>
              </a:rPr>
              <a:t>164</a:t>
            </a:r>
            <a:endParaRPr lang="en-US" sz="7000" dirty="0"/>
          </a:p>
        </p:txBody>
      </p:sp>
      <p:sp>
        <p:nvSpPr>
          <p:cNvPr id="11" name="Text 9"/>
          <p:cNvSpPr/>
          <p:nvPr/>
        </p:nvSpPr>
        <p:spPr>
          <a:xfrm>
            <a:off x="2603500" y="3810000"/>
            <a:ext cx="1905000" cy="381000"/>
          </a:xfrm>
          <a:prstGeom prst="rect">
            <a:avLst/>
          </a:prstGeom>
          <a:noFill/>
          <a:ln/>
        </p:spPr>
        <p:txBody>
          <a:bodyPr wrap="square" lIns="0" tIns="0" rIns="0" bIns="0" rtlCol="0" anchor="ctr"/>
          <a:lstStyle/>
          <a:p>
            <a:pPr algn="l" indent="0" marL="0">
              <a:lnSpc>
                <a:spcPts val="1500"/>
              </a:lnSpc>
              <a:buNone/>
            </a:pPr>
            <a:r>
              <a:rPr lang="en-US" sz="1500" dirty="0">
                <a:solidFill>
                  <a:srgbClr val="4B5E69"/>
                </a:solidFill>
                <a:latin typeface="Google Sans" pitchFamily="34" charset="0"/>
                <a:ea typeface="Google Sans" pitchFamily="34" charset="-122"/>
                <a:cs typeface="Google Sans" pitchFamily="34" charset="-120"/>
              </a:rPr>
              <a:t>dari 219</a:t>
            </a:r>
            <a:endParaRPr lang="en-US" sz="1500" dirty="0"/>
          </a:p>
        </p:txBody>
      </p:sp>
      <p:sp>
        <p:nvSpPr>
          <p:cNvPr id="12" name="Shape 10"/>
          <p:cNvSpPr/>
          <p:nvPr/>
        </p:nvSpPr>
        <p:spPr>
          <a:xfrm>
            <a:off x="762000" y="4635500"/>
            <a:ext cx="3556000" cy="177800"/>
          </a:xfrm>
          <a:prstGeom prst="roundRect">
            <a:avLst>
              <a:gd name="adj" fmla="val 50000"/>
            </a:avLst>
          </a:prstGeom>
          <a:solidFill>
            <a:srgbClr val="E1E8ED"/>
          </a:solidFill>
          <a:ln/>
        </p:spPr>
      </p:sp>
      <p:sp>
        <p:nvSpPr>
          <p:cNvPr id="13" name="Shape 11"/>
          <p:cNvSpPr/>
          <p:nvPr/>
        </p:nvSpPr>
        <p:spPr>
          <a:xfrm>
            <a:off x="762000" y="4635500"/>
            <a:ext cx="2662941" cy="177800"/>
          </a:xfrm>
          <a:prstGeom prst="roundRect">
            <a:avLst>
              <a:gd name="adj" fmla="val 50000"/>
            </a:avLst>
          </a:prstGeom>
          <a:solidFill>
            <a:srgbClr val="003459"/>
          </a:solidFill>
          <a:ln/>
        </p:spPr>
      </p:sp>
      <p:sp>
        <p:nvSpPr>
          <p:cNvPr id="14" name="Text 12"/>
          <p:cNvSpPr/>
          <p:nvPr/>
        </p:nvSpPr>
        <p:spPr>
          <a:xfrm>
            <a:off x="762000" y="4927600"/>
            <a:ext cx="3556000" cy="215900"/>
          </a:xfrm>
          <a:prstGeom prst="rect">
            <a:avLst/>
          </a:prstGeom>
          <a:noFill/>
          <a:ln/>
        </p:spPr>
        <p:txBody>
          <a:bodyPr wrap="square" lIns="0" tIns="0" rIns="0" bIns="0" rtlCol="0" anchor="ctr"/>
          <a:lstStyle/>
          <a:p>
            <a:pPr algn="l" indent="0" marL="0">
              <a:lnSpc>
                <a:spcPts val="1200"/>
              </a:lnSpc>
              <a:buNone/>
            </a:pPr>
            <a:r>
              <a:rPr lang="en-US" sz="1200" b="1" dirty="0">
                <a:solidFill>
                  <a:srgbClr val="C98A1B"/>
                </a:solidFill>
                <a:latin typeface="Google Sans" pitchFamily="34" charset="0"/>
                <a:ea typeface="Google Sans" pitchFamily="34" charset="-122"/>
                <a:cs typeface="Google Sans" pitchFamily="34" charset="-120"/>
              </a:rPr>
              <a:t>55 transaksi belum ada bukti</a:t>
            </a:r>
            <a:endParaRPr lang="en-US" sz="1200" dirty="0"/>
          </a:p>
        </p:txBody>
      </p:sp>
      <p:sp>
        <p:nvSpPr>
          <p:cNvPr id="15" name="Shape 13"/>
          <p:cNvSpPr/>
          <p:nvPr/>
        </p:nvSpPr>
        <p:spPr>
          <a:xfrm>
            <a:off x="762000" y="5397500"/>
            <a:ext cx="3556000" cy="609600"/>
          </a:xfrm>
          <a:prstGeom prst="roundRect">
            <a:avLst>
              <a:gd name="adj" fmla="val 25000"/>
            </a:avLst>
          </a:prstGeom>
          <a:solidFill>
            <a:srgbClr val="FFFFFF"/>
          </a:solidFill>
          <a:ln w="10160">
            <a:solidFill>
              <a:srgbClr val="D5DEE4"/>
            </a:solidFill>
            <a:prstDash val="solid"/>
          </a:ln>
        </p:spPr>
      </p:sp>
      <p:pic>
        <p:nvPicPr>
          <p:cNvPr id="16" name="Image 0" descr="public\icons\circle-check-mint.png">    </p:cNvPr>
          <p:cNvPicPr>
            <a:picLocks noChangeAspect="1"/>
          </p:cNvPicPr>
          <p:nvPr/>
        </p:nvPicPr>
        <p:blipFill>
          <a:blip r:embed="rId1"/>
          <a:stretch>
            <a:fillRect/>
          </a:stretch>
        </p:blipFill>
        <p:spPr>
          <a:xfrm>
            <a:off x="939800" y="5575300"/>
            <a:ext cx="254000" cy="254000"/>
          </a:xfrm>
          <a:prstGeom prst="rect">
            <a:avLst/>
          </a:prstGeom>
        </p:spPr>
      </p:pic>
      <p:sp>
        <p:nvSpPr>
          <p:cNvPr id="17" name="Text 14"/>
          <p:cNvSpPr/>
          <p:nvPr/>
        </p:nvSpPr>
        <p:spPr>
          <a:xfrm>
            <a:off x="1320800" y="5397500"/>
            <a:ext cx="2857500" cy="609600"/>
          </a:xfrm>
          <a:prstGeom prst="rect">
            <a:avLst/>
          </a:prstGeom>
          <a:noFill/>
          <a:ln/>
        </p:spPr>
        <p:txBody>
          <a:bodyPr wrap="square" lIns="0" tIns="0" rIns="0" bIns="0" rtlCol="0" anchor="ctr"/>
          <a:lstStyle/>
          <a:p>
            <a:pPr algn="l" indent="0" marL="0">
              <a:lnSpc>
                <a:spcPts val="1440"/>
              </a:lnSpc>
              <a:buNone/>
            </a:pPr>
            <a:r>
              <a:rPr lang="en-US" sz="1200" dirty="0">
                <a:solidFill>
                  <a:srgbClr val="00171F"/>
                </a:solidFill>
                <a:latin typeface="Google Sans SemiBold" pitchFamily="34" charset="0"/>
                <a:ea typeface="Google Sans SemiBold" pitchFamily="34" charset="-122"/>
                <a:cs typeface="Google Sans SemiBold" pitchFamily="34" charset="-120"/>
              </a:rPr>
              <a:t>Nota: 243 dari 243 sudah lengkap</a:t>
            </a:r>
            <a:endParaRPr lang="en-US" sz="1200" dirty="0"/>
          </a:p>
        </p:txBody>
      </p:sp>
      <p:sp>
        <p:nvSpPr>
          <p:cNvPr id="18" name="Shape 15"/>
          <p:cNvSpPr/>
          <p:nvPr/>
        </p:nvSpPr>
        <p:spPr>
          <a:xfrm>
            <a:off x="4546600" y="3175000"/>
            <a:ext cx="304800" cy="304800"/>
          </a:xfrm>
          <a:prstGeom prst="ellipse">
            <a:avLst/>
          </a:prstGeom>
          <a:solidFill>
            <a:srgbClr val="003459"/>
          </a:solidFill>
          <a:ln w="38100">
            <a:solidFill>
              <a:srgbClr val="F6F9FB"/>
            </a:solidFill>
            <a:prstDash val="solid"/>
          </a:ln>
        </p:spPr>
      </p:sp>
      <p:pic>
        <p:nvPicPr>
          <p:cNvPr id="19" name="Image 1" descr="public\icons\arrow-right-white.png">    </p:cNvPr>
          <p:cNvPicPr>
            <a:picLocks noChangeAspect="1"/>
          </p:cNvPicPr>
          <p:nvPr/>
        </p:nvPicPr>
        <p:blipFill>
          <a:blip r:embed="rId2"/>
          <a:stretch>
            <a:fillRect/>
          </a:stretch>
        </p:blipFill>
        <p:spPr>
          <a:xfrm>
            <a:off x="4610100" y="3238500"/>
            <a:ext cx="177800" cy="177800"/>
          </a:xfrm>
          <a:prstGeom prst="rect">
            <a:avLst/>
          </a:prstGeom>
        </p:spPr>
      </p:pic>
      <p:sp>
        <p:nvSpPr>
          <p:cNvPr id="20" name="Text 16"/>
          <p:cNvSpPr/>
          <p:nvPr/>
        </p:nvSpPr>
        <p:spPr>
          <a:xfrm>
            <a:off x="5080000" y="533400"/>
            <a:ext cx="2921000" cy="254000"/>
          </a:xfrm>
          <a:prstGeom prst="rect">
            <a:avLst/>
          </a:prstGeom>
          <a:noFill/>
          <a:ln/>
        </p:spPr>
        <p:txBody>
          <a:bodyPr wrap="square" lIns="0" tIns="0" rIns="0" bIns="0" rtlCol="0" anchor="ctr"/>
          <a:lstStyle/>
          <a:p>
            <a:pPr algn="l" indent="0" marL="0">
              <a:lnSpc>
                <a:spcPts val="750"/>
              </a:lnSpc>
              <a:buNone/>
            </a:pPr>
            <a:r>
              <a:rPr lang="en-US" sz="750" b="1" dirty="0">
                <a:solidFill>
                  <a:srgbClr val="003459"/>
                </a:solidFill>
                <a:latin typeface="Google Sans" pitchFamily="34" charset="0"/>
                <a:ea typeface="Google Sans" pitchFamily="34" charset="-122"/>
                <a:cs typeface="Google Sans" pitchFamily="34" charset="-120"/>
              </a:rPr>
              <a:t>JAWABANNYA DI KATALIS ERP</a:t>
            </a:r>
            <a:endParaRPr lang="en-US" sz="750" dirty="0"/>
          </a:p>
        </p:txBody>
      </p:sp>
      <p:sp>
        <p:nvSpPr>
          <p:cNvPr id="21" name="Shape 17"/>
          <p:cNvSpPr/>
          <p:nvPr/>
        </p:nvSpPr>
        <p:spPr>
          <a:xfrm>
            <a:off x="8013700" y="533400"/>
            <a:ext cx="1714500" cy="254000"/>
          </a:xfrm>
          <a:prstGeom prst="roundRect">
            <a:avLst>
              <a:gd name="adj" fmla="val 50000"/>
            </a:avLst>
          </a:prstGeom>
          <a:solidFill>
            <a:srgbClr val="E3EDF5"/>
          </a:solidFill>
          <a:ln/>
        </p:spPr>
      </p:sp>
      <p:pic>
        <p:nvPicPr>
          <p:cNvPr id="22" name="Image 2" descr="public\icons\receipt-text-green.png">    </p:cNvPr>
          <p:cNvPicPr>
            <a:picLocks noChangeAspect="1"/>
          </p:cNvPicPr>
          <p:nvPr/>
        </p:nvPicPr>
        <p:blipFill>
          <a:blip r:embed="rId3"/>
          <a:stretch>
            <a:fillRect/>
          </a:stretch>
        </p:blipFill>
        <p:spPr>
          <a:xfrm>
            <a:off x="8102600" y="584200"/>
            <a:ext cx="152400" cy="152400"/>
          </a:xfrm>
          <a:prstGeom prst="rect">
            <a:avLst/>
          </a:prstGeom>
        </p:spPr>
      </p:pic>
      <p:sp>
        <p:nvSpPr>
          <p:cNvPr id="23" name="Text 18"/>
          <p:cNvSpPr/>
          <p:nvPr/>
        </p:nvSpPr>
        <p:spPr>
          <a:xfrm>
            <a:off x="8305800" y="533400"/>
            <a:ext cx="1397000" cy="254000"/>
          </a:xfrm>
          <a:prstGeom prst="rect">
            <a:avLst/>
          </a:prstGeom>
          <a:noFill/>
          <a:ln/>
        </p:spPr>
        <p:txBody>
          <a:bodyPr wrap="square" lIns="0" tIns="0" rIns="0" bIns="0" rtlCol="0" anchor="ctr"/>
          <a:lstStyle/>
          <a:p>
            <a:pPr algn="l" indent="0" marL="0">
              <a:lnSpc>
                <a:spcPts val="900"/>
              </a:lnSpc>
              <a:buNone/>
            </a:pPr>
            <a:r>
              <a:rPr lang="en-US" sz="900" dirty="0">
                <a:solidFill>
                  <a:srgbClr val="003459"/>
                </a:solidFill>
                <a:latin typeface="Google Sans SemiBold" pitchFamily="34" charset="0"/>
                <a:ea typeface="Google Sans SemiBold" pitchFamily="34" charset="-122"/>
                <a:cs typeface="Google Sans SemiBold" pitchFamily="34" charset="-120"/>
              </a:rPr>
              <a:t>Keuangan</a:t>
            </a:r>
            <a:endParaRPr lang="en-US" sz="900" dirty="0"/>
          </a:p>
        </p:txBody>
      </p:sp>
      <p:sp>
        <p:nvSpPr>
          <p:cNvPr id="24" name="Shape 19"/>
          <p:cNvSpPr/>
          <p:nvPr/>
        </p:nvSpPr>
        <p:spPr>
          <a:xfrm>
            <a:off x="5080000" y="1003300"/>
            <a:ext cx="254000" cy="254000"/>
          </a:xfrm>
          <a:prstGeom prst="ellipse">
            <a:avLst/>
          </a:prstGeom>
          <a:solidFill>
            <a:srgbClr val="1B7FC4"/>
          </a:solidFill>
          <a:ln/>
        </p:spPr>
      </p:sp>
      <p:pic>
        <p:nvPicPr>
          <p:cNvPr id="25" name="Image 3" descr="public\icons\check-white.png">    </p:cNvPr>
          <p:cNvPicPr>
            <a:picLocks noChangeAspect="1"/>
          </p:cNvPicPr>
          <p:nvPr/>
        </p:nvPicPr>
        <p:blipFill>
          <a:blip r:embed="rId4"/>
          <a:stretch>
            <a:fillRect/>
          </a:stretch>
        </p:blipFill>
        <p:spPr>
          <a:xfrm>
            <a:off x="5130800" y="1054100"/>
            <a:ext cx="152400" cy="152400"/>
          </a:xfrm>
          <a:prstGeom prst="rect">
            <a:avLst/>
          </a:prstGeom>
        </p:spPr>
      </p:pic>
      <p:sp>
        <p:nvSpPr>
          <p:cNvPr id="26" name="Text 20"/>
          <p:cNvSpPr/>
          <p:nvPr/>
        </p:nvSpPr>
        <p:spPr>
          <a:xfrm>
            <a:off x="5410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Tiap transaksi punya nota dan bukti</a:t>
            </a:r>
            <a:endParaRPr lang="en-US" sz="1200" dirty="0"/>
          </a:p>
        </p:txBody>
      </p:sp>
      <p:sp>
        <p:nvSpPr>
          <p:cNvPr id="27" name="Shape 21"/>
          <p:cNvSpPr/>
          <p:nvPr/>
        </p:nvSpPr>
        <p:spPr>
          <a:xfrm>
            <a:off x="7239000" y="1003300"/>
            <a:ext cx="254000" cy="254000"/>
          </a:xfrm>
          <a:prstGeom prst="ellipse">
            <a:avLst/>
          </a:prstGeom>
          <a:solidFill>
            <a:srgbClr val="1B7FC4"/>
          </a:solidFill>
          <a:ln/>
        </p:spPr>
      </p:sp>
      <p:pic>
        <p:nvPicPr>
          <p:cNvPr id="28" name="Image 4" descr="public\icons\check-white.png">    </p:cNvPr>
          <p:cNvPicPr>
            <a:picLocks noChangeAspect="1"/>
          </p:cNvPicPr>
          <p:nvPr/>
        </p:nvPicPr>
        <p:blipFill>
          <a:blip r:embed="rId5"/>
          <a:stretch>
            <a:fillRect/>
          </a:stretch>
        </p:blipFill>
        <p:spPr>
          <a:xfrm>
            <a:off x="7289800" y="1054100"/>
            <a:ext cx="152400" cy="152400"/>
          </a:xfrm>
          <a:prstGeom prst="rect">
            <a:avLst/>
          </a:prstGeom>
        </p:spPr>
      </p:pic>
      <p:sp>
        <p:nvSpPr>
          <p:cNvPr id="29" name="Text 22"/>
          <p:cNvSpPr/>
          <p:nvPr/>
        </p:nvSpPr>
        <p:spPr>
          <a:xfrm>
            <a:off x="7569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Ada daftar cek sebelum tutup buku</a:t>
            </a:r>
            <a:endParaRPr lang="en-US" sz="1200" dirty="0"/>
          </a:p>
        </p:txBody>
      </p:sp>
      <p:sp>
        <p:nvSpPr>
          <p:cNvPr id="30" name="Shape 23"/>
          <p:cNvSpPr/>
          <p:nvPr/>
        </p:nvSpPr>
        <p:spPr>
          <a:xfrm>
            <a:off x="9398000" y="1003300"/>
            <a:ext cx="254000" cy="254000"/>
          </a:xfrm>
          <a:prstGeom prst="ellipse">
            <a:avLst/>
          </a:prstGeom>
          <a:solidFill>
            <a:srgbClr val="1B7FC4"/>
          </a:solidFill>
          <a:ln/>
        </p:spPr>
      </p:sp>
      <p:pic>
        <p:nvPicPr>
          <p:cNvPr id="31" name="Image 5" descr="public\icons\check-white.png">    </p:cNvPr>
          <p:cNvPicPr>
            <a:picLocks noChangeAspect="1"/>
          </p:cNvPicPr>
          <p:nvPr/>
        </p:nvPicPr>
        <p:blipFill>
          <a:blip r:embed="rId6"/>
          <a:stretch>
            <a:fillRect/>
          </a:stretch>
        </p:blipFill>
        <p:spPr>
          <a:xfrm>
            <a:off x="9448800" y="1054100"/>
            <a:ext cx="152400" cy="152400"/>
          </a:xfrm>
          <a:prstGeom prst="rect">
            <a:avLst/>
          </a:prstGeom>
        </p:spPr>
      </p:pic>
      <p:sp>
        <p:nvSpPr>
          <p:cNvPr id="32" name="Text 24"/>
          <p:cNvSpPr/>
          <p:nvPr/>
        </p:nvSpPr>
        <p:spPr>
          <a:xfrm>
            <a:off x="9728200" y="939800"/>
            <a:ext cx="1663700" cy="635000"/>
          </a:xfrm>
          <a:prstGeom prst="rect">
            <a:avLst/>
          </a:prstGeom>
          <a:noFill/>
          <a:ln/>
        </p:spPr>
        <p:txBody>
          <a:bodyPr wrap="square" lIns="0" tIns="0" rIns="0" bIns="0" rtlCol="0" anchor="t"/>
          <a:lstStyle/>
          <a:p>
            <a:pPr algn="l" indent="0" marL="0">
              <a:lnSpc>
                <a:spcPts val="1500"/>
              </a:lnSpc>
              <a:buNone/>
            </a:pPr>
            <a:r>
              <a:rPr lang="en-US" sz="1200" dirty="0">
                <a:solidFill>
                  <a:srgbClr val="00171F"/>
                </a:solidFill>
                <a:latin typeface="Google Sans SemiBold" pitchFamily="34" charset="0"/>
                <a:ea typeface="Google Sans SemiBold" pitchFamily="34" charset="-122"/>
                <a:cs typeface="Google Sans SemiBold" pitchFamily="34" charset="-120"/>
              </a:rPr>
              <a:t>Setelah ditutup, catatan terkunci</a:t>
            </a:r>
            <a:endParaRPr lang="en-US" sz="1200" dirty="0"/>
          </a:p>
        </p:txBody>
      </p:sp>
      <p:pic>
        <p:nvPicPr>
          <p:cNvPr id="33" name="Image 6" descr="public\shots\screen-keuangan.png">    </p:cNvPr>
          <p:cNvPicPr>
            <a:picLocks noChangeAspect="1"/>
          </p:cNvPicPr>
          <p:nvPr/>
        </p:nvPicPr>
        <p:blipFill>
          <a:blip r:embed="rId7"/>
          <a:stretch>
            <a:fillRect/>
          </a:stretch>
        </p:blipFill>
        <p:spPr>
          <a:xfrm>
            <a:off x="5080000" y="1752600"/>
            <a:ext cx="6350000" cy="4057650"/>
          </a:xfrm>
          <a:prstGeom prst="rect">
            <a:avLst/>
          </a:prstGeom>
        </p:spPr>
      </p:pic>
      <p:sp>
        <p:nvSpPr>
          <p:cNvPr id="34" name="Text 25"/>
          <p:cNvSpPr/>
          <p:nvPr/>
        </p:nvSpPr>
        <p:spPr>
          <a:xfrm>
            <a:off x="762000" y="6502400"/>
            <a:ext cx="8255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Data Monitor Dana Fasilitas Bungus</a:t>
            </a:r>
            <a:endParaRPr lang="en-US" sz="800" dirty="0"/>
          </a:p>
        </p:txBody>
      </p:sp>
      <p:sp>
        <p:nvSpPr>
          <p:cNvPr id="35" name="Text 26"/>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08 / 15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B"/>
        </a:solidFill>
      </p:bgPr>
    </p:bg>
    <p:spTree>
      <p:nvGrpSpPr>
        <p:cNvPr id="1" name=""/>
        <p:cNvGrpSpPr/>
        <p:nvPr/>
      </p:nvGrpSpPr>
      <p:grpSpPr>
        <a:xfrm>
          <a:off x="0" y="0"/>
          <a:ext cx="0" cy="0"/>
          <a:chOff x="0" y="0"/>
          <a:chExt cx="0" cy="0"/>
        </a:xfrm>
      </p:grpSpPr>
      <p:pic>
        <p:nvPicPr>
          <p:cNvPr id="2" name="Image 0" descr="public\shots\dashboard.png">    </p:cNvPr>
          <p:cNvPicPr>
            <a:picLocks noChangeAspect="1"/>
          </p:cNvPicPr>
          <p:nvPr/>
        </p:nvPicPr>
        <p:blipFill>
          <a:blip r:embed="rId1"/>
          <a:stretch>
            <a:fillRect/>
          </a:stretch>
        </p:blipFill>
        <p:spPr>
          <a:xfrm>
            <a:off x="4619625" y="1508125"/>
            <a:ext cx="7016750" cy="4540250"/>
          </a:xfrm>
          <a:prstGeom prst="rect">
            <a:avLst/>
          </a:prstGeom>
        </p:spPr>
      </p:pic>
      <p:sp>
        <p:nvSpPr>
          <p:cNvPr id="3" name="Text 0"/>
          <p:cNvSpPr/>
          <p:nvPr/>
        </p:nvSpPr>
        <p:spPr>
          <a:xfrm>
            <a:off x="762000" y="533400"/>
            <a:ext cx="5715000" cy="190500"/>
          </a:xfrm>
          <a:prstGeom prst="rect">
            <a:avLst/>
          </a:prstGeom>
          <a:noFill/>
          <a:ln/>
        </p:spPr>
        <p:txBody>
          <a:bodyPr wrap="square" lIns="0" tIns="0" rIns="0" bIns="0" rtlCol="0" anchor="ctr"/>
          <a:lstStyle/>
          <a:p>
            <a:pPr algn="l" indent="0" marL="0">
              <a:lnSpc>
                <a:spcPts val="1100"/>
              </a:lnSpc>
              <a:buNone/>
            </a:pPr>
            <a:r>
              <a:rPr lang="en-US" sz="1100" dirty="0">
                <a:solidFill>
                  <a:srgbClr val="003459"/>
                </a:solidFill>
                <a:latin typeface="Google Sans SemiBold" pitchFamily="34" charset="0"/>
                <a:ea typeface="Google Sans SemiBold" pitchFamily="34" charset="-122"/>
                <a:cs typeface="Google Sans SemiBold" pitchFamily="34" charset="-120"/>
              </a:rPr>
              <a:t>Untuk Owner</a:t>
            </a:r>
            <a:endParaRPr lang="en-US" sz="1100" dirty="0"/>
          </a:p>
        </p:txBody>
      </p:sp>
      <p:sp>
        <p:nvSpPr>
          <p:cNvPr id="4" name="Text 1"/>
          <p:cNvSpPr/>
          <p:nvPr/>
        </p:nvSpPr>
        <p:spPr>
          <a:xfrm>
            <a:off x="762000" y="800100"/>
            <a:ext cx="3810000" cy="1333500"/>
          </a:xfrm>
          <a:prstGeom prst="rect">
            <a:avLst/>
          </a:prstGeom>
          <a:noFill/>
          <a:ln/>
        </p:spPr>
        <p:txBody>
          <a:bodyPr wrap="square" lIns="0" tIns="0" rIns="0" bIns="0" rtlCol="0" anchor="t"/>
          <a:lstStyle/>
          <a:p>
            <a:pPr algn="l" indent="0" marL="0">
              <a:lnSpc>
                <a:spcPts val="3180"/>
              </a:lnSpc>
              <a:buNone/>
            </a:pPr>
            <a:r>
              <a:rPr lang="en-US" sz="3000" b="1" dirty="0">
                <a:solidFill>
                  <a:srgbClr val="00171F"/>
                </a:solidFill>
                <a:latin typeface="Google Sans" pitchFamily="34" charset="0"/>
                <a:ea typeface="Google Sans" pitchFamily="34" charset="-122"/>
                <a:cs typeface="Google Sans" pitchFamily="34" charset="-120"/>
              </a:rPr>
              <a:t>Satu dashboard untuk seluruh usaha</a:t>
            </a:r>
            <a:endParaRPr lang="en-US" sz="3000" dirty="0"/>
          </a:p>
        </p:txBody>
      </p:sp>
      <p:sp>
        <p:nvSpPr>
          <p:cNvPr id="5" name="Text 2"/>
          <p:cNvSpPr/>
          <p:nvPr/>
        </p:nvSpPr>
        <p:spPr>
          <a:xfrm>
            <a:off x="762000" y="6502400"/>
            <a:ext cx="7620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Contoh tampilan, data contoh</a:t>
            </a:r>
            <a:endParaRPr lang="en-US" sz="800" dirty="0"/>
          </a:p>
        </p:txBody>
      </p:sp>
      <p:sp>
        <p:nvSpPr>
          <p:cNvPr id="6" name="Text 3"/>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09 / 15</a:t>
            </a:r>
            <a:endParaRPr lang="en-US" sz="800" dirty="0"/>
          </a:p>
        </p:txBody>
      </p:sp>
      <p:sp>
        <p:nvSpPr>
          <p:cNvPr id="7" name="Shape 4"/>
          <p:cNvSpPr/>
          <p:nvPr/>
        </p:nvSpPr>
        <p:spPr>
          <a:xfrm>
            <a:off x="762000" y="2540000"/>
            <a:ext cx="355600" cy="355600"/>
          </a:xfrm>
          <a:prstGeom prst="ellipse">
            <a:avLst/>
          </a:prstGeom>
          <a:solidFill>
            <a:srgbClr val="E3EDF5"/>
          </a:solidFill>
          <a:ln/>
        </p:spPr>
      </p:sp>
      <p:pic>
        <p:nvPicPr>
          <p:cNvPr id="8" name="Image 1" descr="public\icons\layout-dashboard-green.png">    </p:cNvPr>
          <p:cNvPicPr>
            <a:picLocks noChangeAspect="1"/>
          </p:cNvPicPr>
          <p:nvPr/>
        </p:nvPicPr>
        <p:blipFill>
          <a:blip r:embed="rId2"/>
          <a:stretch>
            <a:fillRect/>
          </a:stretch>
        </p:blipFill>
        <p:spPr>
          <a:xfrm>
            <a:off x="838200" y="2616200"/>
            <a:ext cx="203200" cy="203200"/>
          </a:xfrm>
          <a:prstGeom prst="rect">
            <a:avLst/>
          </a:prstGeom>
        </p:spPr>
      </p:pic>
      <p:sp>
        <p:nvSpPr>
          <p:cNvPr id="9" name="Text 5"/>
          <p:cNvSpPr/>
          <p:nvPr/>
        </p:nvSpPr>
        <p:spPr>
          <a:xfrm>
            <a:off x="1270000" y="2527300"/>
            <a:ext cx="3048000" cy="228600"/>
          </a:xfrm>
          <a:prstGeom prst="rect">
            <a:avLst/>
          </a:prstGeom>
          <a:noFill/>
          <a:ln/>
        </p:spPr>
        <p:txBody>
          <a:bodyPr wrap="square" lIns="0" tIns="0" rIns="0" bIns="0" rtlCol="0" anchor="ctr"/>
          <a:lstStyle/>
          <a:p>
            <a:pPr algn="l" indent="0" marL="0">
              <a:lnSpc>
                <a:spcPts val="1400"/>
              </a:lnSpc>
              <a:buNone/>
            </a:pPr>
            <a:r>
              <a:rPr lang="en-US" sz="1400" b="1" dirty="0">
                <a:solidFill>
                  <a:srgbClr val="00171F"/>
                </a:solidFill>
                <a:latin typeface="Google Sans" pitchFamily="34" charset="0"/>
                <a:ea typeface="Google Sans" pitchFamily="34" charset="-122"/>
                <a:cs typeface="Google Sans" pitchFamily="34" charset="-120"/>
              </a:rPr>
              <a:t>Angka utama</a:t>
            </a:r>
            <a:endParaRPr lang="en-US" sz="1400" dirty="0"/>
          </a:p>
        </p:txBody>
      </p:sp>
      <p:sp>
        <p:nvSpPr>
          <p:cNvPr id="10" name="Text 6"/>
          <p:cNvSpPr/>
          <p:nvPr/>
        </p:nvSpPr>
        <p:spPr>
          <a:xfrm>
            <a:off x="1270000" y="2794000"/>
            <a:ext cx="3048000" cy="355600"/>
          </a:xfrm>
          <a:prstGeom prst="rect">
            <a:avLst/>
          </a:prstGeom>
          <a:noFill/>
          <a:ln/>
        </p:spPr>
        <p:txBody>
          <a:bodyPr wrap="square" lIns="0" tIns="0" rIns="0" bIns="0" rtlCol="0" anchor="t"/>
          <a:lstStyle/>
          <a:p>
            <a:pPr algn="l" indent="0" marL="0">
              <a:lnSpc>
                <a:spcPts val="1370"/>
              </a:lnSpc>
              <a:buNone/>
            </a:pPr>
            <a:r>
              <a:rPr lang="en-US" sz="1050" dirty="0">
                <a:solidFill>
                  <a:srgbClr val="4B5E69"/>
                </a:solidFill>
                <a:latin typeface="Google Sans" pitchFamily="34" charset="0"/>
                <a:ea typeface="Google Sans" pitchFamily="34" charset="-122"/>
                <a:cs typeface="Google Sans" pitchFamily="34" charset="-120"/>
              </a:rPr>
              <a:t>Total ikan, kas, piutang, stok.</a:t>
            </a:r>
            <a:endParaRPr lang="en-US" sz="1050" dirty="0"/>
          </a:p>
        </p:txBody>
      </p:sp>
      <p:sp>
        <p:nvSpPr>
          <p:cNvPr id="11" name="Shape 7"/>
          <p:cNvSpPr/>
          <p:nvPr/>
        </p:nvSpPr>
        <p:spPr>
          <a:xfrm>
            <a:off x="762000" y="3365500"/>
            <a:ext cx="355600" cy="355600"/>
          </a:xfrm>
          <a:prstGeom prst="ellipse">
            <a:avLst/>
          </a:prstGeom>
          <a:solidFill>
            <a:srgbClr val="E3EDF5"/>
          </a:solidFill>
          <a:ln/>
        </p:spPr>
      </p:sp>
      <p:pic>
        <p:nvPicPr>
          <p:cNvPr id="12" name="Image 2" descr="public\icons\circle-check-green.png">    </p:cNvPr>
          <p:cNvPicPr>
            <a:picLocks noChangeAspect="1"/>
          </p:cNvPicPr>
          <p:nvPr/>
        </p:nvPicPr>
        <p:blipFill>
          <a:blip r:embed="rId3"/>
          <a:stretch>
            <a:fillRect/>
          </a:stretch>
        </p:blipFill>
        <p:spPr>
          <a:xfrm>
            <a:off x="838200" y="3441700"/>
            <a:ext cx="203200" cy="203200"/>
          </a:xfrm>
          <a:prstGeom prst="rect">
            <a:avLst/>
          </a:prstGeom>
        </p:spPr>
      </p:pic>
      <p:sp>
        <p:nvSpPr>
          <p:cNvPr id="13" name="Text 8"/>
          <p:cNvSpPr/>
          <p:nvPr/>
        </p:nvSpPr>
        <p:spPr>
          <a:xfrm>
            <a:off x="1270000" y="3352800"/>
            <a:ext cx="3048000" cy="228600"/>
          </a:xfrm>
          <a:prstGeom prst="rect">
            <a:avLst/>
          </a:prstGeom>
          <a:noFill/>
          <a:ln/>
        </p:spPr>
        <p:txBody>
          <a:bodyPr wrap="square" lIns="0" tIns="0" rIns="0" bIns="0" rtlCol="0" anchor="ctr"/>
          <a:lstStyle/>
          <a:p>
            <a:pPr algn="l" indent="0" marL="0">
              <a:lnSpc>
                <a:spcPts val="1400"/>
              </a:lnSpc>
              <a:buNone/>
            </a:pPr>
            <a:r>
              <a:rPr lang="en-US" sz="1400" b="1" dirty="0">
                <a:solidFill>
                  <a:srgbClr val="00171F"/>
                </a:solidFill>
                <a:latin typeface="Google Sans" pitchFamily="34" charset="0"/>
                <a:ea typeface="Google Sans" pitchFamily="34" charset="-122"/>
                <a:cs typeface="Google Sans" pitchFamily="34" charset="-120"/>
              </a:rPr>
              <a:t>Persetujuan</a:t>
            </a:r>
            <a:endParaRPr lang="en-US" sz="1400" dirty="0"/>
          </a:p>
        </p:txBody>
      </p:sp>
      <p:sp>
        <p:nvSpPr>
          <p:cNvPr id="14" name="Text 9"/>
          <p:cNvSpPr/>
          <p:nvPr/>
        </p:nvSpPr>
        <p:spPr>
          <a:xfrm>
            <a:off x="1270000" y="3619500"/>
            <a:ext cx="3048000" cy="355600"/>
          </a:xfrm>
          <a:prstGeom prst="rect">
            <a:avLst/>
          </a:prstGeom>
          <a:noFill/>
          <a:ln/>
        </p:spPr>
        <p:txBody>
          <a:bodyPr wrap="square" lIns="0" tIns="0" rIns="0" bIns="0" rtlCol="0" anchor="t"/>
          <a:lstStyle/>
          <a:p>
            <a:pPr algn="l" indent="0" marL="0">
              <a:lnSpc>
                <a:spcPts val="1370"/>
              </a:lnSpc>
              <a:buNone/>
            </a:pPr>
            <a:r>
              <a:rPr lang="en-US" sz="1050" dirty="0">
                <a:solidFill>
                  <a:srgbClr val="4B5E69"/>
                </a:solidFill>
                <a:latin typeface="Google Sans" pitchFamily="34" charset="0"/>
                <a:ea typeface="Google Sans" pitchFamily="34" charset="-122"/>
                <a:cs typeface="Google Sans" pitchFamily="34" charset="-120"/>
              </a:rPr>
              <a:t>Setujui atau tolak dari satu daftar.</a:t>
            </a:r>
            <a:endParaRPr lang="en-US" sz="1050" dirty="0"/>
          </a:p>
        </p:txBody>
      </p:sp>
      <p:sp>
        <p:nvSpPr>
          <p:cNvPr id="15" name="Shape 10"/>
          <p:cNvSpPr/>
          <p:nvPr/>
        </p:nvSpPr>
        <p:spPr>
          <a:xfrm>
            <a:off x="762000" y="4191000"/>
            <a:ext cx="355600" cy="355600"/>
          </a:xfrm>
          <a:prstGeom prst="ellipse">
            <a:avLst/>
          </a:prstGeom>
          <a:solidFill>
            <a:srgbClr val="E3EDF5"/>
          </a:solidFill>
          <a:ln/>
        </p:spPr>
      </p:sp>
      <p:pic>
        <p:nvPicPr>
          <p:cNvPr id="16" name="Image 3" descr="public\icons\bell-green.png">    </p:cNvPr>
          <p:cNvPicPr>
            <a:picLocks noChangeAspect="1"/>
          </p:cNvPicPr>
          <p:nvPr/>
        </p:nvPicPr>
        <p:blipFill>
          <a:blip r:embed="rId4"/>
          <a:stretch>
            <a:fillRect/>
          </a:stretch>
        </p:blipFill>
        <p:spPr>
          <a:xfrm>
            <a:off x="838200" y="4267200"/>
            <a:ext cx="203200" cy="203200"/>
          </a:xfrm>
          <a:prstGeom prst="rect">
            <a:avLst/>
          </a:prstGeom>
        </p:spPr>
      </p:pic>
      <p:sp>
        <p:nvSpPr>
          <p:cNvPr id="17" name="Text 11"/>
          <p:cNvSpPr/>
          <p:nvPr/>
        </p:nvSpPr>
        <p:spPr>
          <a:xfrm>
            <a:off x="1270000" y="4178300"/>
            <a:ext cx="3048000" cy="228600"/>
          </a:xfrm>
          <a:prstGeom prst="rect">
            <a:avLst/>
          </a:prstGeom>
          <a:noFill/>
          <a:ln/>
        </p:spPr>
        <p:txBody>
          <a:bodyPr wrap="square" lIns="0" tIns="0" rIns="0" bIns="0" rtlCol="0" anchor="ctr"/>
          <a:lstStyle/>
          <a:p>
            <a:pPr algn="l" indent="0" marL="0">
              <a:lnSpc>
                <a:spcPts val="1400"/>
              </a:lnSpc>
              <a:buNone/>
            </a:pPr>
            <a:r>
              <a:rPr lang="en-US" sz="1400" b="1" dirty="0">
                <a:solidFill>
                  <a:srgbClr val="00171F"/>
                </a:solidFill>
                <a:latin typeface="Google Sans" pitchFamily="34" charset="0"/>
                <a:ea typeface="Google Sans" pitchFamily="34" charset="-122"/>
                <a:cs typeface="Google Sans" pitchFamily="34" charset="-120"/>
              </a:rPr>
              <a:t>Peringatan lebih awal</a:t>
            </a:r>
            <a:endParaRPr lang="en-US" sz="1400" dirty="0"/>
          </a:p>
        </p:txBody>
      </p:sp>
      <p:sp>
        <p:nvSpPr>
          <p:cNvPr id="18" name="Text 12"/>
          <p:cNvSpPr/>
          <p:nvPr/>
        </p:nvSpPr>
        <p:spPr>
          <a:xfrm>
            <a:off x="1270000" y="4445000"/>
            <a:ext cx="3048000" cy="355600"/>
          </a:xfrm>
          <a:prstGeom prst="rect">
            <a:avLst/>
          </a:prstGeom>
          <a:noFill/>
          <a:ln/>
        </p:spPr>
        <p:txBody>
          <a:bodyPr wrap="square" lIns="0" tIns="0" rIns="0" bIns="0" rtlCol="0" anchor="t"/>
          <a:lstStyle/>
          <a:p>
            <a:pPr algn="l" indent="0" marL="0">
              <a:lnSpc>
                <a:spcPts val="1370"/>
              </a:lnSpc>
              <a:buNone/>
            </a:pPr>
            <a:r>
              <a:rPr lang="en-US" sz="1050" dirty="0">
                <a:solidFill>
                  <a:srgbClr val="4B5E69"/>
                </a:solidFill>
                <a:latin typeface="Google Sans" pitchFamily="34" charset="0"/>
                <a:ea typeface="Google Sans" pitchFamily="34" charset="-122"/>
                <a:cs typeface="Google Sans" pitchFamily="34" charset="-120"/>
              </a:rPr>
              <a:t>Tagihan telat, mutu ditahan, bukti belum ada.</a:t>
            </a:r>
            <a:endParaRPr lang="en-US" sz="1050" dirty="0"/>
          </a:p>
        </p:txBody>
      </p:sp>
      <p:sp>
        <p:nvSpPr>
          <p:cNvPr id="19" name="Shape 13"/>
          <p:cNvSpPr/>
          <p:nvPr/>
        </p:nvSpPr>
        <p:spPr>
          <a:xfrm>
            <a:off x="762000" y="5156200"/>
            <a:ext cx="3556000" cy="0"/>
          </a:xfrm>
          <a:prstGeom prst="line">
            <a:avLst/>
          </a:prstGeom>
          <a:noFill/>
          <a:ln w="10160">
            <a:solidFill>
              <a:srgbClr val="D5DEE4"/>
            </a:solidFill>
            <a:prstDash val="solid"/>
          </a:ln>
        </p:spPr>
      </p:sp>
      <p:sp>
        <p:nvSpPr>
          <p:cNvPr id="20" name="Shape 14"/>
          <p:cNvSpPr/>
          <p:nvPr/>
        </p:nvSpPr>
        <p:spPr>
          <a:xfrm>
            <a:off x="762000" y="5334000"/>
            <a:ext cx="355600" cy="355600"/>
          </a:xfrm>
          <a:prstGeom prst="ellipse">
            <a:avLst/>
          </a:prstGeom>
          <a:solidFill>
            <a:srgbClr val="E3EDF5"/>
          </a:solidFill>
          <a:ln/>
        </p:spPr>
      </p:sp>
      <p:pic>
        <p:nvPicPr>
          <p:cNvPr id="21" name="Image 4" descr="public\icons\lock-green.png">    </p:cNvPr>
          <p:cNvPicPr>
            <a:picLocks noChangeAspect="1"/>
          </p:cNvPicPr>
          <p:nvPr/>
        </p:nvPicPr>
        <p:blipFill>
          <a:blip r:embed="rId5"/>
          <a:stretch>
            <a:fillRect/>
          </a:stretch>
        </p:blipFill>
        <p:spPr>
          <a:xfrm>
            <a:off x="838200" y="5410200"/>
            <a:ext cx="203200" cy="203200"/>
          </a:xfrm>
          <a:prstGeom prst="rect">
            <a:avLst/>
          </a:prstGeom>
        </p:spPr>
      </p:pic>
      <p:sp>
        <p:nvSpPr>
          <p:cNvPr id="22" name="Text 15"/>
          <p:cNvSpPr/>
          <p:nvPr/>
        </p:nvSpPr>
        <p:spPr>
          <a:xfrm>
            <a:off x="1270000" y="5308600"/>
            <a:ext cx="3048000" cy="533400"/>
          </a:xfrm>
          <a:prstGeom prst="rect">
            <a:avLst/>
          </a:prstGeom>
          <a:noFill/>
          <a:ln/>
        </p:spPr>
        <p:txBody>
          <a:bodyPr wrap="square" lIns="0" tIns="0" rIns="0" bIns="0" rtlCol="0" anchor="ctr"/>
          <a:lstStyle/>
          <a:p>
            <a:pPr algn="l" indent="0" marL="0">
              <a:lnSpc>
                <a:spcPts val="1400"/>
              </a:lnSpc>
              <a:buNone/>
            </a:pPr>
            <a:r>
              <a:rPr lang="en-US" sz="1000" dirty="0">
                <a:solidFill>
                  <a:srgbClr val="4B5E69"/>
                </a:solidFill>
                <a:latin typeface="Google Sans" pitchFamily="34" charset="0"/>
                <a:ea typeface="Google Sans" pitchFamily="34" charset="-122"/>
                <a:cs typeface="Google Sans" pitchFamily="34" charset="-120"/>
              </a:rPr>
              <a:t>Akses per peran: Owner, Pembelian, Gudang, Keuangan. Tiap orang hanya melihat tugasnya.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B"/>
        </a:solidFill>
      </p:bgPr>
    </p:bg>
    <p:spTree>
      <p:nvGrpSpPr>
        <p:cNvPr id="1" name=""/>
        <p:cNvGrpSpPr/>
        <p:nvPr/>
      </p:nvGrpSpPr>
      <p:grpSpPr>
        <a:xfrm>
          <a:off x="0" y="0"/>
          <a:ext cx="0" cy="0"/>
          <a:chOff x="0" y="0"/>
          <a:chExt cx="0" cy="0"/>
        </a:xfrm>
      </p:grpSpPr>
      <p:pic>
        <p:nvPicPr>
          <p:cNvPr id="2" name="Image 0" descr="public\shots\phone-home.png">    </p:cNvPr>
          <p:cNvPicPr>
            <a:picLocks noChangeAspect="1"/>
          </p:cNvPicPr>
          <p:nvPr/>
        </p:nvPicPr>
        <p:blipFill>
          <a:blip r:embed="rId1"/>
          <a:stretch>
            <a:fillRect/>
          </a:stretch>
        </p:blipFill>
        <p:spPr>
          <a:xfrm>
            <a:off x="5074444" y="1454944"/>
            <a:ext cx="2326351" cy="4583111"/>
          </a:xfrm>
          <a:prstGeom prst="rect">
            <a:avLst/>
          </a:prstGeom>
        </p:spPr>
      </p:pic>
      <p:pic>
        <p:nvPicPr>
          <p:cNvPr id="3" name="Image 1" descr="public\shots\phone-modul.png">    </p:cNvPr>
          <p:cNvPicPr>
            <a:picLocks noChangeAspect="1"/>
          </p:cNvPicPr>
          <p:nvPr/>
        </p:nvPicPr>
        <p:blipFill>
          <a:blip r:embed="rId2"/>
          <a:stretch>
            <a:fillRect/>
          </a:stretch>
        </p:blipFill>
        <p:spPr>
          <a:xfrm>
            <a:off x="8852694" y="1454944"/>
            <a:ext cx="2326351" cy="4583111"/>
          </a:xfrm>
          <a:prstGeom prst="rect">
            <a:avLst/>
          </a:prstGeom>
        </p:spPr>
      </p:pic>
      <p:pic>
        <p:nvPicPr>
          <p:cNvPr id="4" name="Image 2" descr="public\shots\phone-approve.png">    </p:cNvPr>
          <p:cNvPicPr>
            <a:picLocks noChangeAspect="1"/>
          </p:cNvPicPr>
          <p:nvPr/>
        </p:nvPicPr>
        <p:blipFill>
          <a:blip r:embed="rId3"/>
          <a:stretch>
            <a:fillRect/>
          </a:stretch>
        </p:blipFill>
        <p:spPr>
          <a:xfrm>
            <a:off x="6794851" y="1117951"/>
            <a:ext cx="2668462" cy="5257098"/>
          </a:xfrm>
          <a:prstGeom prst="rect">
            <a:avLst/>
          </a:prstGeom>
        </p:spPr>
      </p:pic>
      <p:sp>
        <p:nvSpPr>
          <p:cNvPr id="5" name="Text 0"/>
          <p:cNvSpPr/>
          <p:nvPr/>
        </p:nvSpPr>
        <p:spPr>
          <a:xfrm>
            <a:off x="762000" y="533400"/>
            <a:ext cx="5715000" cy="190500"/>
          </a:xfrm>
          <a:prstGeom prst="rect">
            <a:avLst/>
          </a:prstGeom>
          <a:noFill/>
          <a:ln/>
        </p:spPr>
        <p:txBody>
          <a:bodyPr wrap="square" lIns="0" tIns="0" rIns="0" bIns="0" rtlCol="0" anchor="ctr"/>
          <a:lstStyle/>
          <a:p>
            <a:pPr algn="l" indent="0" marL="0">
              <a:lnSpc>
                <a:spcPts val="1100"/>
              </a:lnSpc>
              <a:buNone/>
            </a:pPr>
            <a:r>
              <a:rPr lang="en-US" sz="1100" dirty="0">
                <a:solidFill>
                  <a:srgbClr val="003459"/>
                </a:solidFill>
                <a:latin typeface="Google Sans SemiBold" pitchFamily="34" charset="0"/>
                <a:ea typeface="Google Sans SemiBold" pitchFamily="34" charset="-122"/>
                <a:cs typeface="Google Sans SemiBold" pitchFamily="34" charset="-120"/>
              </a:rPr>
              <a:t>Di ponsel</a:t>
            </a:r>
            <a:endParaRPr lang="en-US" sz="1100" dirty="0"/>
          </a:p>
        </p:txBody>
      </p:sp>
      <p:sp>
        <p:nvSpPr>
          <p:cNvPr id="6" name="Text 1"/>
          <p:cNvSpPr/>
          <p:nvPr/>
        </p:nvSpPr>
        <p:spPr>
          <a:xfrm>
            <a:off x="762000" y="800100"/>
            <a:ext cx="3810000" cy="1333500"/>
          </a:xfrm>
          <a:prstGeom prst="rect">
            <a:avLst/>
          </a:prstGeom>
          <a:noFill/>
          <a:ln/>
        </p:spPr>
        <p:txBody>
          <a:bodyPr wrap="square" lIns="0" tIns="0" rIns="0" bIns="0" rtlCol="0" anchor="t"/>
          <a:lstStyle/>
          <a:p>
            <a:pPr algn="l" indent="0" marL="0">
              <a:lnSpc>
                <a:spcPts val="3180"/>
              </a:lnSpc>
              <a:buNone/>
            </a:pPr>
            <a:r>
              <a:rPr lang="en-US" sz="3000" b="1" dirty="0">
                <a:solidFill>
                  <a:srgbClr val="00171F"/>
                </a:solidFill>
                <a:latin typeface="Google Sans" pitchFamily="34" charset="0"/>
                <a:ea typeface="Google Sans" pitchFamily="34" charset="-122"/>
                <a:cs typeface="Google Sans" pitchFamily="34" charset="-120"/>
              </a:rPr>
              <a:t>Putuskan dari mana saja</a:t>
            </a:r>
            <a:endParaRPr lang="en-US" sz="3000" dirty="0"/>
          </a:p>
        </p:txBody>
      </p:sp>
      <p:sp>
        <p:nvSpPr>
          <p:cNvPr id="7" name="Text 2"/>
          <p:cNvSpPr/>
          <p:nvPr/>
        </p:nvSpPr>
        <p:spPr>
          <a:xfrm>
            <a:off x="762000" y="6502400"/>
            <a:ext cx="7620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Contoh tampilan, data contoh</a:t>
            </a:r>
            <a:endParaRPr lang="en-US" sz="800" dirty="0"/>
          </a:p>
        </p:txBody>
      </p:sp>
      <p:sp>
        <p:nvSpPr>
          <p:cNvPr id="8" name="Text 3"/>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10 / 15</a:t>
            </a:r>
            <a:endParaRPr lang="en-US" sz="800" dirty="0"/>
          </a:p>
        </p:txBody>
      </p:sp>
      <p:sp>
        <p:nvSpPr>
          <p:cNvPr id="9" name="Shape 4"/>
          <p:cNvSpPr/>
          <p:nvPr/>
        </p:nvSpPr>
        <p:spPr>
          <a:xfrm>
            <a:off x="762000" y="2540000"/>
            <a:ext cx="355600" cy="355600"/>
          </a:xfrm>
          <a:prstGeom prst="ellipse">
            <a:avLst/>
          </a:prstGeom>
          <a:solidFill>
            <a:srgbClr val="E3EDF5"/>
          </a:solidFill>
          <a:ln/>
        </p:spPr>
      </p:sp>
      <p:pic>
        <p:nvPicPr>
          <p:cNvPr id="10" name="Image 3" descr="public\icons\smartphone-green.png">    </p:cNvPr>
          <p:cNvPicPr>
            <a:picLocks noChangeAspect="1"/>
          </p:cNvPicPr>
          <p:nvPr/>
        </p:nvPicPr>
        <p:blipFill>
          <a:blip r:embed="rId4"/>
          <a:stretch>
            <a:fillRect/>
          </a:stretch>
        </p:blipFill>
        <p:spPr>
          <a:xfrm>
            <a:off x="838200" y="2616200"/>
            <a:ext cx="203200" cy="203200"/>
          </a:xfrm>
          <a:prstGeom prst="rect">
            <a:avLst/>
          </a:prstGeom>
        </p:spPr>
      </p:pic>
      <p:sp>
        <p:nvSpPr>
          <p:cNvPr id="11" name="Text 5"/>
          <p:cNvSpPr/>
          <p:nvPr/>
        </p:nvSpPr>
        <p:spPr>
          <a:xfrm>
            <a:off x="1270000" y="2527300"/>
            <a:ext cx="3048000" cy="228600"/>
          </a:xfrm>
          <a:prstGeom prst="rect">
            <a:avLst/>
          </a:prstGeom>
          <a:noFill/>
          <a:ln/>
        </p:spPr>
        <p:txBody>
          <a:bodyPr wrap="square" lIns="0" tIns="0" rIns="0" bIns="0" rtlCol="0" anchor="ctr"/>
          <a:lstStyle/>
          <a:p>
            <a:pPr algn="l" indent="0" marL="0">
              <a:lnSpc>
                <a:spcPts val="1400"/>
              </a:lnSpc>
              <a:buNone/>
            </a:pPr>
            <a:r>
              <a:rPr lang="en-US" sz="1400" b="1" dirty="0">
                <a:solidFill>
                  <a:srgbClr val="00171F"/>
                </a:solidFill>
                <a:latin typeface="Google Sans" pitchFamily="34" charset="0"/>
                <a:ea typeface="Google Sans" pitchFamily="34" charset="-122"/>
                <a:cs typeface="Google Sans" pitchFamily="34" charset="-120"/>
              </a:rPr>
              <a:t>Satu ketukan</a:t>
            </a:r>
            <a:endParaRPr lang="en-US" sz="1400" dirty="0"/>
          </a:p>
        </p:txBody>
      </p:sp>
      <p:sp>
        <p:nvSpPr>
          <p:cNvPr id="12" name="Text 6"/>
          <p:cNvSpPr/>
          <p:nvPr/>
        </p:nvSpPr>
        <p:spPr>
          <a:xfrm>
            <a:off x="1270000" y="2794000"/>
            <a:ext cx="2794000" cy="355600"/>
          </a:xfrm>
          <a:prstGeom prst="rect">
            <a:avLst/>
          </a:prstGeom>
          <a:noFill/>
          <a:ln/>
        </p:spPr>
        <p:txBody>
          <a:bodyPr wrap="square" lIns="0" tIns="0" rIns="0" bIns="0" rtlCol="0" anchor="t"/>
          <a:lstStyle/>
          <a:p>
            <a:pPr algn="l" indent="0" marL="0">
              <a:lnSpc>
                <a:spcPts val="1370"/>
              </a:lnSpc>
              <a:buNone/>
            </a:pPr>
            <a:r>
              <a:rPr lang="en-US" sz="1050" dirty="0">
                <a:solidFill>
                  <a:srgbClr val="4B5E69"/>
                </a:solidFill>
                <a:latin typeface="Google Sans" pitchFamily="34" charset="0"/>
                <a:ea typeface="Google Sans" pitchFamily="34" charset="-122"/>
                <a:cs typeface="Google Sans" pitchFamily="34" charset="-120"/>
              </a:rPr>
              <a:t>Setujui pembelian dan biaya, langsung tercatat.</a:t>
            </a:r>
            <a:endParaRPr lang="en-US" sz="1050" dirty="0"/>
          </a:p>
        </p:txBody>
      </p:sp>
      <p:sp>
        <p:nvSpPr>
          <p:cNvPr id="13" name="Shape 7"/>
          <p:cNvSpPr/>
          <p:nvPr/>
        </p:nvSpPr>
        <p:spPr>
          <a:xfrm>
            <a:off x="762000" y="3365500"/>
            <a:ext cx="355600" cy="355600"/>
          </a:xfrm>
          <a:prstGeom prst="ellipse">
            <a:avLst/>
          </a:prstGeom>
          <a:solidFill>
            <a:srgbClr val="E3EDF5"/>
          </a:solidFill>
          <a:ln/>
        </p:spPr>
      </p:sp>
      <p:pic>
        <p:nvPicPr>
          <p:cNvPr id="14" name="Image 4" descr="public\icons\bell-green.png">    </p:cNvPr>
          <p:cNvPicPr>
            <a:picLocks noChangeAspect="1"/>
          </p:cNvPicPr>
          <p:nvPr/>
        </p:nvPicPr>
        <p:blipFill>
          <a:blip r:embed="rId5"/>
          <a:stretch>
            <a:fillRect/>
          </a:stretch>
        </p:blipFill>
        <p:spPr>
          <a:xfrm>
            <a:off x="838200" y="3441700"/>
            <a:ext cx="203200" cy="203200"/>
          </a:xfrm>
          <a:prstGeom prst="rect">
            <a:avLst/>
          </a:prstGeom>
        </p:spPr>
      </p:pic>
      <p:sp>
        <p:nvSpPr>
          <p:cNvPr id="15" name="Text 8"/>
          <p:cNvSpPr/>
          <p:nvPr/>
        </p:nvSpPr>
        <p:spPr>
          <a:xfrm>
            <a:off x="1270000" y="3352800"/>
            <a:ext cx="3048000" cy="228600"/>
          </a:xfrm>
          <a:prstGeom prst="rect">
            <a:avLst/>
          </a:prstGeom>
          <a:noFill/>
          <a:ln/>
        </p:spPr>
        <p:txBody>
          <a:bodyPr wrap="square" lIns="0" tIns="0" rIns="0" bIns="0" rtlCol="0" anchor="ctr"/>
          <a:lstStyle/>
          <a:p>
            <a:pPr algn="l" indent="0" marL="0">
              <a:lnSpc>
                <a:spcPts val="1400"/>
              </a:lnSpc>
              <a:buNone/>
            </a:pPr>
            <a:r>
              <a:rPr lang="en-US" sz="1400" b="1" dirty="0">
                <a:solidFill>
                  <a:srgbClr val="00171F"/>
                </a:solidFill>
                <a:latin typeface="Google Sans" pitchFamily="34" charset="0"/>
                <a:ea typeface="Google Sans" pitchFamily="34" charset="-122"/>
                <a:cs typeface="Google Sans" pitchFamily="34" charset="-120"/>
              </a:rPr>
              <a:t>Peringatan langsung</a:t>
            </a:r>
            <a:endParaRPr lang="en-US" sz="1400" dirty="0"/>
          </a:p>
        </p:txBody>
      </p:sp>
      <p:sp>
        <p:nvSpPr>
          <p:cNvPr id="16" name="Text 9"/>
          <p:cNvSpPr/>
          <p:nvPr/>
        </p:nvSpPr>
        <p:spPr>
          <a:xfrm>
            <a:off x="1270000" y="3619500"/>
            <a:ext cx="2794000" cy="355600"/>
          </a:xfrm>
          <a:prstGeom prst="rect">
            <a:avLst/>
          </a:prstGeom>
          <a:noFill/>
          <a:ln/>
        </p:spPr>
        <p:txBody>
          <a:bodyPr wrap="square" lIns="0" tIns="0" rIns="0" bIns="0" rtlCol="0" anchor="t"/>
          <a:lstStyle/>
          <a:p>
            <a:pPr algn="l" indent="0" marL="0">
              <a:lnSpc>
                <a:spcPts val="1370"/>
              </a:lnSpc>
              <a:buNone/>
            </a:pPr>
            <a:r>
              <a:rPr lang="en-US" sz="1050" dirty="0">
                <a:solidFill>
                  <a:srgbClr val="4B5E69"/>
                </a:solidFill>
                <a:latin typeface="Google Sans" pitchFamily="34" charset="0"/>
                <a:ea typeface="Google Sans" pitchFamily="34" charset="-122"/>
                <a:cs typeface="Google Sans" pitchFamily="34" charset="-120"/>
              </a:rPr>
              <a:t>Tagihan telat dan mutu ditahan muncul di Beranda.</a:t>
            </a:r>
            <a:endParaRPr lang="en-US" sz="1050" dirty="0"/>
          </a:p>
        </p:txBody>
      </p:sp>
      <p:sp>
        <p:nvSpPr>
          <p:cNvPr id="17" name="Shape 10"/>
          <p:cNvSpPr/>
          <p:nvPr/>
        </p:nvSpPr>
        <p:spPr>
          <a:xfrm>
            <a:off x="762000" y="4445000"/>
            <a:ext cx="3302000" cy="609600"/>
          </a:xfrm>
          <a:prstGeom prst="roundRect">
            <a:avLst>
              <a:gd name="adj" fmla="val 25000"/>
            </a:avLst>
          </a:prstGeom>
          <a:solidFill>
            <a:srgbClr val="E3EDF5"/>
          </a:solidFill>
          <a:ln/>
        </p:spPr>
      </p:sp>
      <p:pic>
        <p:nvPicPr>
          <p:cNvPr id="18" name="Image 5" descr="public\icons\monitor-green.png">    </p:cNvPr>
          <p:cNvPicPr>
            <a:picLocks noChangeAspect="1"/>
          </p:cNvPicPr>
          <p:nvPr/>
        </p:nvPicPr>
        <p:blipFill>
          <a:blip r:embed="rId6"/>
          <a:stretch>
            <a:fillRect/>
          </a:stretch>
        </p:blipFill>
        <p:spPr>
          <a:xfrm>
            <a:off x="939800" y="4622800"/>
            <a:ext cx="254000" cy="254000"/>
          </a:xfrm>
          <a:prstGeom prst="rect">
            <a:avLst/>
          </a:prstGeom>
        </p:spPr>
      </p:pic>
      <p:sp>
        <p:nvSpPr>
          <p:cNvPr id="19" name="Text 11"/>
          <p:cNvSpPr/>
          <p:nvPr/>
        </p:nvSpPr>
        <p:spPr>
          <a:xfrm>
            <a:off x="1320800" y="4445000"/>
            <a:ext cx="2603500" cy="609600"/>
          </a:xfrm>
          <a:prstGeom prst="rect">
            <a:avLst/>
          </a:prstGeom>
          <a:noFill/>
          <a:ln/>
        </p:spPr>
        <p:txBody>
          <a:bodyPr wrap="square" lIns="0" tIns="0" rIns="0" bIns="0" rtlCol="0" anchor="ctr"/>
          <a:lstStyle/>
          <a:p>
            <a:pPr algn="l" indent="0" marL="0">
              <a:lnSpc>
                <a:spcPts val="1430"/>
              </a:lnSpc>
              <a:buNone/>
            </a:pPr>
            <a:r>
              <a:rPr lang="en-US" sz="1100" dirty="0">
                <a:solidFill>
                  <a:srgbClr val="003459"/>
                </a:solidFill>
                <a:latin typeface="Google Sans SemiBold" pitchFamily="34" charset="0"/>
                <a:ea typeface="Google Sans SemiBold" pitchFamily="34" charset="-122"/>
                <a:cs typeface="Google Sans SemiBold" pitchFamily="34" charset="-120"/>
              </a:rPr>
              <a:t>Coba demo interaktif:</a:t>
            </a:r>
            <a:endParaRPr lang="en-US" sz="1100" dirty="0"/>
          </a:p>
          <a:p>
            <a:pPr algn="l" indent="0" marL="0">
              <a:lnSpc>
                <a:spcPts val="1430"/>
              </a:lnSpc>
              <a:buNone/>
            </a:pPr>
            <a:r>
              <a:rPr lang="en-US" sz="1100" dirty="0">
                <a:solidFill>
                  <a:srgbClr val="003459"/>
                </a:solidFill>
                <a:latin typeface="Google Sans SemiBold" pitchFamily="34" charset="0"/>
                <a:ea typeface="Google Sans SemiBold" pitchFamily="34" charset="-122"/>
                <a:cs typeface="Google Sans SemiBold" pitchFamily="34" charset="-120"/>
              </a:rPr>
              <a:t>buka /demo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B"/>
        </a:solidFill>
      </p:bgPr>
    </p:bg>
    <p:spTree>
      <p:nvGrpSpPr>
        <p:cNvPr id="1" name=""/>
        <p:cNvGrpSpPr/>
        <p:nvPr/>
      </p:nvGrpSpPr>
      <p:grpSpPr>
        <a:xfrm>
          <a:off x="0" y="0"/>
          <a:ext cx="0" cy="0"/>
          <a:chOff x="0" y="0"/>
          <a:chExt cx="0" cy="0"/>
        </a:xfrm>
      </p:grpSpPr>
      <p:sp>
        <p:nvSpPr>
          <p:cNvPr id="2" name="Text 0"/>
          <p:cNvSpPr/>
          <p:nvPr/>
        </p:nvSpPr>
        <p:spPr>
          <a:xfrm>
            <a:off x="762000" y="533400"/>
            <a:ext cx="5715000" cy="190500"/>
          </a:xfrm>
          <a:prstGeom prst="rect">
            <a:avLst/>
          </a:prstGeom>
          <a:noFill/>
          <a:ln/>
        </p:spPr>
        <p:txBody>
          <a:bodyPr wrap="square" lIns="0" tIns="0" rIns="0" bIns="0" rtlCol="0" anchor="ctr"/>
          <a:lstStyle/>
          <a:p>
            <a:pPr algn="l" indent="0" marL="0">
              <a:lnSpc>
                <a:spcPts val="1100"/>
              </a:lnSpc>
              <a:buNone/>
            </a:pPr>
            <a:r>
              <a:rPr lang="en-US" sz="1100" dirty="0">
                <a:solidFill>
                  <a:srgbClr val="003459"/>
                </a:solidFill>
                <a:latin typeface="Google Sans SemiBold" pitchFamily="34" charset="0"/>
                <a:ea typeface="Google Sans SemiBold" pitchFamily="34" charset="-122"/>
                <a:cs typeface="Google Sans SemiBold" pitchFamily="34" charset="-120"/>
              </a:rPr>
              <a:t>Peran dan cara kerja</a:t>
            </a:r>
            <a:endParaRPr lang="en-US" sz="1100" dirty="0"/>
          </a:p>
        </p:txBody>
      </p:sp>
      <p:sp>
        <p:nvSpPr>
          <p:cNvPr id="3" name="Text 1"/>
          <p:cNvSpPr/>
          <p:nvPr/>
        </p:nvSpPr>
        <p:spPr>
          <a:xfrm>
            <a:off x="762000" y="800100"/>
            <a:ext cx="5715000" cy="482600"/>
          </a:xfrm>
          <a:prstGeom prst="rect">
            <a:avLst/>
          </a:prstGeom>
          <a:noFill/>
          <a:ln/>
        </p:spPr>
        <p:txBody>
          <a:bodyPr wrap="square" lIns="0" tIns="0" rIns="0" bIns="0" rtlCol="0" anchor="t"/>
          <a:lstStyle/>
          <a:p>
            <a:pPr algn="l" indent="0" marL="0">
              <a:lnSpc>
                <a:spcPts val="3180"/>
              </a:lnSpc>
              <a:buNone/>
            </a:pPr>
            <a:r>
              <a:rPr lang="en-US" sz="3000" b="1" dirty="0">
                <a:solidFill>
                  <a:srgbClr val="00171F"/>
                </a:solidFill>
                <a:latin typeface="Google Sans" pitchFamily="34" charset="0"/>
                <a:ea typeface="Google Sans" pitchFamily="34" charset="-122"/>
                <a:cs typeface="Google Sans" pitchFamily="34" charset="-120"/>
              </a:rPr>
              <a:t>Siapa mengerjakan apa</a:t>
            </a:r>
            <a:endParaRPr lang="en-US" sz="3000" dirty="0"/>
          </a:p>
        </p:txBody>
      </p:sp>
      <p:sp>
        <p:nvSpPr>
          <p:cNvPr id="4" name="Text 2"/>
          <p:cNvSpPr/>
          <p:nvPr/>
        </p:nvSpPr>
        <p:spPr>
          <a:xfrm>
            <a:off x="6350000" y="800100"/>
            <a:ext cx="5080000" cy="482600"/>
          </a:xfrm>
          <a:prstGeom prst="rect">
            <a:avLst/>
          </a:prstGeom>
          <a:noFill/>
          <a:ln/>
        </p:spPr>
        <p:txBody>
          <a:bodyPr wrap="square" lIns="0" tIns="0" rIns="0" bIns="0" rtlCol="0" anchor="ctr"/>
          <a:lstStyle/>
          <a:p>
            <a:pPr algn="r" indent="0" marL="0">
              <a:lnSpc>
                <a:spcPts val="1560"/>
              </a:lnSpc>
              <a:buNone/>
            </a:pPr>
            <a:r>
              <a:rPr lang="en-US" sz="1200" dirty="0">
                <a:solidFill>
                  <a:srgbClr val="4B5E69"/>
                </a:solidFill>
                <a:latin typeface="Google Sans" pitchFamily="34" charset="0"/>
                <a:ea typeface="Google Sans" pitchFamily="34" charset="-122"/>
                <a:cs typeface="Google Sans" pitchFamily="34" charset="-120"/>
              </a:rPr>
              <a:t>Tombol yang bukan tugasnya otomatis terkunci.</a:t>
            </a:r>
            <a:endParaRPr lang="en-US" sz="1200" dirty="0"/>
          </a:p>
        </p:txBody>
      </p:sp>
      <p:sp>
        <p:nvSpPr>
          <p:cNvPr id="5" name="Shape 3"/>
          <p:cNvSpPr/>
          <p:nvPr/>
        </p:nvSpPr>
        <p:spPr>
          <a:xfrm>
            <a:off x="762000" y="1524000"/>
            <a:ext cx="2552700" cy="2667000"/>
          </a:xfrm>
          <a:prstGeom prst="roundRect">
            <a:avLst>
              <a:gd name="adj" fmla="val 6965"/>
            </a:avLst>
          </a:prstGeom>
          <a:solidFill>
            <a:srgbClr val="FFFFFF"/>
          </a:solidFill>
          <a:ln w="10160">
            <a:solidFill>
              <a:srgbClr val="D5DEE4"/>
            </a:solidFill>
            <a:prstDash val="solid"/>
          </a:ln>
        </p:spPr>
      </p:sp>
      <p:sp>
        <p:nvSpPr>
          <p:cNvPr id="6" name="Shape 4"/>
          <p:cNvSpPr/>
          <p:nvPr/>
        </p:nvSpPr>
        <p:spPr>
          <a:xfrm>
            <a:off x="939800" y="1701800"/>
            <a:ext cx="406400" cy="406400"/>
          </a:xfrm>
          <a:prstGeom prst="ellipse">
            <a:avLst/>
          </a:prstGeom>
          <a:solidFill>
            <a:srgbClr val="00171F"/>
          </a:solidFill>
          <a:ln/>
        </p:spPr>
      </p:sp>
      <p:pic>
        <p:nvPicPr>
          <p:cNvPr id="7" name="Image 0" descr="public\icons\layout-dashboard-white.png">    </p:cNvPr>
          <p:cNvPicPr>
            <a:picLocks noChangeAspect="1"/>
          </p:cNvPicPr>
          <p:nvPr/>
        </p:nvPicPr>
        <p:blipFill>
          <a:blip r:embed="rId1"/>
          <a:stretch>
            <a:fillRect/>
          </a:stretch>
        </p:blipFill>
        <p:spPr>
          <a:xfrm>
            <a:off x="1041400" y="1803400"/>
            <a:ext cx="203200" cy="203200"/>
          </a:xfrm>
          <a:prstGeom prst="rect">
            <a:avLst/>
          </a:prstGeom>
        </p:spPr>
      </p:pic>
      <p:sp>
        <p:nvSpPr>
          <p:cNvPr id="8" name="Text 5"/>
          <p:cNvSpPr/>
          <p:nvPr/>
        </p:nvSpPr>
        <p:spPr>
          <a:xfrm>
            <a:off x="1447800" y="1689100"/>
            <a:ext cx="1727200" cy="254000"/>
          </a:xfrm>
          <a:prstGeom prst="rect">
            <a:avLst/>
          </a:prstGeom>
          <a:noFill/>
          <a:ln/>
        </p:spPr>
        <p:txBody>
          <a:bodyPr wrap="square" lIns="0" tIns="0" rIns="0" bIns="0" rtlCol="0" anchor="ctr"/>
          <a:lstStyle/>
          <a:p>
            <a:pPr algn="l" indent="0" marL="0">
              <a:lnSpc>
                <a:spcPts val="1600"/>
              </a:lnSpc>
              <a:buNone/>
            </a:pPr>
            <a:r>
              <a:rPr lang="en-US" sz="1600" b="1" dirty="0">
                <a:solidFill>
                  <a:srgbClr val="00171F"/>
                </a:solidFill>
                <a:latin typeface="Google Sans" pitchFamily="34" charset="0"/>
                <a:ea typeface="Google Sans" pitchFamily="34" charset="-122"/>
                <a:cs typeface="Google Sans" pitchFamily="34" charset="-120"/>
              </a:rPr>
              <a:t>Owner</a:t>
            </a:r>
            <a:endParaRPr lang="en-US" sz="1600" dirty="0"/>
          </a:p>
        </p:txBody>
      </p:sp>
      <p:sp>
        <p:nvSpPr>
          <p:cNvPr id="9" name="Text 6"/>
          <p:cNvSpPr/>
          <p:nvPr/>
        </p:nvSpPr>
        <p:spPr>
          <a:xfrm>
            <a:off x="1447800" y="1943100"/>
            <a:ext cx="1727200" cy="1778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pitchFamily="34" charset="0"/>
                <a:ea typeface="Google Sans" pitchFamily="34" charset="-122"/>
                <a:cs typeface="Google Sans" pitchFamily="34" charset="-120"/>
              </a:rPr>
              <a:t>Memantau dan memutuskan</a:t>
            </a:r>
            <a:endParaRPr lang="en-US" sz="900" dirty="0"/>
          </a:p>
        </p:txBody>
      </p:sp>
      <p:sp>
        <p:nvSpPr>
          <p:cNvPr id="10" name="Shape 7"/>
          <p:cNvSpPr/>
          <p:nvPr/>
        </p:nvSpPr>
        <p:spPr>
          <a:xfrm>
            <a:off x="939800" y="2260600"/>
            <a:ext cx="2197100" cy="0"/>
          </a:xfrm>
          <a:prstGeom prst="line">
            <a:avLst/>
          </a:prstGeom>
          <a:noFill/>
          <a:ln w="10160">
            <a:solidFill>
              <a:srgbClr val="D5DEE4"/>
            </a:solidFill>
            <a:prstDash val="solid"/>
          </a:ln>
        </p:spPr>
      </p:sp>
      <p:pic>
        <p:nvPicPr>
          <p:cNvPr id="11" name="Image 1" descr="public\icons\check-mint.png">    </p:cNvPr>
          <p:cNvPicPr>
            <a:picLocks noChangeAspect="1"/>
          </p:cNvPicPr>
          <p:nvPr/>
        </p:nvPicPr>
        <p:blipFill>
          <a:blip r:embed="rId2"/>
          <a:stretch>
            <a:fillRect/>
          </a:stretch>
        </p:blipFill>
        <p:spPr>
          <a:xfrm>
            <a:off x="939800" y="2425700"/>
            <a:ext cx="165100" cy="165100"/>
          </a:xfrm>
          <a:prstGeom prst="rect">
            <a:avLst/>
          </a:prstGeom>
        </p:spPr>
      </p:pic>
      <p:sp>
        <p:nvSpPr>
          <p:cNvPr id="12" name="Text 8"/>
          <p:cNvSpPr/>
          <p:nvPr/>
        </p:nvSpPr>
        <p:spPr>
          <a:xfrm>
            <a:off x="1181100" y="23749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Lihat dashboard dan semua laporan</a:t>
            </a:r>
            <a:endParaRPr lang="en-US" sz="1050" dirty="0"/>
          </a:p>
        </p:txBody>
      </p:sp>
      <p:pic>
        <p:nvPicPr>
          <p:cNvPr id="13" name="Image 2" descr="public\icons\check-mint.png">    </p:cNvPr>
          <p:cNvPicPr>
            <a:picLocks noChangeAspect="1"/>
          </p:cNvPicPr>
          <p:nvPr/>
        </p:nvPicPr>
        <p:blipFill>
          <a:blip r:embed="rId3"/>
          <a:stretch>
            <a:fillRect/>
          </a:stretch>
        </p:blipFill>
        <p:spPr>
          <a:xfrm>
            <a:off x="939800" y="2857500"/>
            <a:ext cx="165100" cy="165100"/>
          </a:xfrm>
          <a:prstGeom prst="rect">
            <a:avLst/>
          </a:prstGeom>
        </p:spPr>
      </p:pic>
      <p:sp>
        <p:nvSpPr>
          <p:cNvPr id="14" name="Text 9"/>
          <p:cNvSpPr/>
          <p:nvPr/>
        </p:nvSpPr>
        <p:spPr>
          <a:xfrm>
            <a:off x="1181100" y="28067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Setujui atau tolak pembelian dan biaya</a:t>
            </a:r>
            <a:endParaRPr lang="en-US" sz="1050" dirty="0"/>
          </a:p>
        </p:txBody>
      </p:sp>
      <p:pic>
        <p:nvPicPr>
          <p:cNvPr id="15" name="Image 3" descr="public\icons\check-mint.png">    </p:cNvPr>
          <p:cNvPicPr>
            <a:picLocks noChangeAspect="1"/>
          </p:cNvPicPr>
          <p:nvPr/>
        </p:nvPicPr>
        <p:blipFill>
          <a:blip r:embed="rId4"/>
          <a:stretch>
            <a:fillRect/>
          </a:stretch>
        </p:blipFill>
        <p:spPr>
          <a:xfrm>
            <a:off x="939800" y="3289300"/>
            <a:ext cx="165100" cy="165100"/>
          </a:xfrm>
          <a:prstGeom prst="rect">
            <a:avLst/>
          </a:prstGeom>
        </p:spPr>
      </p:pic>
      <p:sp>
        <p:nvSpPr>
          <p:cNvPr id="16" name="Text 10"/>
          <p:cNvSpPr/>
          <p:nvPr/>
        </p:nvSpPr>
        <p:spPr>
          <a:xfrm>
            <a:off x="1181100" y="32385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Setujui koreksi stok</a:t>
            </a:r>
            <a:endParaRPr lang="en-US" sz="1050" dirty="0"/>
          </a:p>
        </p:txBody>
      </p:sp>
      <p:pic>
        <p:nvPicPr>
          <p:cNvPr id="17" name="Image 4" descr="public\icons\check-mint.png">    </p:cNvPr>
          <p:cNvPicPr>
            <a:picLocks noChangeAspect="1"/>
          </p:cNvPicPr>
          <p:nvPr/>
        </p:nvPicPr>
        <p:blipFill>
          <a:blip r:embed="rId5"/>
          <a:stretch>
            <a:fillRect/>
          </a:stretch>
        </p:blipFill>
        <p:spPr>
          <a:xfrm>
            <a:off x="939800" y="3721100"/>
            <a:ext cx="165100" cy="165100"/>
          </a:xfrm>
          <a:prstGeom prst="rect">
            <a:avLst/>
          </a:prstGeom>
        </p:spPr>
      </p:pic>
      <p:sp>
        <p:nvSpPr>
          <p:cNvPr id="18" name="Text 11"/>
          <p:cNvSpPr/>
          <p:nvPr/>
        </p:nvSpPr>
        <p:spPr>
          <a:xfrm>
            <a:off x="1181100" y="36703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Buka kembali buku yang sudah ditutup</a:t>
            </a:r>
            <a:endParaRPr lang="en-US" sz="1050" dirty="0"/>
          </a:p>
        </p:txBody>
      </p:sp>
      <p:sp>
        <p:nvSpPr>
          <p:cNvPr id="19" name="Shape 12"/>
          <p:cNvSpPr/>
          <p:nvPr/>
        </p:nvSpPr>
        <p:spPr>
          <a:xfrm>
            <a:off x="3467100" y="1524000"/>
            <a:ext cx="2552700" cy="2667000"/>
          </a:xfrm>
          <a:prstGeom prst="roundRect">
            <a:avLst>
              <a:gd name="adj" fmla="val 6965"/>
            </a:avLst>
          </a:prstGeom>
          <a:solidFill>
            <a:srgbClr val="FFFFFF"/>
          </a:solidFill>
          <a:ln w="10160">
            <a:solidFill>
              <a:srgbClr val="D5DEE4"/>
            </a:solidFill>
            <a:prstDash val="solid"/>
          </a:ln>
        </p:spPr>
      </p:sp>
      <p:sp>
        <p:nvSpPr>
          <p:cNvPr id="20" name="Shape 13"/>
          <p:cNvSpPr/>
          <p:nvPr/>
        </p:nvSpPr>
        <p:spPr>
          <a:xfrm>
            <a:off x="3644900" y="1701800"/>
            <a:ext cx="406400" cy="406400"/>
          </a:xfrm>
          <a:prstGeom prst="ellipse">
            <a:avLst/>
          </a:prstGeom>
          <a:solidFill>
            <a:srgbClr val="003459"/>
          </a:solidFill>
          <a:ln/>
        </p:spPr>
      </p:sp>
      <p:pic>
        <p:nvPicPr>
          <p:cNvPr id="21" name="Image 5" descr="public\icons\shopping-cart-white.png">    </p:cNvPr>
          <p:cNvPicPr>
            <a:picLocks noChangeAspect="1"/>
          </p:cNvPicPr>
          <p:nvPr/>
        </p:nvPicPr>
        <p:blipFill>
          <a:blip r:embed="rId6"/>
          <a:stretch>
            <a:fillRect/>
          </a:stretch>
        </p:blipFill>
        <p:spPr>
          <a:xfrm>
            <a:off x="3746500" y="1803400"/>
            <a:ext cx="203200" cy="203200"/>
          </a:xfrm>
          <a:prstGeom prst="rect">
            <a:avLst/>
          </a:prstGeom>
        </p:spPr>
      </p:pic>
      <p:sp>
        <p:nvSpPr>
          <p:cNvPr id="22" name="Text 14"/>
          <p:cNvSpPr/>
          <p:nvPr/>
        </p:nvSpPr>
        <p:spPr>
          <a:xfrm>
            <a:off x="4152900" y="1689100"/>
            <a:ext cx="1727200" cy="254000"/>
          </a:xfrm>
          <a:prstGeom prst="rect">
            <a:avLst/>
          </a:prstGeom>
          <a:noFill/>
          <a:ln/>
        </p:spPr>
        <p:txBody>
          <a:bodyPr wrap="square" lIns="0" tIns="0" rIns="0" bIns="0" rtlCol="0" anchor="ctr"/>
          <a:lstStyle/>
          <a:p>
            <a:pPr algn="l" indent="0" marL="0">
              <a:lnSpc>
                <a:spcPts val="1600"/>
              </a:lnSpc>
              <a:buNone/>
            </a:pPr>
            <a:r>
              <a:rPr lang="en-US" sz="1600" b="1" dirty="0">
                <a:solidFill>
                  <a:srgbClr val="00171F"/>
                </a:solidFill>
                <a:latin typeface="Google Sans" pitchFamily="34" charset="0"/>
                <a:ea typeface="Google Sans" pitchFamily="34" charset="-122"/>
                <a:cs typeface="Google Sans" pitchFamily="34" charset="-120"/>
              </a:rPr>
              <a:t>Pembelian</a:t>
            </a:r>
            <a:endParaRPr lang="en-US" sz="1600" dirty="0"/>
          </a:p>
        </p:txBody>
      </p:sp>
      <p:sp>
        <p:nvSpPr>
          <p:cNvPr id="23" name="Text 15"/>
          <p:cNvSpPr/>
          <p:nvPr/>
        </p:nvSpPr>
        <p:spPr>
          <a:xfrm>
            <a:off x="4152900" y="1943100"/>
            <a:ext cx="1727200" cy="1778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pitchFamily="34" charset="0"/>
                <a:ea typeface="Google Sans" pitchFamily="34" charset="-122"/>
                <a:cs typeface="Google Sans" pitchFamily="34" charset="-120"/>
              </a:rPr>
              <a:t>Beli ikan dan jual</a:t>
            </a:r>
            <a:endParaRPr lang="en-US" sz="900" dirty="0"/>
          </a:p>
        </p:txBody>
      </p:sp>
      <p:sp>
        <p:nvSpPr>
          <p:cNvPr id="24" name="Shape 16"/>
          <p:cNvSpPr/>
          <p:nvPr/>
        </p:nvSpPr>
        <p:spPr>
          <a:xfrm>
            <a:off x="3644900" y="2260600"/>
            <a:ext cx="2197100" cy="0"/>
          </a:xfrm>
          <a:prstGeom prst="line">
            <a:avLst/>
          </a:prstGeom>
          <a:noFill/>
          <a:ln w="10160">
            <a:solidFill>
              <a:srgbClr val="D5DEE4"/>
            </a:solidFill>
            <a:prstDash val="solid"/>
          </a:ln>
        </p:spPr>
      </p:sp>
      <p:pic>
        <p:nvPicPr>
          <p:cNvPr id="25" name="Image 6" descr="public\icons\check-mint.png">    </p:cNvPr>
          <p:cNvPicPr>
            <a:picLocks noChangeAspect="1"/>
          </p:cNvPicPr>
          <p:nvPr/>
        </p:nvPicPr>
        <p:blipFill>
          <a:blip r:embed="rId7"/>
          <a:stretch>
            <a:fillRect/>
          </a:stretch>
        </p:blipFill>
        <p:spPr>
          <a:xfrm>
            <a:off x="3644900" y="2425700"/>
            <a:ext cx="165100" cy="165100"/>
          </a:xfrm>
          <a:prstGeom prst="rect">
            <a:avLst/>
          </a:prstGeom>
        </p:spPr>
      </p:pic>
      <p:sp>
        <p:nvSpPr>
          <p:cNvPr id="26" name="Text 17"/>
          <p:cNvSpPr/>
          <p:nvPr/>
        </p:nvSpPr>
        <p:spPr>
          <a:xfrm>
            <a:off x="3886200" y="23749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Ajukan pembelian ikan</a:t>
            </a:r>
            <a:endParaRPr lang="en-US" sz="1050" dirty="0"/>
          </a:p>
        </p:txBody>
      </p:sp>
      <p:pic>
        <p:nvPicPr>
          <p:cNvPr id="27" name="Image 7" descr="public\icons\check-mint.png">    </p:cNvPr>
          <p:cNvPicPr>
            <a:picLocks noChangeAspect="1"/>
          </p:cNvPicPr>
          <p:nvPr/>
        </p:nvPicPr>
        <p:blipFill>
          <a:blip r:embed="rId8"/>
          <a:stretch>
            <a:fillRect/>
          </a:stretch>
        </p:blipFill>
        <p:spPr>
          <a:xfrm>
            <a:off x="3644900" y="2857500"/>
            <a:ext cx="165100" cy="165100"/>
          </a:xfrm>
          <a:prstGeom prst="rect">
            <a:avLst/>
          </a:prstGeom>
        </p:spPr>
      </p:pic>
      <p:sp>
        <p:nvSpPr>
          <p:cNvPr id="28" name="Text 18"/>
          <p:cNvSpPr/>
          <p:nvPr/>
        </p:nvSpPr>
        <p:spPr>
          <a:xfrm>
            <a:off x="3886200" y="28067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Bandingkan harga pemasok</a:t>
            </a:r>
            <a:endParaRPr lang="en-US" sz="1050" dirty="0"/>
          </a:p>
        </p:txBody>
      </p:sp>
      <p:pic>
        <p:nvPicPr>
          <p:cNvPr id="29" name="Image 8" descr="public\icons\check-mint.png">    </p:cNvPr>
          <p:cNvPicPr>
            <a:picLocks noChangeAspect="1"/>
          </p:cNvPicPr>
          <p:nvPr/>
        </p:nvPicPr>
        <p:blipFill>
          <a:blip r:embed="rId9"/>
          <a:stretch>
            <a:fillRect/>
          </a:stretch>
        </p:blipFill>
        <p:spPr>
          <a:xfrm>
            <a:off x="3644900" y="3289300"/>
            <a:ext cx="165100" cy="165100"/>
          </a:xfrm>
          <a:prstGeom prst="rect">
            <a:avLst/>
          </a:prstGeom>
        </p:spPr>
      </p:pic>
      <p:sp>
        <p:nvSpPr>
          <p:cNvPr id="30" name="Text 19"/>
          <p:cNvSpPr/>
          <p:nvPr/>
        </p:nvSpPr>
        <p:spPr>
          <a:xfrm>
            <a:off x="3886200" y="32385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Buat dan kirim pesanan jual</a:t>
            </a:r>
            <a:endParaRPr lang="en-US" sz="1050" dirty="0"/>
          </a:p>
        </p:txBody>
      </p:sp>
      <p:pic>
        <p:nvPicPr>
          <p:cNvPr id="31" name="Image 9" descr="public\icons\check-mint.png">    </p:cNvPr>
          <p:cNvPicPr>
            <a:picLocks noChangeAspect="1"/>
          </p:cNvPicPr>
          <p:nvPr/>
        </p:nvPicPr>
        <p:blipFill>
          <a:blip r:embed="rId10"/>
          <a:stretch>
            <a:fillRect/>
          </a:stretch>
        </p:blipFill>
        <p:spPr>
          <a:xfrm>
            <a:off x="3644900" y="3721100"/>
            <a:ext cx="165100" cy="165100"/>
          </a:xfrm>
          <a:prstGeom prst="rect">
            <a:avLst/>
          </a:prstGeom>
        </p:spPr>
      </p:pic>
      <p:sp>
        <p:nvSpPr>
          <p:cNvPr id="32" name="Text 20"/>
          <p:cNvSpPr/>
          <p:nvPr/>
        </p:nvSpPr>
        <p:spPr>
          <a:xfrm>
            <a:off x="3886200" y="36703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Kirim pengingat tagihan</a:t>
            </a:r>
            <a:endParaRPr lang="en-US" sz="1050" dirty="0"/>
          </a:p>
        </p:txBody>
      </p:sp>
      <p:sp>
        <p:nvSpPr>
          <p:cNvPr id="33" name="Shape 21"/>
          <p:cNvSpPr/>
          <p:nvPr/>
        </p:nvSpPr>
        <p:spPr>
          <a:xfrm>
            <a:off x="6172200" y="1524000"/>
            <a:ext cx="2552700" cy="2667000"/>
          </a:xfrm>
          <a:prstGeom prst="roundRect">
            <a:avLst>
              <a:gd name="adj" fmla="val 6965"/>
            </a:avLst>
          </a:prstGeom>
          <a:solidFill>
            <a:srgbClr val="FFFFFF"/>
          </a:solidFill>
          <a:ln w="10160">
            <a:solidFill>
              <a:srgbClr val="D5DEE4"/>
            </a:solidFill>
            <a:prstDash val="solid"/>
          </a:ln>
        </p:spPr>
      </p:sp>
      <p:sp>
        <p:nvSpPr>
          <p:cNvPr id="34" name="Shape 22"/>
          <p:cNvSpPr/>
          <p:nvPr/>
        </p:nvSpPr>
        <p:spPr>
          <a:xfrm>
            <a:off x="6350000" y="1701800"/>
            <a:ext cx="406400" cy="406400"/>
          </a:xfrm>
          <a:prstGeom prst="ellipse">
            <a:avLst/>
          </a:prstGeom>
          <a:solidFill>
            <a:srgbClr val="1B6FB0"/>
          </a:solidFill>
          <a:ln/>
        </p:spPr>
      </p:sp>
      <p:pic>
        <p:nvPicPr>
          <p:cNvPr id="35" name="Image 10" descr="public\icons\package-white.png">    </p:cNvPr>
          <p:cNvPicPr>
            <a:picLocks noChangeAspect="1"/>
          </p:cNvPicPr>
          <p:nvPr/>
        </p:nvPicPr>
        <p:blipFill>
          <a:blip r:embed="rId11"/>
          <a:stretch>
            <a:fillRect/>
          </a:stretch>
        </p:blipFill>
        <p:spPr>
          <a:xfrm>
            <a:off x="6451600" y="1803400"/>
            <a:ext cx="203200" cy="203200"/>
          </a:xfrm>
          <a:prstGeom prst="rect">
            <a:avLst/>
          </a:prstGeom>
        </p:spPr>
      </p:pic>
      <p:sp>
        <p:nvSpPr>
          <p:cNvPr id="36" name="Text 23"/>
          <p:cNvSpPr/>
          <p:nvPr/>
        </p:nvSpPr>
        <p:spPr>
          <a:xfrm>
            <a:off x="6858000" y="1689100"/>
            <a:ext cx="1727200" cy="254000"/>
          </a:xfrm>
          <a:prstGeom prst="rect">
            <a:avLst/>
          </a:prstGeom>
          <a:noFill/>
          <a:ln/>
        </p:spPr>
        <p:txBody>
          <a:bodyPr wrap="square" lIns="0" tIns="0" rIns="0" bIns="0" rtlCol="0" anchor="ctr"/>
          <a:lstStyle/>
          <a:p>
            <a:pPr algn="l" indent="0" marL="0">
              <a:lnSpc>
                <a:spcPts val="1600"/>
              </a:lnSpc>
              <a:buNone/>
            </a:pPr>
            <a:r>
              <a:rPr lang="en-US" sz="1600" b="1" dirty="0">
                <a:solidFill>
                  <a:srgbClr val="00171F"/>
                </a:solidFill>
                <a:latin typeface="Google Sans" pitchFamily="34" charset="0"/>
                <a:ea typeface="Google Sans" pitchFamily="34" charset="-122"/>
                <a:cs typeface="Google Sans" pitchFamily="34" charset="-120"/>
              </a:rPr>
              <a:t>Gudang</a:t>
            </a:r>
            <a:endParaRPr lang="en-US" sz="1600" dirty="0"/>
          </a:p>
        </p:txBody>
      </p:sp>
      <p:sp>
        <p:nvSpPr>
          <p:cNvPr id="37" name="Text 24"/>
          <p:cNvSpPr/>
          <p:nvPr/>
        </p:nvSpPr>
        <p:spPr>
          <a:xfrm>
            <a:off x="6858000" y="1943100"/>
            <a:ext cx="1727200" cy="1778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pitchFamily="34" charset="0"/>
                <a:ea typeface="Google Sans" pitchFamily="34" charset="-122"/>
                <a:cs typeface="Google Sans" pitchFamily="34" charset="-120"/>
              </a:rPr>
              <a:t>Terima, olah, simpan</a:t>
            </a:r>
            <a:endParaRPr lang="en-US" sz="900" dirty="0"/>
          </a:p>
        </p:txBody>
      </p:sp>
      <p:sp>
        <p:nvSpPr>
          <p:cNvPr id="38" name="Shape 25"/>
          <p:cNvSpPr/>
          <p:nvPr/>
        </p:nvSpPr>
        <p:spPr>
          <a:xfrm>
            <a:off x="6350000" y="2260600"/>
            <a:ext cx="2197100" cy="0"/>
          </a:xfrm>
          <a:prstGeom prst="line">
            <a:avLst/>
          </a:prstGeom>
          <a:noFill/>
          <a:ln w="10160">
            <a:solidFill>
              <a:srgbClr val="D5DEE4"/>
            </a:solidFill>
            <a:prstDash val="solid"/>
          </a:ln>
        </p:spPr>
      </p:sp>
      <p:pic>
        <p:nvPicPr>
          <p:cNvPr id="39" name="Image 11" descr="public\icons\check-mint.png">    </p:cNvPr>
          <p:cNvPicPr>
            <a:picLocks noChangeAspect="1"/>
          </p:cNvPicPr>
          <p:nvPr/>
        </p:nvPicPr>
        <p:blipFill>
          <a:blip r:embed="rId12"/>
          <a:stretch>
            <a:fillRect/>
          </a:stretch>
        </p:blipFill>
        <p:spPr>
          <a:xfrm>
            <a:off x="6350000" y="2425700"/>
            <a:ext cx="165100" cy="165100"/>
          </a:xfrm>
          <a:prstGeom prst="rect">
            <a:avLst/>
          </a:prstGeom>
        </p:spPr>
      </p:pic>
      <p:sp>
        <p:nvSpPr>
          <p:cNvPr id="40" name="Text 26"/>
          <p:cNvSpPr/>
          <p:nvPr/>
        </p:nvSpPr>
        <p:spPr>
          <a:xfrm>
            <a:off x="6591300" y="23749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Terima ikan dan cek mutu</a:t>
            </a:r>
            <a:endParaRPr lang="en-US" sz="1050" dirty="0"/>
          </a:p>
        </p:txBody>
      </p:sp>
      <p:pic>
        <p:nvPicPr>
          <p:cNvPr id="41" name="Image 12" descr="public\icons\check-mint.png">    </p:cNvPr>
          <p:cNvPicPr>
            <a:picLocks noChangeAspect="1"/>
          </p:cNvPicPr>
          <p:nvPr/>
        </p:nvPicPr>
        <p:blipFill>
          <a:blip r:embed="rId13"/>
          <a:stretch>
            <a:fillRect/>
          </a:stretch>
        </p:blipFill>
        <p:spPr>
          <a:xfrm>
            <a:off x="6350000" y="2857500"/>
            <a:ext cx="165100" cy="165100"/>
          </a:xfrm>
          <a:prstGeom prst="rect">
            <a:avLst/>
          </a:prstGeom>
        </p:spPr>
      </p:pic>
      <p:sp>
        <p:nvSpPr>
          <p:cNvPr id="42" name="Text 27"/>
          <p:cNvSpPr/>
          <p:nvPr/>
        </p:nvSpPr>
        <p:spPr>
          <a:xfrm>
            <a:off x="6591300" y="28067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Mulai dan selesaikan produksi</a:t>
            </a:r>
            <a:endParaRPr lang="en-US" sz="1050" dirty="0"/>
          </a:p>
        </p:txBody>
      </p:sp>
      <p:pic>
        <p:nvPicPr>
          <p:cNvPr id="43" name="Image 13" descr="public\icons\check-mint.png">    </p:cNvPr>
          <p:cNvPicPr>
            <a:picLocks noChangeAspect="1"/>
          </p:cNvPicPr>
          <p:nvPr/>
        </p:nvPicPr>
        <p:blipFill>
          <a:blip r:embed="rId14"/>
          <a:stretch>
            <a:fillRect/>
          </a:stretch>
        </p:blipFill>
        <p:spPr>
          <a:xfrm>
            <a:off x="6350000" y="3289300"/>
            <a:ext cx="165100" cy="165100"/>
          </a:xfrm>
          <a:prstGeom prst="rect">
            <a:avLst/>
          </a:prstGeom>
        </p:spPr>
      </p:pic>
      <p:sp>
        <p:nvSpPr>
          <p:cNvPr id="44" name="Text 28"/>
          <p:cNvSpPr/>
          <p:nvPr/>
        </p:nvSpPr>
        <p:spPr>
          <a:xfrm>
            <a:off x="6591300" y="32385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Terima dan tagih titipan</a:t>
            </a:r>
            <a:endParaRPr lang="en-US" sz="1050" dirty="0"/>
          </a:p>
        </p:txBody>
      </p:sp>
      <p:pic>
        <p:nvPicPr>
          <p:cNvPr id="45" name="Image 14" descr="public\icons\check-mint.png">    </p:cNvPr>
          <p:cNvPicPr>
            <a:picLocks noChangeAspect="1"/>
          </p:cNvPicPr>
          <p:nvPr/>
        </p:nvPicPr>
        <p:blipFill>
          <a:blip r:embed="rId15"/>
          <a:stretch>
            <a:fillRect/>
          </a:stretch>
        </p:blipFill>
        <p:spPr>
          <a:xfrm>
            <a:off x="6350000" y="3721100"/>
            <a:ext cx="165100" cy="165100"/>
          </a:xfrm>
          <a:prstGeom prst="rect">
            <a:avLst/>
          </a:prstGeom>
        </p:spPr>
      </p:pic>
      <p:sp>
        <p:nvSpPr>
          <p:cNvPr id="46" name="Text 29"/>
          <p:cNvSpPr/>
          <p:nvPr/>
        </p:nvSpPr>
        <p:spPr>
          <a:xfrm>
            <a:off x="6591300" y="36703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Ajukan koreksi stok</a:t>
            </a:r>
            <a:endParaRPr lang="en-US" sz="1050" dirty="0"/>
          </a:p>
        </p:txBody>
      </p:sp>
      <p:sp>
        <p:nvSpPr>
          <p:cNvPr id="47" name="Shape 30"/>
          <p:cNvSpPr/>
          <p:nvPr/>
        </p:nvSpPr>
        <p:spPr>
          <a:xfrm>
            <a:off x="8877300" y="1524000"/>
            <a:ext cx="2552700" cy="2667000"/>
          </a:xfrm>
          <a:prstGeom prst="roundRect">
            <a:avLst>
              <a:gd name="adj" fmla="val 6965"/>
            </a:avLst>
          </a:prstGeom>
          <a:solidFill>
            <a:srgbClr val="FFFFFF"/>
          </a:solidFill>
          <a:ln w="10160">
            <a:solidFill>
              <a:srgbClr val="D5DEE4"/>
            </a:solidFill>
            <a:prstDash val="solid"/>
          </a:ln>
        </p:spPr>
      </p:sp>
      <p:sp>
        <p:nvSpPr>
          <p:cNvPr id="48" name="Shape 31"/>
          <p:cNvSpPr/>
          <p:nvPr/>
        </p:nvSpPr>
        <p:spPr>
          <a:xfrm>
            <a:off x="9055100" y="1701800"/>
            <a:ext cx="406400" cy="406400"/>
          </a:xfrm>
          <a:prstGeom prst="ellipse">
            <a:avLst/>
          </a:prstGeom>
          <a:solidFill>
            <a:srgbClr val="4A93CC"/>
          </a:solidFill>
          <a:ln/>
        </p:spPr>
      </p:sp>
      <p:pic>
        <p:nvPicPr>
          <p:cNvPr id="49" name="Image 15" descr="public\icons\wallet-white.png">    </p:cNvPr>
          <p:cNvPicPr>
            <a:picLocks noChangeAspect="1"/>
          </p:cNvPicPr>
          <p:nvPr/>
        </p:nvPicPr>
        <p:blipFill>
          <a:blip r:embed="rId16"/>
          <a:stretch>
            <a:fillRect/>
          </a:stretch>
        </p:blipFill>
        <p:spPr>
          <a:xfrm>
            <a:off x="9156700" y="1803400"/>
            <a:ext cx="203200" cy="203200"/>
          </a:xfrm>
          <a:prstGeom prst="rect">
            <a:avLst/>
          </a:prstGeom>
        </p:spPr>
      </p:pic>
      <p:sp>
        <p:nvSpPr>
          <p:cNvPr id="50" name="Text 32"/>
          <p:cNvSpPr/>
          <p:nvPr/>
        </p:nvSpPr>
        <p:spPr>
          <a:xfrm>
            <a:off x="9563100" y="1689100"/>
            <a:ext cx="1727200" cy="254000"/>
          </a:xfrm>
          <a:prstGeom prst="rect">
            <a:avLst/>
          </a:prstGeom>
          <a:noFill/>
          <a:ln/>
        </p:spPr>
        <p:txBody>
          <a:bodyPr wrap="square" lIns="0" tIns="0" rIns="0" bIns="0" rtlCol="0" anchor="ctr"/>
          <a:lstStyle/>
          <a:p>
            <a:pPr algn="l" indent="0" marL="0">
              <a:lnSpc>
                <a:spcPts val="1600"/>
              </a:lnSpc>
              <a:buNone/>
            </a:pPr>
            <a:r>
              <a:rPr lang="en-US" sz="1600" b="1" dirty="0">
                <a:solidFill>
                  <a:srgbClr val="00171F"/>
                </a:solidFill>
                <a:latin typeface="Google Sans" pitchFamily="34" charset="0"/>
                <a:ea typeface="Google Sans" pitchFamily="34" charset="-122"/>
                <a:cs typeface="Google Sans" pitchFamily="34" charset="-120"/>
              </a:rPr>
              <a:t>Keuangan</a:t>
            </a:r>
            <a:endParaRPr lang="en-US" sz="1600" dirty="0"/>
          </a:p>
        </p:txBody>
      </p:sp>
      <p:sp>
        <p:nvSpPr>
          <p:cNvPr id="51" name="Text 33"/>
          <p:cNvSpPr/>
          <p:nvPr/>
        </p:nvSpPr>
        <p:spPr>
          <a:xfrm>
            <a:off x="9563100" y="1943100"/>
            <a:ext cx="1727200" cy="1778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pitchFamily="34" charset="0"/>
                <a:ea typeface="Google Sans" pitchFamily="34" charset="-122"/>
                <a:cs typeface="Google Sans" pitchFamily="34" charset="-120"/>
              </a:rPr>
              <a:t>Uang dan laporan</a:t>
            </a:r>
            <a:endParaRPr lang="en-US" sz="900" dirty="0"/>
          </a:p>
        </p:txBody>
      </p:sp>
      <p:sp>
        <p:nvSpPr>
          <p:cNvPr id="52" name="Shape 34"/>
          <p:cNvSpPr/>
          <p:nvPr/>
        </p:nvSpPr>
        <p:spPr>
          <a:xfrm>
            <a:off x="9055100" y="2260600"/>
            <a:ext cx="2197100" cy="0"/>
          </a:xfrm>
          <a:prstGeom prst="line">
            <a:avLst/>
          </a:prstGeom>
          <a:noFill/>
          <a:ln w="10160">
            <a:solidFill>
              <a:srgbClr val="D5DEE4"/>
            </a:solidFill>
            <a:prstDash val="solid"/>
          </a:ln>
        </p:spPr>
      </p:sp>
      <p:pic>
        <p:nvPicPr>
          <p:cNvPr id="53" name="Image 16" descr="public\icons\check-mint.png">    </p:cNvPr>
          <p:cNvPicPr>
            <a:picLocks noChangeAspect="1"/>
          </p:cNvPicPr>
          <p:nvPr/>
        </p:nvPicPr>
        <p:blipFill>
          <a:blip r:embed="rId17"/>
          <a:stretch>
            <a:fillRect/>
          </a:stretch>
        </p:blipFill>
        <p:spPr>
          <a:xfrm>
            <a:off x="9055100" y="2425700"/>
            <a:ext cx="165100" cy="165100"/>
          </a:xfrm>
          <a:prstGeom prst="rect">
            <a:avLst/>
          </a:prstGeom>
        </p:spPr>
      </p:pic>
      <p:sp>
        <p:nvSpPr>
          <p:cNvPr id="54" name="Text 35"/>
          <p:cNvSpPr/>
          <p:nvPr/>
        </p:nvSpPr>
        <p:spPr>
          <a:xfrm>
            <a:off x="9296400" y="23749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Bayar pemasok</a:t>
            </a:r>
            <a:endParaRPr lang="en-US" sz="1050" dirty="0"/>
          </a:p>
        </p:txBody>
      </p:sp>
      <p:pic>
        <p:nvPicPr>
          <p:cNvPr id="55" name="Image 17" descr="public\icons\check-mint.png">    </p:cNvPr>
          <p:cNvPicPr>
            <a:picLocks noChangeAspect="1"/>
          </p:cNvPicPr>
          <p:nvPr/>
        </p:nvPicPr>
        <p:blipFill>
          <a:blip r:embed="rId18"/>
          <a:stretch>
            <a:fillRect/>
          </a:stretch>
        </p:blipFill>
        <p:spPr>
          <a:xfrm>
            <a:off x="9055100" y="2857500"/>
            <a:ext cx="165100" cy="165100"/>
          </a:xfrm>
          <a:prstGeom prst="rect">
            <a:avLst/>
          </a:prstGeom>
        </p:spPr>
      </p:pic>
      <p:sp>
        <p:nvSpPr>
          <p:cNvPr id="56" name="Text 36"/>
          <p:cNvSpPr/>
          <p:nvPr/>
        </p:nvSpPr>
        <p:spPr>
          <a:xfrm>
            <a:off x="9296400" y="28067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Catat pembayaran pembeli</a:t>
            </a:r>
            <a:endParaRPr lang="en-US" sz="1050" dirty="0"/>
          </a:p>
        </p:txBody>
      </p:sp>
      <p:pic>
        <p:nvPicPr>
          <p:cNvPr id="57" name="Image 18" descr="public\icons\check-mint.png">    </p:cNvPr>
          <p:cNvPicPr>
            <a:picLocks noChangeAspect="1"/>
          </p:cNvPicPr>
          <p:nvPr/>
        </p:nvPicPr>
        <p:blipFill>
          <a:blip r:embed="rId19"/>
          <a:stretch>
            <a:fillRect/>
          </a:stretch>
        </p:blipFill>
        <p:spPr>
          <a:xfrm>
            <a:off x="9055100" y="3289300"/>
            <a:ext cx="165100" cy="165100"/>
          </a:xfrm>
          <a:prstGeom prst="rect">
            <a:avLst/>
          </a:prstGeom>
        </p:spPr>
      </p:pic>
      <p:sp>
        <p:nvSpPr>
          <p:cNvPr id="58" name="Text 37"/>
          <p:cNvSpPr/>
          <p:nvPr/>
        </p:nvSpPr>
        <p:spPr>
          <a:xfrm>
            <a:off x="9296400" y="32385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Ajukan biaya</a:t>
            </a:r>
            <a:endParaRPr lang="en-US" sz="1050" dirty="0"/>
          </a:p>
        </p:txBody>
      </p:sp>
      <p:pic>
        <p:nvPicPr>
          <p:cNvPr id="59" name="Image 19" descr="public\icons\check-mint.png">    </p:cNvPr>
          <p:cNvPicPr>
            <a:picLocks noChangeAspect="1"/>
          </p:cNvPicPr>
          <p:nvPr/>
        </p:nvPicPr>
        <p:blipFill>
          <a:blip r:embed="rId20"/>
          <a:stretch>
            <a:fillRect/>
          </a:stretch>
        </p:blipFill>
        <p:spPr>
          <a:xfrm>
            <a:off x="9055100" y="3721100"/>
            <a:ext cx="165100" cy="165100"/>
          </a:xfrm>
          <a:prstGeom prst="rect">
            <a:avLst/>
          </a:prstGeom>
        </p:spPr>
      </p:pic>
      <p:sp>
        <p:nvSpPr>
          <p:cNvPr id="60" name="Text 38"/>
          <p:cNvSpPr/>
          <p:nvPr/>
        </p:nvSpPr>
        <p:spPr>
          <a:xfrm>
            <a:off x="9296400" y="3670300"/>
            <a:ext cx="1955800" cy="381000"/>
          </a:xfrm>
          <a:prstGeom prst="rect">
            <a:avLst/>
          </a:prstGeom>
          <a:noFill/>
          <a:ln/>
        </p:spPr>
        <p:txBody>
          <a:bodyPr wrap="square" lIns="0" tIns="0" rIns="0" bIns="0" rtlCol="0" anchor="t"/>
          <a:lstStyle/>
          <a:p>
            <a:pPr algn="l" indent="0" marL="0">
              <a:lnSpc>
                <a:spcPts val="1310"/>
              </a:lnSpc>
              <a:buNone/>
            </a:pPr>
            <a:r>
              <a:rPr lang="en-US" sz="1050" dirty="0">
                <a:solidFill>
                  <a:srgbClr val="00171F"/>
                </a:solidFill>
                <a:latin typeface="Google Sans" pitchFamily="34" charset="0"/>
                <a:ea typeface="Google Sans" pitchFamily="34" charset="-122"/>
                <a:cs typeface="Google Sans" pitchFamily="34" charset="-120"/>
              </a:rPr>
              <a:t>Tutup buku bulanan</a:t>
            </a:r>
            <a:endParaRPr lang="en-US" sz="1050" dirty="0"/>
          </a:p>
        </p:txBody>
      </p:sp>
      <p:sp>
        <p:nvSpPr>
          <p:cNvPr id="61" name="Text 39"/>
          <p:cNvSpPr/>
          <p:nvPr/>
        </p:nvSpPr>
        <p:spPr>
          <a:xfrm>
            <a:off x="762000" y="4470400"/>
            <a:ext cx="5715000" cy="165100"/>
          </a:xfrm>
          <a:prstGeom prst="rect">
            <a:avLst/>
          </a:prstGeom>
          <a:noFill/>
          <a:ln/>
        </p:spPr>
        <p:txBody>
          <a:bodyPr wrap="square" lIns="0" tIns="0" rIns="0" bIns="0" rtlCol="0" anchor="ctr"/>
          <a:lstStyle/>
          <a:p>
            <a:pPr algn="l" indent="0" marL="0">
              <a:lnSpc>
                <a:spcPts val="750"/>
              </a:lnSpc>
              <a:buNone/>
            </a:pPr>
            <a:r>
              <a:rPr lang="en-US" sz="750" b="1" dirty="0">
                <a:solidFill>
                  <a:srgbClr val="7F909A"/>
                </a:solidFill>
                <a:latin typeface="Google Sans" pitchFamily="34" charset="0"/>
                <a:ea typeface="Google Sans" pitchFamily="34" charset="-122"/>
                <a:cs typeface="Google Sans" pitchFamily="34" charset="-120"/>
              </a:rPr>
              <a:t>CONTOH SATU SIKLUS, DARI BELI IKAN SAMPAI UANG MASUK</a:t>
            </a:r>
            <a:endParaRPr lang="en-US" sz="750" dirty="0"/>
          </a:p>
        </p:txBody>
      </p:sp>
      <p:sp>
        <p:nvSpPr>
          <p:cNvPr id="62" name="Shape 40"/>
          <p:cNvSpPr/>
          <p:nvPr/>
        </p:nvSpPr>
        <p:spPr>
          <a:xfrm>
            <a:off x="939800" y="5016500"/>
            <a:ext cx="10312400" cy="0"/>
          </a:xfrm>
          <a:prstGeom prst="line">
            <a:avLst/>
          </a:prstGeom>
          <a:noFill/>
          <a:ln w="12700">
            <a:solidFill>
              <a:srgbClr val="D5DEE4"/>
            </a:solidFill>
            <a:prstDash val="solid"/>
          </a:ln>
        </p:spPr>
      </p:sp>
      <p:sp>
        <p:nvSpPr>
          <p:cNvPr id="63" name="Shape 41"/>
          <p:cNvSpPr/>
          <p:nvPr/>
        </p:nvSpPr>
        <p:spPr>
          <a:xfrm>
            <a:off x="762000" y="4838700"/>
            <a:ext cx="355600" cy="355600"/>
          </a:xfrm>
          <a:prstGeom prst="ellipse">
            <a:avLst/>
          </a:prstGeom>
          <a:solidFill>
            <a:srgbClr val="003459"/>
          </a:solidFill>
          <a:ln w="31750">
            <a:solidFill>
              <a:srgbClr val="F6F9FB"/>
            </a:solidFill>
            <a:prstDash val="solid"/>
          </a:ln>
        </p:spPr>
      </p:sp>
      <p:sp>
        <p:nvSpPr>
          <p:cNvPr id="64" name="Text 42"/>
          <p:cNvSpPr/>
          <p:nvPr/>
        </p:nvSpPr>
        <p:spPr>
          <a:xfrm>
            <a:off x="762000" y="4838700"/>
            <a:ext cx="355600" cy="355600"/>
          </a:xfrm>
          <a:prstGeom prst="rect">
            <a:avLst/>
          </a:prstGeom>
          <a:noFill/>
          <a:ln/>
        </p:spPr>
        <p:txBody>
          <a:bodyPr wrap="square" lIns="0" tIns="0" rIns="0" bIns="0" rtlCol="0" anchor="ctr"/>
          <a:lstStyle/>
          <a:p>
            <a:pPr algn="ctr" indent="0" marL="0">
              <a:lnSpc>
                <a:spcPts val="1200"/>
              </a:lnSpc>
              <a:buNone/>
            </a:pPr>
            <a:r>
              <a:rPr lang="en-US" sz="1200" b="1" dirty="0">
                <a:solidFill>
                  <a:srgbClr val="FFFFFF"/>
                </a:solidFill>
                <a:latin typeface="Google Sans" pitchFamily="34" charset="0"/>
                <a:ea typeface="Google Sans" pitchFamily="34" charset="-122"/>
                <a:cs typeface="Google Sans" pitchFamily="34" charset="-120"/>
              </a:rPr>
              <a:t>1</a:t>
            </a:r>
            <a:endParaRPr lang="en-US" sz="1200" dirty="0"/>
          </a:p>
        </p:txBody>
      </p:sp>
      <p:sp>
        <p:nvSpPr>
          <p:cNvPr id="65" name="Text 43"/>
          <p:cNvSpPr/>
          <p:nvPr/>
        </p:nvSpPr>
        <p:spPr>
          <a:xfrm>
            <a:off x="762000" y="5321300"/>
            <a:ext cx="1714500" cy="177800"/>
          </a:xfrm>
          <a:prstGeom prst="rect">
            <a:avLst/>
          </a:prstGeom>
          <a:noFill/>
          <a:ln/>
        </p:spPr>
        <p:txBody>
          <a:bodyPr wrap="square" lIns="0" tIns="0" rIns="0" bIns="0" rtlCol="0" anchor="ctr"/>
          <a:lstStyle/>
          <a:p>
            <a:pPr algn="l" indent="0" marL="0">
              <a:lnSpc>
                <a:spcPts val="950"/>
              </a:lnSpc>
              <a:buNone/>
            </a:pPr>
            <a:r>
              <a:rPr lang="en-US" sz="950" b="1" dirty="0">
                <a:solidFill>
                  <a:srgbClr val="003459"/>
                </a:solidFill>
                <a:latin typeface="Google Sans" pitchFamily="34" charset="0"/>
                <a:ea typeface="Google Sans" pitchFamily="34" charset="-122"/>
                <a:cs typeface="Google Sans" pitchFamily="34" charset="-120"/>
              </a:rPr>
              <a:t>Pembelian</a:t>
            </a:r>
            <a:endParaRPr lang="en-US" sz="950" dirty="0"/>
          </a:p>
        </p:txBody>
      </p:sp>
      <p:sp>
        <p:nvSpPr>
          <p:cNvPr id="66" name="Text 44"/>
          <p:cNvSpPr/>
          <p:nvPr/>
        </p:nvSpPr>
        <p:spPr>
          <a:xfrm>
            <a:off x="762000" y="5537200"/>
            <a:ext cx="17145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Medium" pitchFamily="34" charset="0"/>
                <a:ea typeface="Google Sans Medium" pitchFamily="34" charset="-122"/>
                <a:cs typeface="Google Sans Medium" pitchFamily="34" charset="-120"/>
              </a:rPr>
              <a:t>Ajukan beli ikan</a:t>
            </a:r>
            <a:endParaRPr lang="en-US" sz="1100" dirty="0"/>
          </a:p>
        </p:txBody>
      </p:sp>
      <p:sp>
        <p:nvSpPr>
          <p:cNvPr id="67" name="Shape 45"/>
          <p:cNvSpPr/>
          <p:nvPr/>
        </p:nvSpPr>
        <p:spPr>
          <a:xfrm>
            <a:off x="2616200" y="4838700"/>
            <a:ext cx="355600" cy="355600"/>
          </a:xfrm>
          <a:prstGeom prst="ellipse">
            <a:avLst/>
          </a:prstGeom>
          <a:solidFill>
            <a:srgbClr val="00171F"/>
          </a:solidFill>
          <a:ln w="31750">
            <a:solidFill>
              <a:srgbClr val="F6F9FB"/>
            </a:solidFill>
            <a:prstDash val="solid"/>
          </a:ln>
        </p:spPr>
      </p:sp>
      <p:sp>
        <p:nvSpPr>
          <p:cNvPr id="68" name="Text 46"/>
          <p:cNvSpPr/>
          <p:nvPr/>
        </p:nvSpPr>
        <p:spPr>
          <a:xfrm>
            <a:off x="2616200" y="4838700"/>
            <a:ext cx="355600" cy="355600"/>
          </a:xfrm>
          <a:prstGeom prst="rect">
            <a:avLst/>
          </a:prstGeom>
          <a:noFill/>
          <a:ln/>
        </p:spPr>
        <p:txBody>
          <a:bodyPr wrap="square" lIns="0" tIns="0" rIns="0" bIns="0" rtlCol="0" anchor="ctr"/>
          <a:lstStyle/>
          <a:p>
            <a:pPr algn="ctr" indent="0" marL="0">
              <a:lnSpc>
                <a:spcPts val="1200"/>
              </a:lnSpc>
              <a:buNone/>
            </a:pPr>
            <a:r>
              <a:rPr lang="en-US" sz="1200" b="1" dirty="0">
                <a:solidFill>
                  <a:srgbClr val="FFFFFF"/>
                </a:solidFill>
                <a:latin typeface="Google Sans" pitchFamily="34" charset="0"/>
                <a:ea typeface="Google Sans" pitchFamily="34" charset="-122"/>
                <a:cs typeface="Google Sans" pitchFamily="34" charset="-120"/>
              </a:rPr>
              <a:t>2</a:t>
            </a:r>
            <a:endParaRPr lang="en-US" sz="1200" dirty="0"/>
          </a:p>
        </p:txBody>
      </p:sp>
      <p:sp>
        <p:nvSpPr>
          <p:cNvPr id="69" name="Text 47"/>
          <p:cNvSpPr/>
          <p:nvPr/>
        </p:nvSpPr>
        <p:spPr>
          <a:xfrm>
            <a:off x="2616200" y="5321300"/>
            <a:ext cx="1714500" cy="177800"/>
          </a:xfrm>
          <a:prstGeom prst="rect">
            <a:avLst/>
          </a:prstGeom>
          <a:noFill/>
          <a:ln/>
        </p:spPr>
        <p:txBody>
          <a:bodyPr wrap="square" lIns="0" tIns="0" rIns="0" bIns="0" rtlCol="0" anchor="ctr"/>
          <a:lstStyle/>
          <a:p>
            <a:pPr algn="l" indent="0" marL="0">
              <a:lnSpc>
                <a:spcPts val="950"/>
              </a:lnSpc>
              <a:buNone/>
            </a:pPr>
            <a:r>
              <a:rPr lang="en-US" sz="950" b="1" dirty="0">
                <a:solidFill>
                  <a:srgbClr val="00171F"/>
                </a:solidFill>
                <a:latin typeface="Google Sans" pitchFamily="34" charset="0"/>
                <a:ea typeface="Google Sans" pitchFamily="34" charset="-122"/>
                <a:cs typeface="Google Sans" pitchFamily="34" charset="-120"/>
              </a:rPr>
              <a:t>Owner</a:t>
            </a:r>
            <a:endParaRPr lang="en-US" sz="950" dirty="0"/>
          </a:p>
        </p:txBody>
      </p:sp>
      <p:sp>
        <p:nvSpPr>
          <p:cNvPr id="70" name="Text 48"/>
          <p:cNvSpPr/>
          <p:nvPr/>
        </p:nvSpPr>
        <p:spPr>
          <a:xfrm>
            <a:off x="2616200" y="5537200"/>
            <a:ext cx="17145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Medium" pitchFamily="34" charset="0"/>
                <a:ea typeface="Google Sans Medium" pitchFamily="34" charset="-122"/>
                <a:cs typeface="Google Sans Medium" pitchFamily="34" charset="-120"/>
              </a:rPr>
              <a:t>Setujui pembelian</a:t>
            </a:r>
            <a:endParaRPr lang="en-US" sz="1100" dirty="0"/>
          </a:p>
        </p:txBody>
      </p:sp>
      <p:sp>
        <p:nvSpPr>
          <p:cNvPr id="71" name="Shape 49"/>
          <p:cNvSpPr/>
          <p:nvPr/>
        </p:nvSpPr>
        <p:spPr>
          <a:xfrm>
            <a:off x="4470400" y="4838700"/>
            <a:ext cx="355600" cy="355600"/>
          </a:xfrm>
          <a:prstGeom prst="ellipse">
            <a:avLst/>
          </a:prstGeom>
          <a:solidFill>
            <a:srgbClr val="1B6FB0"/>
          </a:solidFill>
          <a:ln w="31750">
            <a:solidFill>
              <a:srgbClr val="F6F9FB"/>
            </a:solidFill>
            <a:prstDash val="solid"/>
          </a:ln>
        </p:spPr>
      </p:sp>
      <p:sp>
        <p:nvSpPr>
          <p:cNvPr id="72" name="Text 50"/>
          <p:cNvSpPr/>
          <p:nvPr/>
        </p:nvSpPr>
        <p:spPr>
          <a:xfrm>
            <a:off x="4470400" y="4838700"/>
            <a:ext cx="355600" cy="355600"/>
          </a:xfrm>
          <a:prstGeom prst="rect">
            <a:avLst/>
          </a:prstGeom>
          <a:noFill/>
          <a:ln/>
        </p:spPr>
        <p:txBody>
          <a:bodyPr wrap="square" lIns="0" tIns="0" rIns="0" bIns="0" rtlCol="0" anchor="ctr"/>
          <a:lstStyle/>
          <a:p>
            <a:pPr algn="ctr" indent="0" marL="0">
              <a:lnSpc>
                <a:spcPts val="1200"/>
              </a:lnSpc>
              <a:buNone/>
            </a:pPr>
            <a:r>
              <a:rPr lang="en-US" sz="1200" b="1" dirty="0">
                <a:solidFill>
                  <a:srgbClr val="FFFFFF"/>
                </a:solidFill>
                <a:latin typeface="Google Sans" pitchFamily="34" charset="0"/>
                <a:ea typeface="Google Sans" pitchFamily="34" charset="-122"/>
                <a:cs typeface="Google Sans" pitchFamily="34" charset="-120"/>
              </a:rPr>
              <a:t>3</a:t>
            </a:r>
            <a:endParaRPr lang="en-US" sz="1200" dirty="0"/>
          </a:p>
        </p:txBody>
      </p:sp>
      <p:sp>
        <p:nvSpPr>
          <p:cNvPr id="73" name="Text 51"/>
          <p:cNvSpPr/>
          <p:nvPr/>
        </p:nvSpPr>
        <p:spPr>
          <a:xfrm>
            <a:off x="4470400" y="5321300"/>
            <a:ext cx="1714500" cy="177800"/>
          </a:xfrm>
          <a:prstGeom prst="rect">
            <a:avLst/>
          </a:prstGeom>
          <a:noFill/>
          <a:ln/>
        </p:spPr>
        <p:txBody>
          <a:bodyPr wrap="square" lIns="0" tIns="0" rIns="0" bIns="0" rtlCol="0" anchor="ctr"/>
          <a:lstStyle/>
          <a:p>
            <a:pPr algn="l" indent="0" marL="0">
              <a:lnSpc>
                <a:spcPts val="950"/>
              </a:lnSpc>
              <a:buNone/>
            </a:pPr>
            <a:r>
              <a:rPr lang="en-US" sz="950" b="1" dirty="0">
                <a:solidFill>
                  <a:srgbClr val="1B6FB0"/>
                </a:solidFill>
                <a:latin typeface="Google Sans" pitchFamily="34" charset="0"/>
                <a:ea typeface="Google Sans" pitchFamily="34" charset="-122"/>
                <a:cs typeface="Google Sans" pitchFamily="34" charset="-120"/>
              </a:rPr>
              <a:t>Gudang</a:t>
            </a:r>
            <a:endParaRPr lang="en-US" sz="950" dirty="0"/>
          </a:p>
        </p:txBody>
      </p:sp>
      <p:sp>
        <p:nvSpPr>
          <p:cNvPr id="74" name="Text 52"/>
          <p:cNvSpPr/>
          <p:nvPr/>
        </p:nvSpPr>
        <p:spPr>
          <a:xfrm>
            <a:off x="4470400" y="5537200"/>
            <a:ext cx="17145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Medium" pitchFamily="34" charset="0"/>
                <a:ea typeface="Google Sans Medium" pitchFamily="34" charset="-122"/>
                <a:cs typeface="Google Sans Medium" pitchFamily="34" charset="-120"/>
              </a:rPr>
              <a:t>Terima ikan, cek mutu</a:t>
            </a:r>
            <a:endParaRPr lang="en-US" sz="1100" dirty="0"/>
          </a:p>
        </p:txBody>
      </p:sp>
      <p:sp>
        <p:nvSpPr>
          <p:cNvPr id="75" name="Shape 53"/>
          <p:cNvSpPr/>
          <p:nvPr/>
        </p:nvSpPr>
        <p:spPr>
          <a:xfrm>
            <a:off x="6324600" y="4838700"/>
            <a:ext cx="355600" cy="355600"/>
          </a:xfrm>
          <a:prstGeom prst="ellipse">
            <a:avLst/>
          </a:prstGeom>
          <a:solidFill>
            <a:srgbClr val="1B6FB0"/>
          </a:solidFill>
          <a:ln w="31750">
            <a:solidFill>
              <a:srgbClr val="F6F9FB"/>
            </a:solidFill>
            <a:prstDash val="solid"/>
          </a:ln>
        </p:spPr>
      </p:sp>
      <p:sp>
        <p:nvSpPr>
          <p:cNvPr id="76" name="Text 54"/>
          <p:cNvSpPr/>
          <p:nvPr/>
        </p:nvSpPr>
        <p:spPr>
          <a:xfrm>
            <a:off x="6324600" y="4838700"/>
            <a:ext cx="355600" cy="355600"/>
          </a:xfrm>
          <a:prstGeom prst="rect">
            <a:avLst/>
          </a:prstGeom>
          <a:noFill/>
          <a:ln/>
        </p:spPr>
        <p:txBody>
          <a:bodyPr wrap="square" lIns="0" tIns="0" rIns="0" bIns="0" rtlCol="0" anchor="ctr"/>
          <a:lstStyle/>
          <a:p>
            <a:pPr algn="ctr" indent="0" marL="0">
              <a:lnSpc>
                <a:spcPts val="1200"/>
              </a:lnSpc>
              <a:buNone/>
            </a:pPr>
            <a:r>
              <a:rPr lang="en-US" sz="1200" b="1" dirty="0">
                <a:solidFill>
                  <a:srgbClr val="FFFFFF"/>
                </a:solidFill>
                <a:latin typeface="Google Sans" pitchFamily="34" charset="0"/>
                <a:ea typeface="Google Sans" pitchFamily="34" charset="-122"/>
                <a:cs typeface="Google Sans" pitchFamily="34" charset="-120"/>
              </a:rPr>
              <a:t>4</a:t>
            </a:r>
            <a:endParaRPr lang="en-US" sz="1200" dirty="0"/>
          </a:p>
        </p:txBody>
      </p:sp>
      <p:sp>
        <p:nvSpPr>
          <p:cNvPr id="77" name="Text 55"/>
          <p:cNvSpPr/>
          <p:nvPr/>
        </p:nvSpPr>
        <p:spPr>
          <a:xfrm>
            <a:off x="6324600" y="5321300"/>
            <a:ext cx="1714500" cy="177800"/>
          </a:xfrm>
          <a:prstGeom prst="rect">
            <a:avLst/>
          </a:prstGeom>
          <a:noFill/>
          <a:ln/>
        </p:spPr>
        <p:txBody>
          <a:bodyPr wrap="square" lIns="0" tIns="0" rIns="0" bIns="0" rtlCol="0" anchor="ctr"/>
          <a:lstStyle/>
          <a:p>
            <a:pPr algn="l" indent="0" marL="0">
              <a:lnSpc>
                <a:spcPts val="950"/>
              </a:lnSpc>
              <a:buNone/>
            </a:pPr>
            <a:r>
              <a:rPr lang="en-US" sz="950" b="1" dirty="0">
                <a:solidFill>
                  <a:srgbClr val="1B6FB0"/>
                </a:solidFill>
                <a:latin typeface="Google Sans" pitchFamily="34" charset="0"/>
                <a:ea typeface="Google Sans" pitchFamily="34" charset="-122"/>
                <a:cs typeface="Google Sans" pitchFamily="34" charset="-120"/>
              </a:rPr>
              <a:t>Gudang</a:t>
            </a:r>
            <a:endParaRPr lang="en-US" sz="950" dirty="0"/>
          </a:p>
        </p:txBody>
      </p:sp>
      <p:sp>
        <p:nvSpPr>
          <p:cNvPr id="78" name="Text 56"/>
          <p:cNvSpPr/>
          <p:nvPr/>
        </p:nvSpPr>
        <p:spPr>
          <a:xfrm>
            <a:off x="6324600" y="5537200"/>
            <a:ext cx="17145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Medium" pitchFamily="34" charset="0"/>
                <a:ea typeface="Google Sans Medium" pitchFamily="34" charset="-122"/>
                <a:cs typeface="Google Sans Medium" pitchFamily="34" charset="-120"/>
              </a:rPr>
              <a:t>Olah ikan, catat hasil</a:t>
            </a:r>
            <a:endParaRPr lang="en-US" sz="1100" dirty="0"/>
          </a:p>
        </p:txBody>
      </p:sp>
      <p:sp>
        <p:nvSpPr>
          <p:cNvPr id="79" name="Shape 57"/>
          <p:cNvSpPr/>
          <p:nvPr/>
        </p:nvSpPr>
        <p:spPr>
          <a:xfrm>
            <a:off x="8178800" y="4838700"/>
            <a:ext cx="355600" cy="355600"/>
          </a:xfrm>
          <a:prstGeom prst="ellipse">
            <a:avLst/>
          </a:prstGeom>
          <a:solidFill>
            <a:srgbClr val="003459"/>
          </a:solidFill>
          <a:ln w="31750">
            <a:solidFill>
              <a:srgbClr val="F6F9FB"/>
            </a:solidFill>
            <a:prstDash val="solid"/>
          </a:ln>
        </p:spPr>
      </p:sp>
      <p:sp>
        <p:nvSpPr>
          <p:cNvPr id="80" name="Text 58"/>
          <p:cNvSpPr/>
          <p:nvPr/>
        </p:nvSpPr>
        <p:spPr>
          <a:xfrm>
            <a:off x="8178800" y="4838700"/>
            <a:ext cx="355600" cy="355600"/>
          </a:xfrm>
          <a:prstGeom prst="rect">
            <a:avLst/>
          </a:prstGeom>
          <a:noFill/>
          <a:ln/>
        </p:spPr>
        <p:txBody>
          <a:bodyPr wrap="square" lIns="0" tIns="0" rIns="0" bIns="0" rtlCol="0" anchor="ctr"/>
          <a:lstStyle/>
          <a:p>
            <a:pPr algn="ctr" indent="0" marL="0">
              <a:lnSpc>
                <a:spcPts val="1200"/>
              </a:lnSpc>
              <a:buNone/>
            </a:pPr>
            <a:r>
              <a:rPr lang="en-US" sz="1200" b="1" dirty="0">
                <a:solidFill>
                  <a:srgbClr val="FFFFFF"/>
                </a:solidFill>
                <a:latin typeface="Google Sans" pitchFamily="34" charset="0"/>
                <a:ea typeface="Google Sans" pitchFamily="34" charset="-122"/>
                <a:cs typeface="Google Sans" pitchFamily="34" charset="-120"/>
              </a:rPr>
              <a:t>5</a:t>
            </a:r>
            <a:endParaRPr lang="en-US" sz="1200" dirty="0"/>
          </a:p>
        </p:txBody>
      </p:sp>
      <p:sp>
        <p:nvSpPr>
          <p:cNvPr id="81" name="Text 59"/>
          <p:cNvSpPr/>
          <p:nvPr/>
        </p:nvSpPr>
        <p:spPr>
          <a:xfrm>
            <a:off x="8178800" y="5321300"/>
            <a:ext cx="1714500" cy="177800"/>
          </a:xfrm>
          <a:prstGeom prst="rect">
            <a:avLst/>
          </a:prstGeom>
          <a:noFill/>
          <a:ln/>
        </p:spPr>
        <p:txBody>
          <a:bodyPr wrap="square" lIns="0" tIns="0" rIns="0" bIns="0" rtlCol="0" anchor="ctr"/>
          <a:lstStyle/>
          <a:p>
            <a:pPr algn="l" indent="0" marL="0">
              <a:lnSpc>
                <a:spcPts val="950"/>
              </a:lnSpc>
              <a:buNone/>
            </a:pPr>
            <a:r>
              <a:rPr lang="en-US" sz="950" b="1" dirty="0">
                <a:solidFill>
                  <a:srgbClr val="003459"/>
                </a:solidFill>
                <a:latin typeface="Google Sans" pitchFamily="34" charset="0"/>
                <a:ea typeface="Google Sans" pitchFamily="34" charset="-122"/>
                <a:cs typeface="Google Sans" pitchFamily="34" charset="-120"/>
              </a:rPr>
              <a:t>Pembelian</a:t>
            </a:r>
            <a:endParaRPr lang="en-US" sz="950" dirty="0"/>
          </a:p>
        </p:txBody>
      </p:sp>
      <p:sp>
        <p:nvSpPr>
          <p:cNvPr id="82" name="Text 60"/>
          <p:cNvSpPr/>
          <p:nvPr/>
        </p:nvSpPr>
        <p:spPr>
          <a:xfrm>
            <a:off x="8178800" y="5537200"/>
            <a:ext cx="17145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Medium" pitchFamily="34" charset="0"/>
                <a:ea typeface="Google Sans Medium" pitchFamily="34" charset="-122"/>
                <a:cs typeface="Google Sans Medium" pitchFamily="34" charset="-120"/>
              </a:rPr>
              <a:t>Jual dan kirim</a:t>
            </a:r>
            <a:endParaRPr lang="en-US" sz="1100" dirty="0"/>
          </a:p>
        </p:txBody>
      </p:sp>
      <p:sp>
        <p:nvSpPr>
          <p:cNvPr id="83" name="Shape 61"/>
          <p:cNvSpPr/>
          <p:nvPr/>
        </p:nvSpPr>
        <p:spPr>
          <a:xfrm>
            <a:off x="10033000" y="4838700"/>
            <a:ext cx="355600" cy="355600"/>
          </a:xfrm>
          <a:prstGeom prst="ellipse">
            <a:avLst/>
          </a:prstGeom>
          <a:solidFill>
            <a:srgbClr val="4A93CC"/>
          </a:solidFill>
          <a:ln w="31750">
            <a:solidFill>
              <a:srgbClr val="F6F9FB"/>
            </a:solidFill>
            <a:prstDash val="solid"/>
          </a:ln>
        </p:spPr>
      </p:sp>
      <p:sp>
        <p:nvSpPr>
          <p:cNvPr id="84" name="Text 62"/>
          <p:cNvSpPr/>
          <p:nvPr/>
        </p:nvSpPr>
        <p:spPr>
          <a:xfrm>
            <a:off x="10033000" y="4838700"/>
            <a:ext cx="355600" cy="355600"/>
          </a:xfrm>
          <a:prstGeom prst="rect">
            <a:avLst/>
          </a:prstGeom>
          <a:noFill/>
          <a:ln/>
        </p:spPr>
        <p:txBody>
          <a:bodyPr wrap="square" lIns="0" tIns="0" rIns="0" bIns="0" rtlCol="0" anchor="ctr"/>
          <a:lstStyle/>
          <a:p>
            <a:pPr algn="ctr" indent="0" marL="0">
              <a:lnSpc>
                <a:spcPts val="1200"/>
              </a:lnSpc>
              <a:buNone/>
            </a:pPr>
            <a:r>
              <a:rPr lang="en-US" sz="1200" b="1" dirty="0">
                <a:solidFill>
                  <a:srgbClr val="FFFFFF"/>
                </a:solidFill>
                <a:latin typeface="Google Sans" pitchFamily="34" charset="0"/>
                <a:ea typeface="Google Sans" pitchFamily="34" charset="-122"/>
                <a:cs typeface="Google Sans" pitchFamily="34" charset="-120"/>
              </a:rPr>
              <a:t>6</a:t>
            </a:r>
            <a:endParaRPr lang="en-US" sz="1200" dirty="0"/>
          </a:p>
        </p:txBody>
      </p:sp>
      <p:sp>
        <p:nvSpPr>
          <p:cNvPr id="85" name="Text 63"/>
          <p:cNvSpPr/>
          <p:nvPr/>
        </p:nvSpPr>
        <p:spPr>
          <a:xfrm>
            <a:off x="10033000" y="5321300"/>
            <a:ext cx="1714500" cy="177800"/>
          </a:xfrm>
          <a:prstGeom prst="rect">
            <a:avLst/>
          </a:prstGeom>
          <a:noFill/>
          <a:ln/>
        </p:spPr>
        <p:txBody>
          <a:bodyPr wrap="square" lIns="0" tIns="0" rIns="0" bIns="0" rtlCol="0" anchor="ctr"/>
          <a:lstStyle/>
          <a:p>
            <a:pPr algn="l" indent="0" marL="0">
              <a:lnSpc>
                <a:spcPts val="950"/>
              </a:lnSpc>
              <a:buNone/>
            </a:pPr>
            <a:r>
              <a:rPr lang="en-US" sz="950" b="1" dirty="0">
                <a:solidFill>
                  <a:srgbClr val="4A93CC"/>
                </a:solidFill>
                <a:latin typeface="Google Sans" pitchFamily="34" charset="0"/>
                <a:ea typeface="Google Sans" pitchFamily="34" charset="-122"/>
                <a:cs typeface="Google Sans" pitchFamily="34" charset="-120"/>
              </a:rPr>
              <a:t>Keuangan</a:t>
            </a:r>
            <a:endParaRPr lang="en-US" sz="950" dirty="0"/>
          </a:p>
        </p:txBody>
      </p:sp>
      <p:sp>
        <p:nvSpPr>
          <p:cNvPr id="86" name="Text 64"/>
          <p:cNvSpPr/>
          <p:nvPr/>
        </p:nvSpPr>
        <p:spPr>
          <a:xfrm>
            <a:off x="10033000" y="5537200"/>
            <a:ext cx="17145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Medium" pitchFamily="34" charset="0"/>
                <a:ea typeface="Google Sans Medium" pitchFamily="34" charset="-122"/>
                <a:cs typeface="Google Sans Medium" pitchFamily="34" charset="-120"/>
              </a:rPr>
              <a:t>Catat bayar, tutup buku</a:t>
            </a:r>
            <a:endParaRPr lang="en-US" sz="1100" dirty="0"/>
          </a:p>
        </p:txBody>
      </p:sp>
      <p:sp>
        <p:nvSpPr>
          <p:cNvPr id="87" name="Text 65"/>
          <p:cNvSpPr/>
          <p:nvPr/>
        </p:nvSpPr>
        <p:spPr>
          <a:xfrm>
            <a:off x="762000" y="6502400"/>
            <a:ext cx="8255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Bisa dicoba di demo: ganti "Masuk sebagai" lalu lihat tombolnya</a:t>
            </a:r>
            <a:endParaRPr lang="en-US" sz="800" dirty="0"/>
          </a:p>
        </p:txBody>
      </p:sp>
      <p:sp>
        <p:nvSpPr>
          <p:cNvPr id="88" name="Text 66"/>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11 / 15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762000" y="482600"/>
            <a:ext cx="279400" cy="279400"/>
          </a:xfrm>
          <a:prstGeom prst="ellipse">
            <a:avLst/>
          </a:prstGeom>
          <a:solidFill>
            <a:srgbClr val="E3EDF5"/>
          </a:solidFill>
          <a:ln/>
        </p:spPr>
      </p:sp>
      <p:pic>
        <p:nvPicPr>
          <p:cNvPr id="3" name="Image 0" descr="public\icons\sparkles-green.png">    </p:cNvPr>
          <p:cNvPicPr>
            <a:picLocks noChangeAspect="1"/>
          </p:cNvPicPr>
          <p:nvPr/>
        </p:nvPicPr>
        <p:blipFill>
          <a:blip r:embed="rId1"/>
          <a:stretch>
            <a:fillRect/>
          </a:stretch>
        </p:blipFill>
        <p:spPr>
          <a:xfrm>
            <a:off x="812800" y="533400"/>
            <a:ext cx="177800" cy="177800"/>
          </a:xfrm>
          <a:prstGeom prst="rect">
            <a:avLst/>
          </a:prstGeom>
        </p:spPr>
      </p:pic>
      <p:sp>
        <p:nvSpPr>
          <p:cNvPr id="4" name="Text 1"/>
          <p:cNvSpPr/>
          <p:nvPr/>
        </p:nvSpPr>
        <p:spPr>
          <a:xfrm>
            <a:off x="1143000" y="495300"/>
            <a:ext cx="3810000" cy="254000"/>
          </a:xfrm>
          <a:prstGeom prst="rect">
            <a:avLst/>
          </a:prstGeom>
          <a:noFill/>
          <a:ln/>
        </p:spPr>
        <p:txBody>
          <a:bodyPr wrap="square" lIns="0" tIns="0" rIns="0" bIns="0" rtlCol="0" anchor="ctr"/>
          <a:lstStyle/>
          <a:p>
            <a:pPr algn="l" indent="0" marL="0">
              <a:lnSpc>
                <a:spcPts val="1100"/>
              </a:lnSpc>
              <a:buNone/>
            </a:pPr>
            <a:r>
              <a:rPr lang="en-US" sz="1100" dirty="0">
                <a:solidFill>
                  <a:srgbClr val="003459"/>
                </a:solidFill>
                <a:latin typeface="Google Sans SemiBold" pitchFamily="34" charset="0"/>
                <a:ea typeface="Google Sans SemiBold" pitchFamily="34" charset="-122"/>
                <a:cs typeface="Google Sans SemiBold" pitchFamily="34" charset="-120"/>
              </a:rPr>
              <a:t>Asisten AI</a:t>
            </a:r>
            <a:endParaRPr lang="en-US" sz="1100" dirty="0"/>
          </a:p>
        </p:txBody>
      </p:sp>
      <p:sp>
        <p:nvSpPr>
          <p:cNvPr id="5" name="Text 2"/>
          <p:cNvSpPr/>
          <p:nvPr/>
        </p:nvSpPr>
        <p:spPr>
          <a:xfrm>
            <a:off x="762000" y="889000"/>
            <a:ext cx="3937000" cy="1079500"/>
          </a:xfrm>
          <a:prstGeom prst="rect">
            <a:avLst/>
          </a:prstGeom>
          <a:noFill/>
          <a:ln/>
        </p:spPr>
        <p:txBody>
          <a:bodyPr wrap="square" lIns="0" tIns="0" rIns="0" bIns="0" rtlCol="0" anchor="t"/>
          <a:lstStyle/>
          <a:p>
            <a:pPr algn="l" indent="0" marL="0">
              <a:lnSpc>
                <a:spcPts val="2590"/>
              </a:lnSpc>
              <a:buNone/>
            </a:pPr>
            <a:r>
              <a:rPr lang="en-US" sz="2400" b="1" dirty="0">
                <a:solidFill>
                  <a:srgbClr val="00171F"/>
                </a:solidFill>
                <a:latin typeface="Google Sans" pitchFamily="34" charset="0"/>
                <a:ea typeface="Google Sans" pitchFamily="34" charset="-122"/>
                <a:cs typeface="Google Sans" pitchFamily="34" charset="-120"/>
              </a:rPr>
              <a:t>Tanya saja, asisten yang mencarikan jawabannya</a:t>
            </a:r>
            <a:endParaRPr lang="en-US" sz="2400" dirty="0"/>
          </a:p>
        </p:txBody>
      </p:sp>
      <p:sp>
        <p:nvSpPr>
          <p:cNvPr id="6" name="Text 3"/>
          <p:cNvSpPr/>
          <p:nvPr/>
        </p:nvSpPr>
        <p:spPr>
          <a:xfrm>
            <a:off x="762000" y="2095500"/>
            <a:ext cx="3683000" cy="698500"/>
          </a:xfrm>
          <a:prstGeom prst="rect">
            <a:avLst/>
          </a:prstGeom>
          <a:noFill/>
          <a:ln/>
        </p:spPr>
        <p:txBody>
          <a:bodyPr wrap="square" lIns="0" tIns="0" rIns="0" bIns="0" rtlCol="0" anchor="t"/>
          <a:lstStyle/>
          <a:p>
            <a:pPr algn="l" indent="0" marL="0">
              <a:lnSpc>
                <a:spcPts val="1680"/>
              </a:lnSpc>
              <a:buNone/>
            </a:pPr>
            <a:r>
              <a:rPr lang="en-US" sz="1200" dirty="0">
                <a:solidFill>
                  <a:srgbClr val="4B5E69"/>
                </a:solidFill>
                <a:latin typeface="Google Sans" pitchFamily="34" charset="0"/>
                <a:ea typeface="Google Sans" pitchFamily="34" charset="-122"/>
                <a:cs typeface="Google Sans" pitchFamily="34" charset="-120"/>
              </a:rPr>
              <a:t>Tidak perlu buka banyak menu. Tulis pertanyaan dengan kalimat biasa, jawabannya diambil dari data usaha sendiri.</a:t>
            </a:r>
            <a:endParaRPr lang="en-US" sz="1200" dirty="0"/>
          </a:p>
        </p:txBody>
      </p:sp>
      <p:sp>
        <p:nvSpPr>
          <p:cNvPr id="7" name="Text 4"/>
          <p:cNvSpPr/>
          <p:nvPr/>
        </p:nvSpPr>
        <p:spPr>
          <a:xfrm>
            <a:off x="762000" y="2971800"/>
            <a:ext cx="3683000" cy="177800"/>
          </a:xfrm>
          <a:prstGeom prst="rect">
            <a:avLst/>
          </a:prstGeom>
          <a:noFill/>
          <a:ln/>
        </p:spPr>
        <p:txBody>
          <a:bodyPr wrap="square" lIns="0" tIns="0" rIns="0" bIns="0" rtlCol="0" anchor="ctr"/>
          <a:lstStyle/>
          <a:p>
            <a:pPr algn="l" indent="0" marL="0">
              <a:lnSpc>
                <a:spcPts val="750"/>
              </a:lnSpc>
              <a:buNone/>
            </a:pPr>
            <a:r>
              <a:rPr lang="en-US" sz="750" b="1" dirty="0">
                <a:solidFill>
                  <a:srgbClr val="7F909A"/>
                </a:solidFill>
                <a:latin typeface="Google Sans" pitchFamily="34" charset="0"/>
                <a:ea typeface="Google Sans" pitchFamily="34" charset="-122"/>
                <a:cs typeface="Google Sans" pitchFamily="34" charset="-120"/>
              </a:rPr>
              <a:t>CONTOH PERTANYAAN</a:t>
            </a:r>
            <a:endParaRPr lang="en-US" sz="750" dirty="0"/>
          </a:p>
        </p:txBody>
      </p:sp>
      <p:sp>
        <p:nvSpPr>
          <p:cNvPr id="8" name="Shape 5"/>
          <p:cNvSpPr/>
          <p:nvPr/>
        </p:nvSpPr>
        <p:spPr>
          <a:xfrm>
            <a:off x="762000" y="3276600"/>
            <a:ext cx="3683000" cy="431800"/>
          </a:xfrm>
          <a:prstGeom prst="roundRect">
            <a:avLst>
              <a:gd name="adj" fmla="val 50000"/>
            </a:avLst>
          </a:prstGeom>
          <a:solidFill>
            <a:srgbClr val="FFFFFF"/>
          </a:solidFill>
          <a:ln w="10160">
            <a:solidFill>
              <a:srgbClr val="D5DEE4"/>
            </a:solidFill>
            <a:prstDash val="solid"/>
          </a:ln>
        </p:spPr>
      </p:sp>
      <p:pic>
        <p:nvPicPr>
          <p:cNvPr id="9" name="Image 1" descr="public\icons\message-circle-green.png">    </p:cNvPr>
          <p:cNvPicPr>
            <a:picLocks noChangeAspect="1"/>
          </p:cNvPicPr>
          <p:nvPr/>
        </p:nvPicPr>
        <p:blipFill>
          <a:blip r:embed="rId2"/>
          <a:stretch>
            <a:fillRect/>
          </a:stretch>
        </p:blipFill>
        <p:spPr>
          <a:xfrm>
            <a:off x="939800" y="3390900"/>
            <a:ext cx="203200" cy="203200"/>
          </a:xfrm>
          <a:prstGeom prst="rect">
            <a:avLst/>
          </a:prstGeom>
        </p:spPr>
      </p:pic>
      <p:sp>
        <p:nvSpPr>
          <p:cNvPr id="10" name="Text 6"/>
          <p:cNvSpPr/>
          <p:nvPr/>
        </p:nvSpPr>
        <p:spPr>
          <a:xfrm>
            <a:off x="1270000" y="3276600"/>
            <a:ext cx="3048000" cy="431800"/>
          </a:xfrm>
          <a:prstGeom prst="rect">
            <a:avLst/>
          </a:prstGeom>
          <a:noFill/>
          <a:ln/>
        </p:spPr>
        <p:txBody>
          <a:bodyPr wrap="square" lIns="0" tIns="0" rIns="0" bIns="0" rtlCol="0" anchor="ctr"/>
          <a:lstStyle/>
          <a:p>
            <a:pPr algn="l" indent="0" marL="0">
              <a:lnSpc>
                <a:spcPts val="1200"/>
              </a:lnSpc>
              <a:buNone/>
            </a:pPr>
            <a:r>
              <a:rPr lang="en-US" sz="1200" dirty="0">
                <a:solidFill>
                  <a:srgbClr val="00171F"/>
                </a:solidFill>
                <a:latin typeface="Google Sans Medium" pitchFamily="34" charset="0"/>
                <a:ea typeface="Google Sans Medium" pitchFamily="34" charset="-122"/>
                <a:cs typeface="Google Sans Medium" pitchFamily="34" charset="-120"/>
              </a:rPr>
              <a:t>Tagihan mana yang telat?</a:t>
            </a:r>
            <a:endParaRPr lang="en-US" sz="1200" dirty="0"/>
          </a:p>
        </p:txBody>
      </p:sp>
      <p:sp>
        <p:nvSpPr>
          <p:cNvPr id="11" name="Shape 7"/>
          <p:cNvSpPr/>
          <p:nvPr/>
        </p:nvSpPr>
        <p:spPr>
          <a:xfrm>
            <a:off x="762000" y="3810000"/>
            <a:ext cx="3683000" cy="431800"/>
          </a:xfrm>
          <a:prstGeom prst="roundRect">
            <a:avLst>
              <a:gd name="adj" fmla="val 50000"/>
            </a:avLst>
          </a:prstGeom>
          <a:solidFill>
            <a:srgbClr val="FFFFFF"/>
          </a:solidFill>
          <a:ln w="10160">
            <a:solidFill>
              <a:srgbClr val="D5DEE4"/>
            </a:solidFill>
            <a:prstDash val="solid"/>
          </a:ln>
        </p:spPr>
      </p:sp>
      <p:pic>
        <p:nvPicPr>
          <p:cNvPr id="12" name="Image 2" descr="public\icons\message-circle-green.png">    </p:cNvPr>
          <p:cNvPicPr>
            <a:picLocks noChangeAspect="1"/>
          </p:cNvPicPr>
          <p:nvPr/>
        </p:nvPicPr>
        <p:blipFill>
          <a:blip r:embed="rId3"/>
          <a:stretch>
            <a:fillRect/>
          </a:stretch>
        </p:blipFill>
        <p:spPr>
          <a:xfrm>
            <a:off x="939800" y="3924300"/>
            <a:ext cx="203200" cy="203200"/>
          </a:xfrm>
          <a:prstGeom prst="rect">
            <a:avLst/>
          </a:prstGeom>
        </p:spPr>
      </p:pic>
      <p:sp>
        <p:nvSpPr>
          <p:cNvPr id="13" name="Text 8"/>
          <p:cNvSpPr/>
          <p:nvPr/>
        </p:nvSpPr>
        <p:spPr>
          <a:xfrm>
            <a:off x="1270000" y="3810000"/>
            <a:ext cx="3048000" cy="431800"/>
          </a:xfrm>
          <a:prstGeom prst="rect">
            <a:avLst/>
          </a:prstGeom>
          <a:noFill/>
          <a:ln/>
        </p:spPr>
        <p:txBody>
          <a:bodyPr wrap="square" lIns="0" tIns="0" rIns="0" bIns="0" rtlCol="0" anchor="ctr"/>
          <a:lstStyle/>
          <a:p>
            <a:pPr algn="l" indent="0" marL="0">
              <a:lnSpc>
                <a:spcPts val="1200"/>
              </a:lnSpc>
              <a:buNone/>
            </a:pPr>
            <a:r>
              <a:rPr lang="en-US" sz="1200" dirty="0">
                <a:solidFill>
                  <a:srgbClr val="00171F"/>
                </a:solidFill>
                <a:latin typeface="Google Sans Medium" pitchFamily="34" charset="0"/>
                <a:ea typeface="Google Sans Medium" pitchFamily="34" charset="-122"/>
                <a:cs typeface="Google Sans Medium" pitchFamily="34" charset="-120"/>
              </a:rPr>
              <a:t>Ekor mana hasilnya paling rendah?</a:t>
            </a:r>
            <a:endParaRPr lang="en-US" sz="1200" dirty="0"/>
          </a:p>
        </p:txBody>
      </p:sp>
      <p:sp>
        <p:nvSpPr>
          <p:cNvPr id="14" name="Shape 9"/>
          <p:cNvSpPr/>
          <p:nvPr/>
        </p:nvSpPr>
        <p:spPr>
          <a:xfrm>
            <a:off x="762000" y="4343400"/>
            <a:ext cx="3683000" cy="431800"/>
          </a:xfrm>
          <a:prstGeom prst="roundRect">
            <a:avLst>
              <a:gd name="adj" fmla="val 50000"/>
            </a:avLst>
          </a:prstGeom>
          <a:solidFill>
            <a:srgbClr val="FFFFFF"/>
          </a:solidFill>
          <a:ln w="10160">
            <a:solidFill>
              <a:srgbClr val="D5DEE4"/>
            </a:solidFill>
            <a:prstDash val="solid"/>
          </a:ln>
        </p:spPr>
      </p:sp>
      <p:pic>
        <p:nvPicPr>
          <p:cNvPr id="15" name="Image 3" descr="public\icons\message-circle-green.png">    </p:cNvPr>
          <p:cNvPicPr>
            <a:picLocks noChangeAspect="1"/>
          </p:cNvPicPr>
          <p:nvPr/>
        </p:nvPicPr>
        <p:blipFill>
          <a:blip r:embed="rId4"/>
          <a:stretch>
            <a:fillRect/>
          </a:stretch>
        </p:blipFill>
        <p:spPr>
          <a:xfrm>
            <a:off x="939800" y="4457700"/>
            <a:ext cx="203200" cy="203200"/>
          </a:xfrm>
          <a:prstGeom prst="rect">
            <a:avLst/>
          </a:prstGeom>
        </p:spPr>
      </p:pic>
      <p:sp>
        <p:nvSpPr>
          <p:cNvPr id="16" name="Text 10"/>
          <p:cNvSpPr/>
          <p:nvPr/>
        </p:nvSpPr>
        <p:spPr>
          <a:xfrm>
            <a:off x="1270000" y="4343400"/>
            <a:ext cx="3048000" cy="431800"/>
          </a:xfrm>
          <a:prstGeom prst="rect">
            <a:avLst/>
          </a:prstGeom>
          <a:noFill/>
          <a:ln/>
        </p:spPr>
        <p:txBody>
          <a:bodyPr wrap="square" lIns="0" tIns="0" rIns="0" bIns="0" rtlCol="0" anchor="ctr"/>
          <a:lstStyle/>
          <a:p>
            <a:pPr algn="l" indent="0" marL="0">
              <a:lnSpc>
                <a:spcPts val="1200"/>
              </a:lnSpc>
              <a:buNone/>
            </a:pPr>
            <a:r>
              <a:rPr lang="en-US" sz="1200" dirty="0">
                <a:solidFill>
                  <a:srgbClr val="00171F"/>
                </a:solidFill>
                <a:latin typeface="Google Sans Medium" pitchFamily="34" charset="0"/>
                <a:ea typeface="Google Sans Medium" pitchFamily="34" charset="-122"/>
                <a:cs typeface="Google Sans Medium" pitchFamily="34" charset="-120"/>
              </a:rPr>
              <a:t>Berapa saldo kas sekarang?</a:t>
            </a:r>
            <a:endParaRPr lang="en-US" sz="1200" dirty="0"/>
          </a:p>
        </p:txBody>
      </p:sp>
      <p:sp>
        <p:nvSpPr>
          <p:cNvPr id="17" name="Shape 11"/>
          <p:cNvSpPr/>
          <p:nvPr/>
        </p:nvSpPr>
        <p:spPr>
          <a:xfrm>
            <a:off x="762000" y="5016500"/>
            <a:ext cx="3683000" cy="609600"/>
          </a:xfrm>
          <a:prstGeom prst="roundRect">
            <a:avLst>
              <a:gd name="adj" fmla="val 25000"/>
            </a:avLst>
          </a:prstGeom>
          <a:solidFill>
            <a:srgbClr val="E3EDF5"/>
          </a:solidFill>
          <a:ln/>
        </p:spPr>
      </p:sp>
      <p:pic>
        <p:nvPicPr>
          <p:cNvPr id="18" name="Image 4" descr="public\icons\circle-check-green.png">    </p:cNvPr>
          <p:cNvPicPr>
            <a:picLocks noChangeAspect="1"/>
          </p:cNvPicPr>
          <p:nvPr/>
        </p:nvPicPr>
        <p:blipFill>
          <a:blip r:embed="rId5"/>
          <a:stretch>
            <a:fillRect/>
          </a:stretch>
        </p:blipFill>
        <p:spPr>
          <a:xfrm>
            <a:off x="927100" y="5194300"/>
            <a:ext cx="254000" cy="254000"/>
          </a:xfrm>
          <a:prstGeom prst="rect">
            <a:avLst/>
          </a:prstGeom>
        </p:spPr>
      </p:pic>
      <p:sp>
        <p:nvSpPr>
          <p:cNvPr id="19" name="Text 12"/>
          <p:cNvSpPr/>
          <p:nvPr/>
        </p:nvSpPr>
        <p:spPr>
          <a:xfrm>
            <a:off x="1295400" y="5016500"/>
            <a:ext cx="3048000" cy="609600"/>
          </a:xfrm>
          <a:prstGeom prst="rect">
            <a:avLst/>
          </a:prstGeom>
          <a:noFill/>
          <a:ln/>
        </p:spPr>
        <p:txBody>
          <a:bodyPr wrap="square" lIns="0" tIns="0" rIns="0" bIns="0" rtlCol="0" anchor="ctr"/>
          <a:lstStyle/>
          <a:p>
            <a:pPr algn="l" indent="0" marL="0">
              <a:lnSpc>
                <a:spcPts val="1430"/>
              </a:lnSpc>
              <a:buNone/>
            </a:pPr>
            <a:r>
              <a:rPr lang="en-US" sz="1100" dirty="0">
                <a:solidFill>
                  <a:srgbClr val="003459"/>
                </a:solidFill>
                <a:latin typeface="Google Sans SemiBold" pitchFamily="34" charset="0"/>
                <a:ea typeface="Google Sans SemiBold" pitchFamily="34" charset="-122"/>
                <a:cs typeface="Google Sans SemiBold" pitchFamily="34" charset="-120"/>
              </a:rPr>
              <a:t>Jawaban bisa langsung dibuka ke modulnya, mis. Penjualan.</a:t>
            </a:r>
            <a:endParaRPr lang="en-US" sz="1100" dirty="0"/>
          </a:p>
        </p:txBody>
      </p:sp>
      <p:pic>
        <p:nvPicPr>
          <p:cNvPr id="20" name="Image 5" descr="public\shots\screen-asisten.png">    </p:cNvPr>
          <p:cNvPicPr>
            <a:picLocks noChangeAspect="1"/>
          </p:cNvPicPr>
          <p:nvPr/>
        </p:nvPicPr>
        <p:blipFill>
          <a:blip r:embed="rId6"/>
          <a:stretch>
            <a:fillRect/>
          </a:stretch>
        </p:blipFill>
        <p:spPr>
          <a:xfrm>
            <a:off x="4709583" y="1471083"/>
            <a:ext cx="5820833" cy="3414889"/>
          </a:xfrm>
          <a:prstGeom prst="rect">
            <a:avLst/>
          </a:prstGeom>
        </p:spPr>
      </p:pic>
      <p:pic>
        <p:nvPicPr>
          <p:cNvPr id="21" name="Image 6" descr="public\mobile\m-asisten.png">    </p:cNvPr>
          <p:cNvPicPr>
            <a:picLocks noChangeAspect="1"/>
          </p:cNvPicPr>
          <p:nvPr/>
        </p:nvPicPr>
        <p:blipFill>
          <a:blip r:embed="rId7"/>
          <a:stretch>
            <a:fillRect/>
          </a:stretch>
        </p:blipFill>
        <p:spPr>
          <a:xfrm>
            <a:off x="9832461" y="2955411"/>
            <a:ext cx="1671790" cy="3341128"/>
          </a:xfrm>
          <a:prstGeom prst="rect">
            <a:avLst/>
          </a:prstGeom>
        </p:spPr>
      </p:pic>
      <p:sp>
        <p:nvSpPr>
          <p:cNvPr id="22" name="Text 13"/>
          <p:cNvSpPr/>
          <p:nvPr/>
        </p:nvSpPr>
        <p:spPr>
          <a:xfrm>
            <a:off x="762000" y="6502400"/>
            <a:ext cx="8255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Contoh tampilan, jawaban dari data contoh dan Siklus 1</a:t>
            </a:r>
            <a:endParaRPr lang="en-US" sz="800" dirty="0"/>
          </a:p>
        </p:txBody>
      </p:sp>
      <p:sp>
        <p:nvSpPr>
          <p:cNvPr id="23" name="Text 14"/>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12 / 15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9FB"/>
        </a:solidFill>
      </p:bgPr>
    </p:bg>
    <p:spTree>
      <p:nvGrpSpPr>
        <p:cNvPr id="1" name=""/>
        <p:cNvGrpSpPr/>
        <p:nvPr/>
      </p:nvGrpSpPr>
      <p:grpSpPr>
        <a:xfrm>
          <a:off x="0" y="0"/>
          <a:ext cx="0" cy="0"/>
          <a:chOff x="0" y="0"/>
          <a:chExt cx="0" cy="0"/>
        </a:xfrm>
      </p:grpSpPr>
      <p:sp>
        <p:nvSpPr>
          <p:cNvPr id="2" name="Text 0"/>
          <p:cNvSpPr/>
          <p:nvPr/>
        </p:nvSpPr>
        <p:spPr>
          <a:xfrm>
            <a:off x="762000" y="533400"/>
            <a:ext cx="5715000" cy="190500"/>
          </a:xfrm>
          <a:prstGeom prst="rect">
            <a:avLst/>
          </a:prstGeom>
          <a:noFill/>
          <a:ln/>
        </p:spPr>
        <p:txBody>
          <a:bodyPr wrap="square" lIns="0" tIns="0" rIns="0" bIns="0" rtlCol="0" anchor="ctr"/>
          <a:lstStyle/>
          <a:p>
            <a:pPr algn="l" indent="0" marL="0">
              <a:lnSpc>
                <a:spcPts val="1100"/>
              </a:lnSpc>
              <a:buNone/>
            </a:pPr>
            <a:r>
              <a:rPr lang="en-US" sz="1100" dirty="0">
                <a:solidFill>
                  <a:srgbClr val="003459"/>
                </a:solidFill>
                <a:latin typeface="Google Sans SemiBold" pitchFamily="34" charset="0"/>
                <a:ea typeface="Google Sans SemiBold" pitchFamily="34" charset="-122"/>
                <a:cs typeface="Google Sans SemiBold" pitchFamily="34" charset="-120"/>
              </a:rPr>
              <a:t>Paket</a:t>
            </a:r>
            <a:endParaRPr lang="en-US" sz="1100" dirty="0"/>
          </a:p>
        </p:txBody>
      </p:sp>
      <p:sp>
        <p:nvSpPr>
          <p:cNvPr id="3" name="Text 1"/>
          <p:cNvSpPr/>
          <p:nvPr/>
        </p:nvSpPr>
        <p:spPr>
          <a:xfrm>
            <a:off x="762000" y="800100"/>
            <a:ext cx="10160000" cy="1333500"/>
          </a:xfrm>
          <a:prstGeom prst="rect">
            <a:avLst/>
          </a:prstGeom>
          <a:noFill/>
          <a:ln/>
        </p:spPr>
        <p:txBody>
          <a:bodyPr wrap="square" lIns="0" tIns="0" rIns="0" bIns="0" rtlCol="0" anchor="t"/>
          <a:lstStyle/>
          <a:p>
            <a:pPr algn="l" indent="0" marL="0">
              <a:lnSpc>
                <a:spcPts val="3180"/>
              </a:lnSpc>
              <a:buNone/>
            </a:pPr>
            <a:r>
              <a:rPr lang="en-US" sz="3000" b="1" dirty="0">
                <a:solidFill>
                  <a:srgbClr val="00171F"/>
                </a:solidFill>
                <a:latin typeface="Google Sans" pitchFamily="34" charset="0"/>
                <a:ea typeface="Google Sans" pitchFamily="34" charset="-122"/>
                <a:cs typeface="Google Sans" pitchFamily="34" charset="-120"/>
              </a:rPr>
              <a:t>Satu paket lengkap, semua sudah termasuk</a:t>
            </a:r>
            <a:endParaRPr lang="en-US" sz="3000" dirty="0"/>
          </a:p>
        </p:txBody>
      </p:sp>
      <p:sp>
        <p:nvSpPr>
          <p:cNvPr id="4" name="Text 2"/>
          <p:cNvSpPr/>
          <p:nvPr/>
        </p:nvSpPr>
        <p:spPr>
          <a:xfrm>
            <a:off x="762000" y="6502400"/>
            <a:ext cx="7620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Harga dibahas setelah fitur disepakati</a:t>
            </a:r>
            <a:endParaRPr lang="en-US" sz="800" dirty="0"/>
          </a:p>
        </p:txBody>
      </p:sp>
      <p:sp>
        <p:nvSpPr>
          <p:cNvPr id="5" name="Text 3"/>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13 / 15</a:t>
            </a:r>
            <a:endParaRPr lang="en-US" sz="800" dirty="0"/>
          </a:p>
        </p:txBody>
      </p:sp>
      <p:sp>
        <p:nvSpPr>
          <p:cNvPr id="6" name="Shape 4"/>
          <p:cNvSpPr/>
          <p:nvPr/>
        </p:nvSpPr>
        <p:spPr>
          <a:xfrm>
            <a:off x="762000" y="1587500"/>
            <a:ext cx="3302000" cy="4699000"/>
          </a:xfrm>
          <a:prstGeom prst="roundRect">
            <a:avLst>
              <a:gd name="adj" fmla="val 6154"/>
            </a:avLst>
          </a:prstGeom>
          <a:solidFill>
            <a:srgbClr val="003459"/>
          </a:solidFill>
          <a:ln/>
        </p:spPr>
      </p:sp>
      <p:sp>
        <p:nvSpPr>
          <p:cNvPr id="7" name="Text 5"/>
          <p:cNvSpPr/>
          <p:nvPr/>
        </p:nvSpPr>
        <p:spPr>
          <a:xfrm>
            <a:off x="965200" y="1816100"/>
            <a:ext cx="2921000" cy="330200"/>
          </a:xfrm>
          <a:prstGeom prst="rect">
            <a:avLst/>
          </a:prstGeom>
          <a:noFill/>
          <a:ln/>
        </p:spPr>
        <p:txBody>
          <a:bodyPr wrap="square" lIns="0" tIns="0" rIns="0" bIns="0" rtlCol="0" anchor="ctr"/>
          <a:lstStyle/>
          <a:p>
            <a:pPr algn="l" indent="0" marL="0">
              <a:lnSpc>
                <a:spcPts val="2100"/>
              </a:lnSpc>
              <a:buNone/>
            </a:pPr>
            <a:r>
              <a:rPr lang="en-US" sz="2100" b="1" dirty="0">
                <a:solidFill>
                  <a:srgbClr val="FFFFFF"/>
                </a:solidFill>
                <a:latin typeface="Google Sans" pitchFamily="34" charset="0"/>
                <a:ea typeface="Google Sans" pitchFamily="34" charset="-122"/>
                <a:cs typeface="Google Sans" pitchFamily="34" charset="-120"/>
              </a:rPr>
              <a:t>Paket Lengkap</a:t>
            </a:r>
            <a:endParaRPr lang="en-US" sz="2100" dirty="0"/>
          </a:p>
        </p:txBody>
      </p:sp>
      <p:sp>
        <p:nvSpPr>
          <p:cNvPr id="8" name="Text 6"/>
          <p:cNvSpPr/>
          <p:nvPr/>
        </p:nvSpPr>
        <p:spPr>
          <a:xfrm>
            <a:off x="965200" y="2197100"/>
            <a:ext cx="2921000" cy="444500"/>
          </a:xfrm>
          <a:prstGeom prst="rect">
            <a:avLst/>
          </a:prstGeom>
          <a:noFill/>
          <a:ln/>
        </p:spPr>
        <p:txBody>
          <a:bodyPr wrap="square" lIns="0" tIns="0" rIns="0" bIns="0" rtlCol="0" anchor="t"/>
          <a:lstStyle/>
          <a:p>
            <a:pPr algn="l" indent="0" marL="0">
              <a:lnSpc>
                <a:spcPts val="1490"/>
              </a:lnSpc>
              <a:buNone/>
            </a:pPr>
            <a:r>
              <a:rPr lang="en-US" sz="1100" dirty="0">
                <a:solidFill>
                  <a:srgbClr val="CFE0EE"/>
                </a:solidFill>
                <a:latin typeface="Google Sans" pitchFamily="34" charset="0"/>
                <a:ea typeface="Google Sans" pitchFamily="34" charset="-122"/>
                <a:cs typeface="Google Sans" pitchFamily="34" charset="-120"/>
              </a:rPr>
              <a:t>Semua fitur untuk mengurus usaha, dari beli ikan sampai laporan keuangan.</a:t>
            </a:r>
            <a:endParaRPr lang="en-US" sz="1100" dirty="0"/>
          </a:p>
        </p:txBody>
      </p:sp>
      <p:sp>
        <p:nvSpPr>
          <p:cNvPr id="9" name="Shape 7"/>
          <p:cNvSpPr/>
          <p:nvPr/>
        </p:nvSpPr>
        <p:spPr>
          <a:xfrm>
            <a:off x="965200" y="2870200"/>
            <a:ext cx="2895600" cy="952500"/>
          </a:xfrm>
          <a:prstGeom prst="roundRect">
            <a:avLst>
              <a:gd name="adj" fmla="val 16000"/>
            </a:avLst>
          </a:prstGeom>
          <a:solidFill>
            <a:srgbClr val="0A4D80"/>
          </a:solidFill>
          <a:ln/>
        </p:spPr>
      </p:sp>
      <p:pic>
        <p:nvPicPr>
          <p:cNvPr id="10" name="Image 0" descr="public\icons\sparkles-white.png">    </p:cNvPr>
          <p:cNvPicPr>
            <a:picLocks noChangeAspect="1"/>
          </p:cNvPicPr>
          <p:nvPr/>
        </p:nvPicPr>
        <p:blipFill>
          <a:blip r:embed="rId1"/>
          <a:stretch>
            <a:fillRect/>
          </a:stretch>
        </p:blipFill>
        <p:spPr>
          <a:xfrm>
            <a:off x="1143000" y="3048000"/>
            <a:ext cx="279400" cy="279400"/>
          </a:xfrm>
          <a:prstGeom prst="rect">
            <a:avLst/>
          </a:prstGeom>
        </p:spPr>
      </p:pic>
      <p:sp>
        <p:nvSpPr>
          <p:cNvPr id="11" name="Text 8"/>
          <p:cNvSpPr/>
          <p:nvPr/>
        </p:nvSpPr>
        <p:spPr>
          <a:xfrm>
            <a:off x="1524000" y="2984500"/>
            <a:ext cx="2222500" cy="254000"/>
          </a:xfrm>
          <a:prstGeom prst="rect">
            <a:avLst/>
          </a:prstGeom>
          <a:noFill/>
          <a:ln/>
        </p:spPr>
        <p:txBody>
          <a:bodyPr wrap="square" lIns="0" tIns="0" rIns="0" bIns="0" rtlCol="0" anchor="ctr"/>
          <a:lstStyle/>
          <a:p>
            <a:pPr algn="l" indent="0" marL="0">
              <a:lnSpc>
                <a:spcPts val="1600"/>
              </a:lnSpc>
              <a:buNone/>
            </a:pPr>
            <a:r>
              <a:rPr lang="en-US" sz="1600" b="1" dirty="0">
                <a:solidFill>
                  <a:srgbClr val="FFFFFF"/>
                </a:solidFill>
                <a:latin typeface="Google Sans" pitchFamily="34" charset="0"/>
                <a:ea typeface="Google Sans" pitchFamily="34" charset="-122"/>
                <a:cs typeface="Google Sans" pitchFamily="34" charset="-120"/>
              </a:rPr>
              <a:t>Asisten AI</a:t>
            </a:r>
            <a:endParaRPr lang="en-US" sz="1600" dirty="0"/>
          </a:p>
        </p:txBody>
      </p:sp>
      <p:sp>
        <p:nvSpPr>
          <p:cNvPr id="12" name="Text 9"/>
          <p:cNvSpPr/>
          <p:nvPr/>
        </p:nvSpPr>
        <p:spPr>
          <a:xfrm>
            <a:off x="1524000" y="3263900"/>
            <a:ext cx="2222500" cy="508000"/>
          </a:xfrm>
          <a:prstGeom prst="rect">
            <a:avLst/>
          </a:prstGeom>
          <a:noFill/>
          <a:ln/>
        </p:spPr>
        <p:txBody>
          <a:bodyPr wrap="square" lIns="0" tIns="0" rIns="0" bIns="0" rtlCol="0" anchor="t"/>
          <a:lstStyle/>
          <a:p>
            <a:pPr algn="l" indent="0" marL="0">
              <a:lnSpc>
                <a:spcPts val="1300"/>
              </a:lnSpc>
              <a:buNone/>
            </a:pPr>
            <a:r>
              <a:rPr lang="en-US" sz="1000" dirty="0">
                <a:solidFill>
                  <a:srgbClr val="CFE0EE"/>
                </a:solidFill>
                <a:latin typeface="Google Sans" pitchFamily="34" charset="0"/>
                <a:ea typeface="Google Sans" pitchFamily="34" charset="-122"/>
                <a:cs typeface="Google Sans" pitchFamily="34" charset="-120"/>
              </a:rPr>
              <a:t>Tanya dengan kalimat biasa, jawabnya dari data usaha sendiri.</a:t>
            </a:r>
            <a:endParaRPr lang="en-US" sz="1000" dirty="0"/>
          </a:p>
        </p:txBody>
      </p:sp>
      <p:sp>
        <p:nvSpPr>
          <p:cNvPr id="13" name="Text 10"/>
          <p:cNvSpPr/>
          <p:nvPr/>
        </p:nvSpPr>
        <p:spPr>
          <a:xfrm>
            <a:off x="965200" y="4064000"/>
            <a:ext cx="2921000" cy="571500"/>
          </a:xfrm>
          <a:prstGeom prst="rect">
            <a:avLst/>
          </a:prstGeom>
          <a:noFill/>
          <a:ln/>
        </p:spPr>
        <p:txBody>
          <a:bodyPr wrap="square" lIns="0" tIns="0" rIns="0" bIns="0" rtlCol="0" anchor="t"/>
          <a:lstStyle/>
          <a:p>
            <a:pPr algn="l" indent="0" marL="0">
              <a:lnSpc>
                <a:spcPts val="2160"/>
              </a:lnSpc>
              <a:buNone/>
            </a:pPr>
            <a:r>
              <a:rPr lang="en-US" sz="2000" b="1" dirty="0">
                <a:solidFill>
                  <a:srgbClr val="FFFFFF"/>
                </a:solidFill>
                <a:latin typeface="Google Sans" pitchFamily="34" charset="0"/>
                <a:ea typeface="Google Sans" pitchFamily="34" charset="-122"/>
                <a:cs typeface="Google Sans" pitchFamily="34" charset="-120"/>
              </a:rPr>
              <a:t>Harga</a:t>
            </a:r>
            <a:endParaRPr lang="en-US" sz="2000" dirty="0"/>
          </a:p>
          <a:p>
            <a:pPr algn="l" indent="0" marL="0">
              <a:lnSpc>
                <a:spcPts val="2160"/>
              </a:lnSpc>
              <a:buNone/>
            </a:pPr>
            <a:r>
              <a:rPr lang="en-US" sz="2000" b="1" dirty="0">
                <a:solidFill>
                  <a:srgbClr val="FFFFFF"/>
                </a:solidFill>
                <a:latin typeface="Google Sans" pitchFamily="34" charset="0"/>
                <a:ea typeface="Google Sans" pitchFamily="34" charset="-122"/>
                <a:cs typeface="Google Sans" pitchFamily="34" charset="-120"/>
              </a:rPr>
              <a:t>dibahas bersama</a:t>
            </a:r>
            <a:endParaRPr lang="en-US" sz="2000" dirty="0"/>
          </a:p>
        </p:txBody>
      </p:sp>
      <p:sp>
        <p:nvSpPr>
          <p:cNvPr id="14" name="Text 11"/>
          <p:cNvSpPr/>
          <p:nvPr/>
        </p:nvSpPr>
        <p:spPr>
          <a:xfrm>
            <a:off x="965200" y="4889500"/>
            <a:ext cx="2921000" cy="508000"/>
          </a:xfrm>
          <a:prstGeom prst="rect">
            <a:avLst/>
          </a:prstGeom>
          <a:noFill/>
          <a:ln/>
        </p:spPr>
        <p:txBody>
          <a:bodyPr wrap="square" lIns="0" tIns="0" rIns="0" bIns="0" rtlCol="0" anchor="t"/>
          <a:lstStyle/>
          <a:p>
            <a:pPr algn="l" indent="0" marL="0">
              <a:lnSpc>
                <a:spcPts val="1490"/>
              </a:lnSpc>
              <a:buNone/>
            </a:pPr>
            <a:r>
              <a:rPr lang="en-US" sz="1100" dirty="0">
                <a:solidFill>
                  <a:srgbClr val="CFE0EE"/>
                </a:solidFill>
                <a:latin typeface="Google Sans" pitchFamily="34" charset="0"/>
                <a:ea typeface="Google Sans" pitchFamily="34" charset="-122"/>
                <a:cs typeface="Google Sans" pitchFamily="34" charset="-120"/>
              </a:rPr>
              <a:t>Estimasi selesai 1 bulan, tiap tahap diuji dulu sebelum lanjut.</a:t>
            </a:r>
            <a:endParaRPr lang="en-US" sz="1100" dirty="0"/>
          </a:p>
        </p:txBody>
      </p:sp>
      <p:pic>
        <p:nvPicPr>
          <p:cNvPr id="15" name="Image 1" descr="public\icons\check-white.png">    </p:cNvPr>
          <p:cNvPicPr>
            <a:picLocks noChangeAspect="1"/>
          </p:cNvPicPr>
          <p:nvPr/>
        </p:nvPicPr>
        <p:blipFill>
          <a:blip r:embed="rId2"/>
          <a:stretch>
            <a:fillRect/>
          </a:stretch>
        </p:blipFill>
        <p:spPr>
          <a:xfrm>
            <a:off x="965200" y="5715000"/>
            <a:ext cx="190500" cy="190500"/>
          </a:xfrm>
          <a:prstGeom prst="rect">
            <a:avLst/>
          </a:prstGeom>
        </p:spPr>
      </p:pic>
      <p:sp>
        <p:nvSpPr>
          <p:cNvPr id="16" name="Text 12"/>
          <p:cNvSpPr/>
          <p:nvPr/>
        </p:nvSpPr>
        <p:spPr>
          <a:xfrm>
            <a:off x="1244600" y="5676900"/>
            <a:ext cx="2667000" cy="279400"/>
          </a:xfrm>
          <a:prstGeom prst="rect">
            <a:avLst/>
          </a:prstGeom>
          <a:noFill/>
          <a:ln/>
        </p:spPr>
        <p:txBody>
          <a:bodyPr wrap="square" lIns="0" tIns="0" rIns="0" bIns="0" rtlCol="0" anchor="ctr"/>
          <a:lstStyle/>
          <a:p>
            <a:pPr algn="l" indent="0" marL="0">
              <a:lnSpc>
                <a:spcPts val="1100"/>
              </a:lnSpc>
              <a:buNone/>
            </a:pPr>
            <a:r>
              <a:rPr lang="en-US" sz="1100" dirty="0">
                <a:solidFill>
                  <a:srgbClr val="FFFFFF"/>
                </a:solidFill>
                <a:latin typeface="Google Sans SemiBold" pitchFamily="34" charset="0"/>
                <a:ea typeface="Google Sans SemiBold" pitchFamily="34" charset="-122"/>
                <a:cs typeface="Google Sans SemiBold" pitchFamily="34" charset="-120"/>
              </a:rPr>
              <a:t>Demo bisa dicoba sekarang</a:t>
            </a:r>
            <a:endParaRPr lang="en-US" sz="1100" dirty="0"/>
          </a:p>
        </p:txBody>
      </p:sp>
      <p:sp>
        <p:nvSpPr>
          <p:cNvPr id="17" name="Text 13"/>
          <p:cNvSpPr/>
          <p:nvPr/>
        </p:nvSpPr>
        <p:spPr>
          <a:xfrm>
            <a:off x="4445000" y="1663700"/>
            <a:ext cx="3302000" cy="190500"/>
          </a:xfrm>
          <a:prstGeom prst="rect">
            <a:avLst/>
          </a:prstGeom>
          <a:noFill/>
          <a:ln/>
        </p:spPr>
        <p:txBody>
          <a:bodyPr wrap="square" lIns="0" tIns="0" rIns="0" bIns="0" rtlCol="0" anchor="ctr"/>
          <a:lstStyle/>
          <a:p>
            <a:pPr algn="l" indent="0" marL="0">
              <a:lnSpc>
                <a:spcPts val="1100"/>
              </a:lnSpc>
              <a:buNone/>
            </a:pPr>
            <a:r>
              <a:rPr lang="en-US" sz="1100" b="1" dirty="0">
                <a:solidFill>
                  <a:srgbClr val="003459"/>
                </a:solidFill>
                <a:latin typeface="Google Sans" pitchFamily="34" charset="0"/>
                <a:ea typeface="Google Sans" pitchFamily="34" charset="-122"/>
                <a:cs typeface="Google Sans" pitchFamily="34" charset="-120"/>
              </a:rPr>
              <a:t>Setiap hari</a:t>
            </a:r>
            <a:endParaRPr lang="en-US" sz="1100" dirty="0"/>
          </a:p>
        </p:txBody>
      </p:sp>
      <p:sp>
        <p:nvSpPr>
          <p:cNvPr id="18" name="Shape 14"/>
          <p:cNvSpPr/>
          <p:nvPr/>
        </p:nvSpPr>
        <p:spPr>
          <a:xfrm>
            <a:off x="4445000" y="1930400"/>
            <a:ext cx="3175000" cy="0"/>
          </a:xfrm>
          <a:prstGeom prst="line">
            <a:avLst/>
          </a:prstGeom>
          <a:noFill/>
          <a:ln w="10160">
            <a:solidFill>
              <a:srgbClr val="D5DEE4"/>
            </a:solidFill>
            <a:prstDash val="solid"/>
          </a:ln>
        </p:spPr>
      </p:sp>
      <p:pic>
        <p:nvPicPr>
          <p:cNvPr id="19" name="Image 2" descr="public\icons\check-mint.png">    </p:cNvPr>
          <p:cNvPicPr>
            <a:picLocks noChangeAspect="1"/>
          </p:cNvPicPr>
          <p:nvPr/>
        </p:nvPicPr>
        <p:blipFill>
          <a:blip r:embed="rId3"/>
          <a:stretch>
            <a:fillRect/>
          </a:stretch>
        </p:blipFill>
        <p:spPr>
          <a:xfrm>
            <a:off x="4445000" y="2120900"/>
            <a:ext cx="190500" cy="190500"/>
          </a:xfrm>
          <a:prstGeom prst="rect">
            <a:avLst/>
          </a:prstGeom>
        </p:spPr>
      </p:pic>
      <p:sp>
        <p:nvSpPr>
          <p:cNvPr id="20" name="Text 15"/>
          <p:cNvSpPr/>
          <p:nvPr/>
        </p:nvSpPr>
        <p:spPr>
          <a:xfrm>
            <a:off x="4749800" y="20828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Dashboard owner</a:t>
            </a:r>
            <a:endParaRPr lang="en-US" sz="1300" dirty="0"/>
          </a:p>
        </p:txBody>
      </p:sp>
      <p:pic>
        <p:nvPicPr>
          <p:cNvPr id="21" name="Image 3" descr="public\icons\check-mint.png">    </p:cNvPr>
          <p:cNvPicPr>
            <a:picLocks noChangeAspect="1"/>
          </p:cNvPicPr>
          <p:nvPr/>
        </p:nvPicPr>
        <p:blipFill>
          <a:blip r:embed="rId4"/>
          <a:stretch>
            <a:fillRect/>
          </a:stretch>
        </p:blipFill>
        <p:spPr>
          <a:xfrm>
            <a:off x="4445000" y="2590800"/>
            <a:ext cx="190500" cy="190500"/>
          </a:xfrm>
          <a:prstGeom prst="rect">
            <a:avLst/>
          </a:prstGeom>
        </p:spPr>
      </p:pic>
      <p:sp>
        <p:nvSpPr>
          <p:cNvPr id="22" name="Text 16"/>
          <p:cNvSpPr/>
          <p:nvPr/>
        </p:nvSpPr>
        <p:spPr>
          <a:xfrm>
            <a:off x="4749800" y="25527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Pembelian dan pemasok</a:t>
            </a:r>
            <a:endParaRPr lang="en-US" sz="1300" dirty="0"/>
          </a:p>
        </p:txBody>
      </p:sp>
      <p:pic>
        <p:nvPicPr>
          <p:cNvPr id="23" name="Image 4" descr="public\icons\check-mint.png">    </p:cNvPr>
          <p:cNvPicPr>
            <a:picLocks noChangeAspect="1"/>
          </p:cNvPicPr>
          <p:nvPr/>
        </p:nvPicPr>
        <p:blipFill>
          <a:blip r:embed="rId5"/>
          <a:stretch>
            <a:fillRect/>
          </a:stretch>
        </p:blipFill>
        <p:spPr>
          <a:xfrm>
            <a:off x="4445000" y="3060700"/>
            <a:ext cx="190500" cy="190500"/>
          </a:xfrm>
          <a:prstGeom prst="rect">
            <a:avLst/>
          </a:prstGeom>
        </p:spPr>
      </p:pic>
      <p:sp>
        <p:nvSpPr>
          <p:cNvPr id="24" name="Text 17"/>
          <p:cNvSpPr/>
          <p:nvPr/>
        </p:nvSpPr>
        <p:spPr>
          <a:xfrm>
            <a:off x="4749800" y="30226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Produksi dan hasil tiap ekor</a:t>
            </a:r>
            <a:endParaRPr lang="en-US" sz="1300" dirty="0"/>
          </a:p>
        </p:txBody>
      </p:sp>
      <p:pic>
        <p:nvPicPr>
          <p:cNvPr id="25" name="Image 5" descr="public\icons\check-mint.png">    </p:cNvPr>
          <p:cNvPicPr>
            <a:picLocks noChangeAspect="1"/>
          </p:cNvPicPr>
          <p:nvPr/>
        </p:nvPicPr>
        <p:blipFill>
          <a:blip r:embed="rId6"/>
          <a:stretch>
            <a:fillRect/>
          </a:stretch>
        </p:blipFill>
        <p:spPr>
          <a:xfrm>
            <a:off x="4445000" y="3530600"/>
            <a:ext cx="190500" cy="190500"/>
          </a:xfrm>
          <a:prstGeom prst="rect">
            <a:avLst/>
          </a:prstGeom>
        </p:spPr>
      </p:pic>
      <p:sp>
        <p:nvSpPr>
          <p:cNvPr id="26" name="Text 18"/>
          <p:cNvSpPr/>
          <p:nvPr/>
        </p:nvSpPr>
        <p:spPr>
          <a:xfrm>
            <a:off x="4749800" y="34925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Cek mutu dan asal produk</a:t>
            </a:r>
            <a:endParaRPr lang="en-US" sz="1300" dirty="0"/>
          </a:p>
        </p:txBody>
      </p:sp>
      <p:pic>
        <p:nvPicPr>
          <p:cNvPr id="27" name="Image 6" descr="public\icons\check-mint.png">    </p:cNvPr>
          <p:cNvPicPr>
            <a:picLocks noChangeAspect="1"/>
          </p:cNvPicPr>
          <p:nvPr/>
        </p:nvPicPr>
        <p:blipFill>
          <a:blip r:embed="rId7"/>
          <a:stretch>
            <a:fillRect/>
          </a:stretch>
        </p:blipFill>
        <p:spPr>
          <a:xfrm>
            <a:off x="4445000" y="4000500"/>
            <a:ext cx="190500" cy="190500"/>
          </a:xfrm>
          <a:prstGeom prst="rect">
            <a:avLst/>
          </a:prstGeom>
        </p:spPr>
      </p:pic>
      <p:sp>
        <p:nvSpPr>
          <p:cNvPr id="28" name="Text 19"/>
          <p:cNvSpPr/>
          <p:nvPr/>
        </p:nvSpPr>
        <p:spPr>
          <a:xfrm>
            <a:off x="4749800" y="39624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Stok dan titipan</a:t>
            </a:r>
            <a:endParaRPr lang="en-US" sz="1300" dirty="0"/>
          </a:p>
        </p:txBody>
      </p:sp>
      <p:pic>
        <p:nvPicPr>
          <p:cNvPr id="29" name="Image 7" descr="public\icons\check-mint.png">    </p:cNvPr>
          <p:cNvPicPr>
            <a:picLocks noChangeAspect="1"/>
          </p:cNvPicPr>
          <p:nvPr/>
        </p:nvPicPr>
        <p:blipFill>
          <a:blip r:embed="rId8"/>
          <a:stretch>
            <a:fillRect/>
          </a:stretch>
        </p:blipFill>
        <p:spPr>
          <a:xfrm>
            <a:off x="4445000" y="4470400"/>
            <a:ext cx="190500" cy="190500"/>
          </a:xfrm>
          <a:prstGeom prst="rect">
            <a:avLst/>
          </a:prstGeom>
        </p:spPr>
      </p:pic>
      <p:sp>
        <p:nvSpPr>
          <p:cNvPr id="30" name="Text 20"/>
          <p:cNvSpPr/>
          <p:nvPr/>
        </p:nvSpPr>
        <p:spPr>
          <a:xfrm>
            <a:off x="4749800" y="44323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Gudang dingin dan pembekuan</a:t>
            </a:r>
            <a:endParaRPr lang="en-US" sz="1300" dirty="0"/>
          </a:p>
        </p:txBody>
      </p:sp>
      <p:pic>
        <p:nvPicPr>
          <p:cNvPr id="31" name="Image 8" descr="public\icons\check-mint.png">    </p:cNvPr>
          <p:cNvPicPr>
            <a:picLocks noChangeAspect="1"/>
          </p:cNvPicPr>
          <p:nvPr/>
        </p:nvPicPr>
        <p:blipFill>
          <a:blip r:embed="rId9"/>
          <a:stretch>
            <a:fillRect/>
          </a:stretch>
        </p:blipFill>
        <p:spPr>
          <a:xfrm>
            <a:off x="4445000" y="4940300"/>
            <a:ext cx="190500" cy="190500"/>
          </a:xfrm>
          <a:prstGeom prst="rect">
            <a:avLst/>
          </a:prstGeom>
        </p:spPr>
      </p:pic>
      <p:sp>
        <p:nvSpPr>
          <p:cNvPr id="32" name="Text 21"/>
          <p:cNvSpPr/>
          <p:nvPr/>
        </p:nvSpPr>
        <p:spPr>
          <a:xfrm>
            <a:off x="4749800" y="49022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Penjualan dan tagihan</a:t>
            </a:r>
            <a:endParaRPr lang="en-US" sz="1300" dirty="0"/>
          </a:p>
        </p:txBody>
      </p:sp>
      <p:pic>
        <p:nvPicPr>
          <p:cNvPr id="33" name="Image 9" descr="public\icons\check-mint.png">    </p:cNvPr>
          <p:cNvPicPr>
            <a:picLocks noChangeAspect="1"/>
          </p:cNvPicPr>
          <p:nvPr/>
        </p:nvPicPr>
        <p:blipFill>
          <a:blip r:embed="rId10"/>
          <a:stretch>
            <a:fillRect/>
          </a:stretch>
        </p:blipFill>
        <p:spPr>
          <a:xfrm>
            <a:off x="4445000" y="5410200"/>
            <a:ext cx="190500" cy="190500"/>
          </a:xfrm>
          <a:prstGeom prst="rect">
            <a:avLst/>
          </a:prstGeom>
        </p:spPr>
      </p:pic>
      <p:sp>
        <p:nvSpPr>
          <p:cNvPr id="34" name="Text 22"/>
          <p:cNvSpPr/>
          <p:nvPr/>
        </p:nvSpPr>
        <p:spPr>
          <a:xfrm>
            <a:off x="4749800" y="53721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Jadwal produksi</a:t>
            </a:r>
            <a:endParaRPr lang="en-US" sz="1300" dirty="0"/>
          </a:p>
        </p:txBody>
      </p:sp>
      <p:sp>
        <p:nvSpPr>
          <p:cNvPr id="35" name="Text 23"/>
          <p:cNvSpPr/>
          <p:nvPr/>
        </p:nvSpPr>
        <p:spPr>
          <a:xfrm>
            <a:off x="8001000" y="1663700"/>
            <a:ext cx="3302000" cy="190500"/>
          </a:xfrm>
          <a:prstGeom prst="rect">
            <a:avLst/>
          </a:prstGeom>
          <a:noFill/>
          <a:ln/>
        </p:spPr>
        <p:txBody>
          <a:bodyPr wrap="square" lIns="0" tIns="0" rIns="0" bIns="0" rtlCol="0" anchor="ctr"/>
          <a:lstStyle/>
          <a:p>
            <a:pPr algn="l" indent="0" marL="0">
              <a:lnSpc>
                <a:spcPts val="1100"/>
              </a:lnSpc>
              <a:buNone/>
            </a:pPr>
            <a:r>
              <a:rPr lang="en-US" sz="1100" b="1" dirty="0">
                <a:solidFill>
                  <a:srgbClr val="003459"/>
                </a:solidFill>
                <a:latin typeface="Google Sans" pitchFamily="34" charset="0"/>
                <a:ea typeface="Google Sans" pitchFamily="34" charset="-122"/>
                <a:cs typeface="Google Sans" pitchFamily="34" charset="-120"/>
              </a:rPr>
              <a:t>Keuangan dan kendali</a:t>
            </a:r>
            <a:endParaRPr lang="en-US" sz="1100" dirty="0"/>
          </a:p>
        </p:txBody>
      </p:sp>
      <p:sp>
        <p:nvSpPr>
          <p:cNvPr id="36" name="Shape 24"/>
          <p:cNvSpPr/>
          <p:nvPr/>
        </p:nvSpPr>
        <p:spPr>
          <a:xfrm>
            <a:off x="8001000" y="1930400"/>
            <a:ext cx="3175000" cy="0"/>
          </a:xfrm>
          <a:prstGeom prst="line">
            <a:avLst/>
          </a:prstGeom>
          <a:noFill/>
          <a:ln w="10160">
            <a:solidFill>
              <a:srgbClr val="D5DEE4"/>
            </a:solidFill>
            <a:prstDash val="solid"/>
          </a:ln>
        </p:spPr>
      </p:sp>
      <p:pic>
        <p:nvPicPr>
          <p:cNvPr id="37" name="Image 10" descr="public\icons\check-mint.png">    </p:cNvPr>
          <p:cNvPicPr>
            <a:picLocks noChangeAspect="1"/>
          </p:cNvPicPr>
          <p:nvPr/>
        </p:nvPicPr>
        <p:blipFill>
          <a:blip r:embed="rId11"/>
          <a:stretch>
            <a:fillRect/>
          </a:stretch>
        </p:blipFill>
        <p:spPr>
          <a:xfrm>
            <a:off x="8001000" y="2120900"/>
            <a:ext cx="190500" cy="190500"/>
          </a:xfrm>
          <a:prstGeom prst="rect">
            <a:avLst/>
          </a:prstGeom>
        </p:spPr>
      </p:pic>
      <p:sp>
        <p:nvSpPr>
          <p:cNvPr id="38" name="Text 25"/>
          <p:cNvSpPr/>
          <p:nvPr/>
        </p:nvSpPr>
        <p:spPr>
          <a:xfrm>
            <a:off x="8305800" y="20828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Biaya tiap produksi</a:t>
            </a:r>
            <a:endParaRPr lang="en-US" sz="1300" dirty="0"/>
          </a:p>
        </p:txBody>
      </p:sp>
      <p:pic>
        <p:nvPicPr>
          <p:cNvPr id="39" name="Image 11" descr="public\icons\check-mint.png">    </p:cNvPr>
          <p:cNvPicPr>
            <a:picLocks noChangeAspect="1"/>
          </p:cNvPicPr>
          <p:nvPr/>
        </p:nvPicPr>
        <p:blipFill>
          <a:blip r:embed="rId12"/>
          <a:stretch>
            <a:fillRect/>
          </a:stretch>
        </p:blipFill>
        <p:spPr>
          <a:xfrm>
            <a:off x="8001000" y="2590800"/>
            <a:ext cx="190500" cy="190500"/>
          </a:xfrm>
          <a:prstGeom prst="rect">
            <a:avLst/>
          </a:prstGeom>
        </p:spPr>
      </p:pic>
      <p:sp>
        <p:nvSpPr>
          <p:cNvPr id="40" name="Text 26"/>
          <p:cNvSpPr/>
          <p:nvPr/>
        </p:nvSpPr>
        <p:spPr>
          <a:xfrm>
            <a:off x="8305800" y="25527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Tutup buku dan laporan bulanan</a:t>
            </a:r>
            <a:endParaRPr lang="en-US" sz="1300" dirty="0"/>
          </a:p>
        </p:txBody>
      </p:sp>
      <p:pic>
        <p:nvPicPr>
          <p:cNvPr id="41" name="Image 12" descr="public\icons\check-mint.png">    </p:cNvPr>
          <p:cNvPicPr>
            <a:picLocks noChangeAspect="1"/>
          </p:cNvPicPr>
          <p:nvPr/>
        </p:nvPicPr>
        <p:blipFill>
          <a:blip r:embed="rId13"/>
          <a:stretch>
            <a:fillRect/>
          </a:stretch>
        </p:blipFill>
        <p:spPr>
          <a:xfrm>
            <a:off x="8001000" y="3060700"/>
            <a:ext cx="190500" cy="190500"/>
          </a:xfrm>
          <a:prstGeom prst="rect">
            <a:avLst/>
          </a:prstGeom>
        </p:spPr>
      </p:pic>
      <p:sp>
        <p:nvSpPr>
          <p:cNvPr id="42" name="Text 27"/>
          <p:cNvSpPr/>
          <p:nvPr/>
        </p:nvSpPr>
        <p:spPr>
          <a:xfrm>
            <a:off x="8305800" y="30226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Laporan untuk direksi</a:t>
            </a:r>
            <a:endParaRPr lang="en-US" sz="1300" dirty="0"/>
          </a:p>
        </p:txBody>
      </p:sp>
      <p:pic>
        <p:nvPicPr>
          <p:cNvPr id="43" name="Image 13" descr="public\icons\check-mint.png">    </p:cNvPr>
          <p:cNvPicPr>
            <a:picLocks noChangeAspect="1"/>
          </p:cNvPicPr>
          <p:nvPr/>
        </p:nvPicPr>
        <p:blipFill>
          <a:blip r:embed="rId14"/>
          <a:stretch>
            <a:fillRect/>
          </a:stretch>
        </p:blipFill>
        <p:spPr>
          <a:xfrm>
            <a:off x="8001000" y="3530600"/>
            <a:ext cx="190500" cy="190500"/>
          </a:xfrm>
          <a:prstGeom prst="rect">
            <a:avLst/>
          </a:prstGeom>
        </p:spPr>
      </p:pic>
      <p:sp>
        <p:nvSpPr>
          <p:cNvPr id="44" name="Text 28"/>
          <p:cNvSpPr/>
          <p:nvPr/>
        </p:nvSpPr>
        <p:spPr>
          <a:xfrm>
            <a:off x="8305800" y="34925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Coba skenario harga</a:t>
            </a:r>
            <a:endParaRPr lang="en-US" sz="1300" dirty="0"/>
          </a:p>
        </p:txBody>
      </p:sp>
      <p:pic>
        <p:nvPicPr>
          <p:cNvPr id="45" name="Image 14" descr="public\icons\check-mint.png">    </p:cNvPr>
          <p:cNvPicPr>
            <a:picLocks noChangeAspect="1"/>
          </p:cNvPicPr>
          <p:nvPr/>
        </p:nvPicPr>
        <p:blipFill>
          <a:blip r:embed="rId15"/>
          <a:stretch>
            <a:fillRect/>
          </a:stretch>
        </p:blipFill>
        <p:spPr>
          <a:xfrm>
            <a:off x="8001000" y="4000500"/>
            <a:ext cx="190500" cy="190500"/>
          </a:xfrm>
          <a:prstGeom prst="rect">
            <a:avLst/>
          </a:prstGeom>
        </p:spPr>
      </p:pic>
      <p:sp>
        <p:nvSpPr>
          <p:cNvPr id="46" name="Text 29"/>
          <p:cNvSpPr/>
          <p:nvPr/>
        </p:nvSpPr>
        <p:spPr>
          <a:xfrm>
            <a:off x="8305800" y="39624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Pengingat tagihan dan jadwal</a:t>
            </a:r>
            <a:endParaRPr lang="en-US" sz="1300" dirty="0"/>
          </a:p>
        </p:txBody>
      </p:sp>
      <p:pic>
        <p:nvPicPr>
          <p:cNvPr id="47" name="Image 15" descr="public\icons\check-mint.png">    </p:cNvPr>
          <p:cNvPicPr>
            <a:picLocks noChangeAspect="1"/>
          </p:cNvPicPr>
          <p:nvPr/>
        </p:nvPicPr>
        <p:blipFill>
          <a:blip r:embed="rId16"/>
          <a:stretch>
            <a:fillRect/>
          </a:stretch>
        </p:blipFill>
        <p:spPr>
          <a:xfrm>
            <a:off x="8001000" y="4470400"/>
            <a:ext cx="190500" cy="190500"/>
          </a:xfrm>
          <a:prstGeom prst="rect">
            <a:avLst/>
          </a:prstGeom>
        </p:spPr>
      </p:pic>
      <p:sp>
        <p:nvSpPr>
          <p:cNvPr id="48" name="Text 30"/>
          <p:cNvSpPr/>
          <p:nvPr/>
        </p:nvSpPr>
        <p:spPr>
          <a:xfrm>
            <a:off x="8305800" y="44323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Akses per peran</a:t>
            </a:r>
            <a:endParaRPr lang="en-US" sz="1300" dirty="0"/>
          </a:p>
        </p:txBody>
      </p:sp>
      <p:pic>
        <p:nvPicPr>
          <p:cNvPr id="49" name="Image 16" descr="public\icons\check-mint.png">    </p:cNvPr>
          <p:cNvPicPr>
            <a:picLocks noChangeAspect="1"/>
          </p:cNvPicPr>
          <p:nvPr/>
        </p:nvPicPr>
        <p:blipFill>
          <a:blip r:embed="rId17"/>
          <a:stretch>
            <a:fillRect/>
          </a:stretch>
        </p:blipFill>
        <p:spPr>
          <a:xfrm>
            <a:off x="8001000" y="4940300"/>
            <a:ext cx="190500" cy="190500"/>
          </a:xfrm>
          <a:prstGeom prst="rect">
            <a:avLst/>
          </a:prstGeom>
        </p:spPr>
      </p:pic>
      <p:sp>
        <p:nvSpPr>
          <p:cNvPr id="50" name="Text 31"/>
          <p:cNvSpPr/>
          <p:nvPr/>
        </p:nvSpPr>
        <p:spPr>
          <a:xfrm>
            <a:off x="8305800" y="4902200"/>
            <a:ext cx="2857500" cy="279400"/>
          </a:xfrm>
          <a:prstGeom prst="rect">
            <a:avLst/>
          </a:prstGeom>
          <a:noFill/>
          <a:ln/>
        </p:spPr>
        <p:txBody>
          <a:bodyPr wrap="square" lIns="0" tIns="0" rIns="0" bIns="0" rtlCol="0" anchor="ctr"/>
          <a:lstStyle/>
          <a:p>
            <a:pPr algn="l" indent="0" marL="0">
              <a:lnSpc>
                <a:spcPts val="1430"/>
              </a:lnSpc>
              <a:buNone/>
            </a:pPr>
            <a:r>
              <a:rPr lang="en-US" sz="1300" dirty="0">
                <a:solidFill>
                  <a:srgbClr val="00171F"/>
                </a:solidFill>
                <a:latin typeface="Google Sans" pitchFamily="34" charset="0"/>
                <a:ea typeface="Google Sans" pitchFamily="34" charset="-122"/>
                <a:cs typeface="Google Sans" pitchFamily="34" charset="-120"/>
              </a:rPr>
              <a:t>Aplikasi ponsel</a:t>
            </a:r>
            <a:endParaRPr lang="en-US" sz="1300" dirty="0"/>
          </a:p>
        </p:txBody>
      </p:sp>
      <p:sp>
        <p:nvSpPr>
          <p:cNvPr id="51" name="Shape 32"/>
          <p:cNvSpPr/>
          <p:nvPr/>
        </p:nvSpPr>
        <p:spPr>
          <a:xfrm>
            <a:off x="8001000" y="5461000"/>
            <a:ext cx="3429000" cy="825500"/>
          </a:xfrm>
          <a:prstGeom prst="roundRect">
            <a:avLst>
              <a:gd name="adj" fmla="val 18462"/>
            </a:avLst>
          </a:prstGeom>
          <a:solidFill>
            <a:srgbClr val="E3EDF5"/>
          </a:solidFill>
          <a:ln/>
        </p:spPr>
      </p:sp>
      <p:pic>
        <p:nvPicPr>
          <p:cNvPr id="52" name="Image 17" descr="public\icons\sparkles-green.png">    </p:cNvPr>
          <p:cNvPicPr>
            <a:picLocks noChangeAspect="1"/>
          </p:cNvPicPr>
          <p:nvPr/>
        </p:nvPicPr>
        <p:blipFill>
          <a:blip r:embed="rId18"/>
          <a:stretch>
            <a:fillRect/>
          </a:stretch>
        </p:blipFill>
        <p:spPr>
          <a:xfrm>
            <a:off x="8178800" y="5664200"/>
            <a:ext cx="279400" cy="279400"/>
          </a:xfrm>
          <a:prstGeom prst="rect">
            <a:avLst/>
          </a:prstGeom>
        </p:spPr>
      </p:pic>
      <p:sp>
        <p:nvSpPr>
          <p:cNvPr id="53" name="Text 33"/>
          <p:cNvSpPr/>
          <p:nvPr/>
        </p:nvSpPr>
        <p:spPr>
          <a:xfrm>
            <a:off x="8559800" y="5461000"/>
            <a:ext cx="2730500" cy="825500"/>
          </a:xfrm>
          <a:prstGeom prst="rect">
            <a:avLst/>
          </a:prstGeom>
          <a:noFill/>
          <a:ln/>
        </p:spPr>
        <p:txBody>
          <a:bodyPr wrap="square" lIns="0" tIns="0" rIns="0" bIns="0" rtlCol="0" anchor="ctr"/>
          <a:lstStyle/>
          <a:p>
            <a:pPr algn="l" indent="0" marL="0">
              <a:lnSpc>
                <a:spcPts val="1430"/>
              </a:lnSpc>
              <a:buNone/>
            </a:pPr>
            <a:r>
              <a:rPr lang="en-US" sz="1100" dirty="0">
                <a:solidFill>
                  <a:srgbClr val="003459"/>
                </a:solidFill>
                <a:latin typeface="Google Sans SemiBold" pitchFamily="34" charset="0"/>
                <a:ea typeface="Google Sans SemiBold" pitchFamily="34" charset="-122"/>
                <a:cs typeface="Google Sans SemiBold" pitchFamily="34" charset="-120"/>
              </a:rPr>
              <a:t>Asisten AI: tanya "piutang apa yang telat?" dan dapat jawabannya.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9FB"/>
        </a:solidFill>
      </p:bgPr>
    </p:bg>
    <p:spTree>
      <p:nvGrpSpPr>
        <p:cNvPr id="1" name=""/>
        <p:cNvGrpSpPr/>
        <p:nvPr/>
      </p:nvGrpSpPr>
      <p:grpSpPr>
        <a:xfrm>
          <a:off x="0" y="0"/>
          <a:ext cx="0" cy="0"/>
          <a:chOff x="0" y="0"/>
          <a:chExt cx="0" cy="0"/>
        </a:xfrm>
      </p:grpSpPr>
      <p:sp>
        <p:nvSpPr>
          <p:cNvPr id="2" name="Text 0"/>
          <p:cNvSpPr/>
          <p:nvPr/>
        </p:nvSpPr>
        <p:spPr>
          <a:xfrm>
            <a:off x="762000" y="533400"/>
            <a:ext cx="5715000" cy="190500"/>
          </a:xfrm>
          <a:prstGeom prst="rect">
            <a:avLst/>
          </a:prstGeom>
          <a:noFill/>
          <a:ln/>
        </p:spPr>
        <p:txBody>
          <a:bodyPr wrap="square" lIns="0" tIns="0" rIns="0" bIns="0" rtlCol="0" anchor="ctr"/>
          <a:lstStyle/>
          <a:p>
            <a:pPr algn="l" indent="0" marL="0">
              <a:lnSpc>
                <a:spcPts val="1100"/>
              </a:lnSpc>
              <a:buNone/>
            </a:pPr>
            <a:r>
              <a:rPr lang="en-US" sz="1100" dirty="0">
                <a:solidFill>
                  <a:srgbClr val="003459"/>
                </a:solidFill>
                <a:latin typeface="Google Sans SemiBold" pitchFamily="34" charset="0"/>
                <a:ea typeface="Google Sans SemiBold" pitchFamily="34" charset="-122"/>
                <a:cs typeface="Google Sans SemiBold" pitchFamily="34" charset="-120"/>
              </a:rPr>
              <a:t>Rencana kerja</a:t>
            </a:r>
            <a:endParaRPr lang="en-US" sz="1100" dirty="0"/>
          </a:p>
        </p:txBody>
      </p:sp>
      <p:sp>
        <p:nvSpPr>
          <p:cNvPr id="3" name="Text 1"/>
          <p:cNvSpPr/>
          <p:nvPr/>
        </p:nvSpPr>
        <p:spPr>
          <a:xfrm>
            <a:off x="762000" y="800100"/>
            <a:ext cx="5715000" cy="482600"/>
          </a:xfrm>
          <a:prstGeom prst="rect">
            <a:avLst/>
          </a:prstGeom>
          <a:noFill/>
          <a:ln/>
        </p:spPr>
        <p:txBody>
          <a:bodyPr wrap="square" lIns="0" tIns="0" rIns="0" bIns="0" rtlCol="0" anchor="t"/>
          <a:lstStyle/>
          <a:p>
            <a:pPr algn="l" indent="0" marL="0">
              <a:lnSpc>
                <a:spcPts val="3180"/>
              </a:lnSpc>
              <a:buNone/>
            </a:pPr>
            <a:r>
              <a:rPr lang="en-US" sz="3000" b="1" dirty="0">
                <a:solidFill>
                  <a:srgbClr val="00171F"/>
                </a:solidFill>
                <a:latin typeface="Google Sans" pitchFamily="34" charset="0"/>
                <a:ea typeface="Google Sans" pitchFamily="34" charset="-122"/>
                <a:cs typeface="Google Sans" pitchFamily="34" charset="-120"/>
              </a:rPr>
              <a:t>Selesai dalam 1 bulan</a:t>
            </a:r>
            <a:endParaRPr lang="en-US" sz="3000" dirty="0"/>
          </a:p>
        </p:txBody>
      </p:sp>
      <p:sp>
        <p:nvSpPr>
          <p:cNvPr id="4" name="Text 2"/>
          <p:cNvSpPr/>
          <p:nvPr/>
        </p:nvSpPr>
        <p:spPr>
          <a:xfrm>
            <a:off x="6350000" y="800100"/>
            <a:ext cx="5080000" cy="482600"/>
          </a:xfrm>
          <a:prstGeom prst="rect">
            <a:avLst/>
          </a:prstGeom>
          <a:noFill/>
          <a:ln/>
        </p:spPr>
        <p:txBody>
          <a:bodyPr wrap="square" lIns="0" tIns="0" rIns="0" bIns="0" rtlCol="0" anchor="ctr"/>
          <a:lstStyle/>
          <a:p>
            <a:pPr algn="r" indent="0" marL="0">
              <a:lnSpc>
                <a:spcPts val="1560"/>
              </a:lnSpc>
              <a:buNone/>
            </a:pPr>
            <a:r>
              <a:rPr lang="en-US" sz="1200" dirty="0">
                <a:solidFill>
                  <a:srgbClr val="4B5E69"/>
                </a:solidFill>
                <a:latin typeface="Google Sans" pitchFamily="34" charset="0"/>
                <a:ea typeface="Google Sans" pitchFamily="34" charset="-122"/>
                <a:cs typeface="Google Sans" pitchFamily="34" charset="-120"/>
              </a:rPr>
              <a:t>Tahap dikerjakan bersamaan, jadi total 4 minggu.</a:t>
            </a:r>
            <a:endParaRPr lang="en-US" sz="1200" dirty="0"/>
          </a:p>
        </p:txBody>
      </p:sp>
      <p:sp>
        <p:nvSpPr>
          <p:cNvPr id="5" name="Shape 3"/>
          <p:cNvSpPr/>
          <p:nvPr/>
        </p:nvSpPr>
        <p:spPr>
          <a:xfrm>
            <a:off x="762000" y="1587500"/>
            <a:ext cx="2552700" cy="3175000"/>
          </a:xfrm>
          <a:prstGeom prst="roundRect">
            <a:avLst>
              <a:gd name="adj" fmla="val 6965"/>
            </a:avLst>
          </a:prstGeom>
          <a:solidFill>
            <a:srgbClr val="FFFFFF"/>
          </a:solidFill>
          <a:ln w="10160">
            <a:solidFill>
              <a:srgbClr val="D5DEE4"/>
            </a:solidFill>
            <a:prstDash val="solid"/>
          </a:ln>
        </p:spPr>
      </p:sp>
      <p:sp>
        <p:nvSpPr>
          <p:cNvPr id="6" name="Shape 4"/>
          <p:cNvSpPr/>
          <p:nvPr/>
        </p:nvSpPr>
        <p:spPr>
          <a:xfrm>
            <a:off x="939800" y="1765300"/>
            <a:ext cx="838200" cy="228600"/>
          </a:xfrm>
          <a:prstGeom prst="roundRect">
            <a:avLst>
              <a:gd name="adj" fmla="val 50000"/>
            </a:avLst>
          </a:prstGeom>
          <a:solidFill>
            <a:srgbClr val="E3EDF5"/>
          </a:solidFill>
          <a:ln/>
        </p:spPr>
      </p:sp>
      <p:sp>
        <p:nvSpPr>
          <p:cNvPr id="7" name="Text 5"/>
          <p:cNvSpPr/>
          <p:nvPr/>
        </p:nvSpPr>
        <p:spPr>
          <a:xfrm>
            <a:off x="939800" y="1765300"/>
            <a:ext cx="838200" cy="228600"/>
          </a:xfrm>
          <a:prstGeom prst="rect">
            <a:avLst/>
          </a:prstGeom>
          <a:noFill/>
          <a:ln/>
        </p:spPr>
        <p:txBody>
          <a:bodyPr wrap="square" lIns="0" tIns="0" rIns="0" bIns="0" rtlCol="0" anchor="ctr"/>
          <a:lstStyle/>
          <a:p>
            <a:pPr algn="ctr" indent="0" marL="0">
              <a:lnSpc>
                <a:spcPts val="900"/>
              </a:lnSpc>
              <a:buNone/>
            </a:pPr>
            <a:r>
              <a:rPr lang="en-US" sz="900" b="1" dirty="0">
                <a:solidFill>
                  <a:srgbClr val="003459"/>
                </a:solidFill>
                <a:latin typeface="Google Sans" pitchFamily="34" charset="0"/>
                <a:ea typeface="Google Sans" pitchFamily="34" charset="-122"/>
                <a:cs typeface="Google Sans" pitchFamily="34" charset="-120"/>
              </a:rPr>
              <a:t>Minggu 1</a:t>
            </a:r>
            <a:endParaRPr lang="en-US" sz="900" dirty="0"/>
          </a:p>
        </p:txBody>
      </p:sp>
      <p:sp>
        <p:nvSpPr>
          <p:cNvPr id="8" name="Text 6"/>
          <p:cNvSpPr/>
          <p:nvPr/>
        </p:nvSpPr>
        <p:spPr>
          <a:xfrm>
            <a:off x="939800" y="2120900"/>
            <a:ext cx="2197100" cy="279400"/>
          </a:xfrm>
          <a:prstGeom prst="rect">
            <a:avLst/>
          </a:prstGeom>
          <a:noFill/>
          <a:ln/>
        </p:spPr>
        <p:txBody>
          <a:bodyPr wrap="square" lIns="0" tIns="0" rIns="0" bIns="0" rtlCol="0" anchor="ctr"/>
          <a:lstStyle/>
          <a:p>
            <a:pPr algn="l" indent="0" marL="0">
              <a:lnSpc>
                <a:spcPts val="1700"/>
              </a:lnSpc>
              <a:buNone/>
            </a:pPr>
            <a:r>
              <a:rPr lang="en-US" sz="1700" b="1" dirty="0">
                <a:solidFill>
                  <a:srgbClr val="00171F"/>
                </a:solidFill>
                <a:latin typeface="Google Sans" pitchFamily="34" charset="0"/>
                <a:ea typeface="Google Sans" pitchFamily="34" charset="-122"/>
                <a:cs typeface="Google Sans" pitchFamily="34" charset="-120"/>
              </a:rPr>
              <a:t>Rancang</a:t>
            </a:r>
            <a:endParaRPr lang="en-US" sz="1700" dirty="0"/>
          </a:p>
        </p:txBody>
      </p:sp>
      <p:sp>
        <p:nvSpPr>
          <p:cNvPr id="9" name="Shape 7"/>
          <p:cNvSpPr/>
          <p:nvPr/>
        </p:nvSpPr>
        <p:spPr>
          <a:xfrm>
            <a:off x="939800" y="2527300"/>
            <a:ext cx="2197100" cy="0"/>
          </a:xfrm>
          <a:prstGeom prst="line">
            <a:avLst/>
          </a:prstGeom>
          <a:noFill/>
          <a:ln w="10160">
            <a:solidFill>
              <a:srgbClr val="D5DEE4"/>
            </a:solidFill>
            <a:prstDash val="solid"/>
          </a:ln>
        </p:spPr>
      </p:sp>
      <p:pic>
        <p:nvPicPr>
          <p:cNvPr id="10" name="Image 0" descr="public\icons\check-mint.png">    </p:cNvPr>
          <p:cNvPicPr>
            <a:picLocks noChangeAspect="1"/>
          </p:cNvPicPr>
          <p:nvPr/>
        </p:nvPicPr>
        <p:blipFill>
          <a:blip r:embed="rId1"/>
          <a:stretch>
            <a:fillRect/>
          </a:stretch>
        </p:blipFill>
        <p:spPr>
          <a:xfrm>
            <a:off x="939800" y="2730500"/>
            <a:ext cx="177800" cy="177800"/>
          </a:xfrm>
          <a:prstGeom prst="rect">
            <a:avLst/>
          </a:prstGeom>
        </p:spPr>
      </p:pic>
      <p:sp>
        <p:nvSpPr>
          <p:cNvPr id="11" name="Text 8"/>
          <p:cNvSpPr/>
          <p:nvPr/>
        </p:nvSpPr>
        <p:spPr>
          <a:xfrm>
            <a:off x="1206500" y="27051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pitchFamily="34" charset="0"/>
                <a:ea typeface="Google Sans" pitchFamily="34" charset="-122"/>
                <a:cs typeface="Google Sans" pitchFamily="34" charset="-120"/>
              </a:rPr>
              <a:t>Diskusi dan wawancara tim</a:t>
            </a:r>
            <a:endParaRPr lang="en-US" sz="1100" dirty="0"/>
          </a:p>
        </p:txBody>
      </p:sp>
      <p:pic>
        <p:nvPicPr>
          <p:cNvPr id="12" name="Image 1" descr="public\icons\check-mint.png">    </p:cNvPr>
          <p:cNvPicPr>
            <a:picLocks noChangeAspect="1"/>
          </p:cNvPicPr>
          <p:nvPr/>
        </p:nvPicPr>
        <p:blipFill>
          <a:blip r:embed="rId2"/>
          <a:stretch>
            <a:fillRect/>
          </a:stretch>
        </p:blipFill>
        <p:spPr>
          <a:xfrm>
            <a:off x="939800" y="3200400"/>
            <a:ext cx="177800" cy="177800"/>
          </a:xfrm>
          <a:prstGeom prst="rect">
            <a:avLst/>
          </a:prstGeom>
        </p:spPr>
      </p:pic>
      <p:sp>
        <p:nvSpPr>
          <p:cNvPr id="13" name="Text 9"/>
          <p:cNvSpPr/>
          <p:nvPr/>
        </p:nvSpPr>
        <p:spPr>
          <a:xfrm>
            <a:off x="1206500" y="31750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pitchFamily="34" charset="0"/>
                <a:ea typeface="Google Sans" pitchFamily="34" charset="-122"/>
                <a:cs typeface="Google Sans" pitchFamily="34" charset="-120"/>
              </a:rPr>
              <a:t>Rancangan disetujui</a:t>
            </a:r>
            <a:endParaRPr lang="en-US" sz="1100" dirty="0"/>
          </a:p>
        </p:txBody>
      </p:sp>
      <p:pic>
        <p:nvPicPr>
          <p:cNvPr id="14" name="Image 2" descr="public\icons\check-mint.png">    </p:cNvPr>
          <p:cNvPicPr>
            <a:picLocks noChangeAspect="1"/>
          </p:cNvPicPr>
          <p:nvPr/>
        </p:nvPicPr>
        <p:blipFill>
          <a:blip r:embed="rId3"/>
          <a:stretch>
            <a:fillRect/>
          </a:stretch>
        </p:blipFill>
        <p:spPr>
          <a:xfrm>
            <a:off x="939800" y="3670300"/>
            <a:ext cx="177800" cy="177800"/>
          </a:xfrm>
          <a:prstGeom prst="rect">
            <a:avLst/>
          </a:prstGeom>
        </p:spPr>
      </p:pic>
      <p:sp>
        <p:nvSpPr>
          <p:cNvPr id="15" name="Text 10"/>
          <p:cNvSpPr/>
          <p:nvPr/>
        </p:nvSpPr>
        <p:spPr>
          <a:xfrm>
            <a:off x="1206500" y="36449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pitchFamily="34" charset="0"/>
                <a:ea typeface="Google Sans" pitchFamily="34" charset="-122"/>
                <a:cs typeface="Google Sans" pitchFamily="34" charset="-120"/>
              </a:rPr>
              <a:t>Aplikasi inti mulai dibuat</a:t>
            </a:r>
            <a:endParaRPr lang="en-US" sz="1100" dirty="0"/>
          </a:p>
        </p:txBody>
      </p:sp>
      <p:sp>
        <p:nvSpPr>
          <p:cNvPr id="16" name="Shape 11"/>
          <p:cNvSpPr/>
          <p:nvPr/>
        </p:nvSpPr>
        <p:spPr>
          <a:xfrm>
            <a:off x="889000" y="4152900"/>
            <a:ext cx="2298700" cy="482600"/>
          </a:xfrm>
          <a:prstGeom prst="roundRect">
            <a:avLst>
              <a:gd name="adj" fmla="val 26316"/>
            </a:avLst>
          </a:prstGeom>
          <a:solidFill>
            <a:srgbClr val="E3EDF5"/>
          </a:solidFill>
          <a:ln/>
        </p:spPr>
      </p:sp>
      <p:pic>
        <p:nvPicPr>
          <p:cNvPr id="17" name="Image 3" descr="public\icons\flag-green.png">    </p:cNvPr>
          <p:cNvPicPr>
            <a:picLocks noChangeAspect="1"/>
          </p:cNvPicPr>
          <p:nvPr/>
        </p:nvPicPr>
        <p:blipFill>
          <a:blip r:embed="rId4"/>
          <a:stretch>
            <a:fillRect/>
          </a:stretch>
        </p:blipFill>
        <p:spPr>
          <a:xfrm>
            <a:off x="1016000" y="4292600"/>
            <a:ext cx="203200" cy="203200"/>
          </a:xfrm>
          <a:prstGeom prst="rect">
            <a:avLst/>
          </a:prstGeom>
        </p:spPr>
      </p:pic>
      <p:sp>
        <p:nvSpPr>
          <p:cNvPr id="18" name="Text 12"/>
          <p:cNvSpPr/>
          <p:nvPr/>
        </p:nvSpPr>
        <p:spPr>
          <a:xfrm>
            <a:off x="1295400" y="4152900"/>
            <a:ext cx="1790700" cy="482600"/>
          </a:xfrm>
          <a:prstGeom prst="rect">
            <a:avLst/>
          </a:prstGeom>
          <a:noFill/>
          <a:ln/>
        </p:spPr>
        <p:txBody>
          <a:bodyPr wrap="square" lIns="0" tIns="0" rIns="0" bIns="0" rtlCol="0" anchor="ctr"/>
          <a:lstStyle/>
          <a:p>
            <a:pPr algn="l" indent="0" marL="0">
              <a:lnSpc>
                <a:spcPts val="1260"/>
              </a:lnSpc>
              <a:buNone/>
            </a:pPr>
            <a:r>
              <a:rPr lang="en-US" sz="1050" b="1" dirty="0">
                <a:solidFill>
                  <a:srgbClr val="003459"/>
                </a:solidFill>
                <a:latin typeface="Google Sans" pitchFamily="34" charset="0"/>
                <a:ea typeface="Google Sans" pitchFamily="34" charset="-122"/>
                <a:cs typeface="Google Sans" pitchFamily="34" charset="-120"/>
              </a:rPr>
              <a:t>Rancangan siap</a:t>
            </a:r>
            <a:endParaRPr lang="en-US" sz="1050" dirty="0"/>
          </a:p>
        </p:txBody>
      </p:sp>
      <p:sp>
        <p:nvSpPr>
          <p:cNvPr id="19" name="Shape 13"/>
          <p:cNvSpPr/>
          <p:nvPr/>
        </p:nvSpPr>
        <p:spPr>
          <a:xfrm>
            <a:off x="3467100" y="1587500"/>
            <a:ext cx="2552700" cy="3175000"/>
          </a:xfrm>
          <a:prstGeom prst="roundRect">
            <a:avLst>
              <a:gd name="adj" fmla="val 6965"/>
            </a:avLst>
          </a:prstGeom>
          <a:solidFill>
            <a:srgbClr val="FFFFFF"/>
          </a:solidFill>
          <a:ln w="10160">
            <a:solidFill>
              <a:srgbClr val="D5DEE4"/>
            </a:solidFill>
            <a:prstDash val="solid"/>
          </a:ln>
        </p:spPr>
      </p:sp>
      <p:sp>
        <p:nvSpPr>
          <p:cNvPr id="20" name="Shape 14"/>
          <p:cNvSpPr/>
          <p:nvPr/>
        </p:nvSpPr>
        <p:spPr>
          <a:xfrm>
            <a:off x="3644900" y="1765300"/>
            <a:ext cx="838200" cy="228600"/>
          </a:xfrm>
          <a:prstGeom prst="roundRect">
            <a:avLst>
              <a:gd name="adj" fmla="val 50000"/>
            </a:avLst>
          </a:prstGeom>
          <a:solidFill>
            <a:srgbClr val="E3EDF5"/>
          </a:solidFill>
          <a:ln/>
        </p:spPr>
      </p:sp>
      <p:sp>
        <p:nvSpPr>
          <p:cNvPr id="21" name="Text 15"/>
          <p:cNvSpPr/>
          <p:nvPr/>
        </p:nvSpPr>
        <p:spPr>
          <a:xfrm>
            <a:off x="3644900" y="1765300"/>
            <a:ext cx="838200" cy="228600"/>
          </a:xfrm>
          <a:prstGeom prst="rect">
            <a:avLst/>
          </a:prstGeom>
          <a:noFill/>
          <a:ln/>
        </p:spPr>
        <p:txBody>
          <a:bodyPr wrap="square" lIns="0" tIns="0" rIns="0" bIns="0" rtlCol="0" anchor="ctr"/>
          <a:lstStyle/>
          <a:p>
            <a:pPr algn="ctr" indent="0" marL="0">
              <a:lnSpc>
                <a:spcPts val="900"/>
              </a:lnSpc>
              <a:buNone/>
            </a:pPr>
            <a:r>
              <a:rPr lang="en-US" sz="900" b="1" dirty="0">
                <a:solidFill>
                  <a:srgbClr val="003459"/>
                </a:solidFill>
                <a:latin typeface="Google Sans" pitchFamily="34" charset="0"/>
                <a:ea typeface="Google Sans" pitchFamily="34" charset="-122"/>
                <a:cs typeface="Google Sans" pitchFamily="34" charset="-120"/>
              </a:rPr>
              <a:t>Minggu 2</a:t>
            </a:r>
            <a:endParaRPr lang="en-US" sz="900" dirty="0"/>
          </a:p>
        </p:txBody>
      </p:sp>
      <p:sp>
        <p:nvSpPr>
          <p:cNvPr id="22" name="Text 16"/>
          <p:cNvSpPr/>
          <p:nvPr/>
        </p:nvSpPr>
        <p:spPr>
          <a:xfrm>
            <a:off x="3644900" y="2120900"/>
            <a:ext cx="2197100" cy="279400"/>
          </a:xfrm>
          <a:prstGeom prst="rect">
            <a:avLst/>
          </a:prstGeom>
          <a:noFill/>
          <a:ln/>
        </p:spPr>
        <p:txBody>
          <a:bodyPr wrap="square" lIns="0" tIns="0" rIns="0" bIns="0" rtlCol="0" anchor="ctr"/>
          <a:lstStyle/>
          <a:p>
            <a:pPr algn="l" indent="0" marL="0">
              <a:lnSpc>
                <a:spcPts val="1700"/>
              </a:lnSpc>
              <a:buNone/>
            </a:pPr>
            <a:r>
              <a:rPr lang="en-US" sz="1700" b="1" dirty="0">
                <a:solidFill>
                  <a:srgbClr val="00171F"/>
                </a:solidFill>
                <a:latin typeface="Google Sans" pitchFamily="34" charset="0"/>
                <a:ea typeface="Google Sans" pitchFamily="34" charset="-122"/>
                <a:cs typeface="Google Sans" pitchFamily="34" charset="-120"/>
              </a:rPr>
              <a:t>Bangun inti</a:t>
            </a:r>
            <a:endParaRPr lang="en-US" sz="1700" dirty="0"/>
          </a:p>
        </p:txBody>
      </p:sp>
      <p:sp>
        <p:nvSpPr>
          <p:cNvPr id="23" name="Shape 17"/>
          <p:cNvSpPr/>
          <p:nvPr/>
        </p:nvSpPr>
        <p:spPr>
          <a:xfrm>
            <a:off x="3644900" y="2527300"/>
            <a:ext cx="2197100" cy="0"/>
          </a:xfrm>
          <a:prstGeom prst="line">
            <a:avLst/>
          </a:prstGeom>
          <a:noFill/>
          <a:ln w="10160">
            <a:solidFill>
              <a:srgbClr val="D5DEE4"/>
            </a:solidFill>
            <a:prstDash val="solid"/>
          </a:ln>
        </p:spPr>
      </p:sp>
      <p:pic>
        <p:nvPicPr>
          <p:cNvPr id="24" name="Image 4" descr="public\icons\check-mint.png">    </p:cNvPr>
          <p:cNvPicPr>
            <a:picLocks noChangeAspect="1"/>
          </p:cNvPicPr>
          <p:nvPr/>
        </p:nvPicPr>
        <p:blipFill>
          <a:blip r:embed="rId5"/>
          <a:stretch>
            <a:fillRect/>
          </a:stretch>
        </p:blipFill>
        <p:spPr>
          <a:xfrm>
            <a:off x="3644900" y="2730500"/>
            <a:ext cx="177800" cy="177800"/>
          </a:xfrm>
          <a:prstGeom prst="rect">
            <a:avLst/>
          </a:prstGeom>
        </p:spPr>
      </p:pic>
      <p:sp>
        <p:nvSpPr>
          <p:cNvPr id="25" name="Text 18"/>
          <p:cNvSpPr/>
          <p:nvPr/>
        </p:nvSpPr>
        <p:spPr>
          <a:xfrm>
            <a:off x="3911600" y="27051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pitchFamily="34" charset="0"/>
                <a:ea typeface="Google Sans" pitchFamily="34" charset="-122"/>
                <a:cs typeface="Google Sans" pitchFamily="34" charset="-120"/>
              </a:rPr>
              <a:t>Pembelian, produksi, stok</a:t>
            </a:r>
            <a:endParaRPr lang="en-US" sz="1100" dirty="0"/>
          </a:p>
        </p:txBody>
      </p:sp>
      <p:pic>
        <p:nvPicPr>
          <p:cNvPr id="26" name="Image 5" descr="public\icons\check-mint.png">    </p:cNvPr>
          <p:cNvPicPr>
            <a:picLocks noChangeAspect="1"/>
          </p:cNvPicPr>
          <p:nvPr/>
        </p:nvPicPr>
        <p:blipFill>
          <a:blip r:embed="rId6"/>
          <a:stretch>
            <a:fillRect/>
          </a:stretch>
        </p:blipFill>
        <p:spPr>
          <a:xfrm>
            <a:off x="3644900" y="3200400"/>
            <a:ext cx="177800" cy="177800"/>
          </a:xfrm>
          <a:prstGeom prst="rect">
            <a:avLst/>
          </a:prstGeom>
        </p:spPr>
      </p:pic>
      <p:sp>
        <p:nvSpPr>
          <p:cNvPr id="27" name="Text 19"/>
          <p:cNvSpPr/>
          <p:nvPr/>
        </p:nvSpPr>
        <p:spPr>
          <a:xfrm>
            <a:off x="3911600" y="31750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pitchFamily="34" charset="0"/>
                <a:ea typeface="Google Sans" pitchFamily="34" charset="-122"/>
                <a:cs typeface="Google Sans" pitchFamily="34" charset="-120"/>
              </a:rPr>
              <a:t>Penjualan dan tagihan</a:t>
            </a:r>
            <a:endParaRPr lang="en-US" sz="1100" dirty="0"/>
          </a:p>
        </p:txBody>
      </p:sp>
      <p:pic>
        <p:nvPicPr>
          <p:cNvPr id="28" name="Image 6" descr="public\icons\check-mint.png">    </p:cNvPr>
          <p:cNvPicPr>
            <a:picLocks noChangeAspect="1"/>
          </p:cNvPicPr>
          <p:nvPr/>
        </p:nvPicPr>
        <p:blipFill>
          <a:blip r:embed="rId7"/>
          <a:stretch>
            <a:fillRect/>
          </a:stretch>
        </p:blipFill>
        <p:spPr>
          <a:xfrm>
            <a:off x="3644900" y="3670300"/>
            <a:ext cx="177800" cy="177800"/>
          </a:xfrm>
          <a:prstGeom prst="rect">
            <a:avLst/>
          </a:prstGeom>
        </p:spPr>
      </p:pic>
      <p:sp>
        <p:nvSpPr>
          <p:cNvPr id="29" name="Text 20"/>
          <p:cNvSpPr/>
          <p:nvPr/>
        </p:nvSpPr>
        <p:spPr>
          <a:xfrm>
            <a:off x="3911600" y="36449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pitchFamily="34" charset="0"/>
                <a:ea typeface="Google Sans" pitchFamily="34" charset="-122"/>
                <a:cs typeface="Google Sans" pitchFamily="34" charset="-120"/>
              </a:rPr>
              <a:t>Mutu, gudang dingin, jadwal</a:t>
            </a:r>
            <a:endParaRPr lang="en-US" sz="1100" dirty="0"/>
          </a:p>
        </p:txBody>
      </p:sp>
      <p:sp>
        <p:nvSpPr>
          <p:cNvPr id="30" name="Shape 21"/>
          <p:cNvSpPr/>
          <p:nvPr/>
        </p:nvSpPr>
        <p:spPr>
          <a:xfrm>
            <a:off x="3594100" y="4152900"/>
            <a:ext cx="2298700" cy="482600"/>
          </a:xfrm>
          <a:prstGeom prst="roundRect">
            <a:avLst>
              <a:gd name="adj" fmla="val 26316"/>
            </a:avLst>
          </a:prstGeom>
          <a:solidFill>
            <a:srgbClr val="E3EDF5"/>
          </a:solidFill>
          <a:ln/>
        </p:spPr>
      </p:sp>
      <p:pic>
        <p:nvPicPr>
          <p:cNvPr id="31" name="Image 7" descr="public\icons\flag-green.png">    </p:cNvPr>
          <p:cNvPicPr>
            <a:picLocks noChangeAspect="1"/>
          </p:cNvPicPr>
          <p:nvPr/>
        </p:nvPicPr>
        <p:blipFill>
          <a:blip r:embed="rId8"/>
          <a:stretch>
            <a:fillRect/>
          </a:stretch>
        </p:blipFill>
        <p:spPr>
          <a:xfrm>
            <a:off x="3721100" y="4292600"/>
            <a:ext cx="203200" cy="203200"/>
          </a:xfrm>
          <a:prstGeom prst="rect">
            <a:avLst/>
          </a:prstGeom>
        </p:spPr>
      </p:pic>
      <p:sp>
        <p:nvSpPr>
          <p:cNvPr id="32" name="Text 22"/>
          <p:cNvSpPr/>
          <p:nvPr/>
        </p:nvSpPr>
        <p:spPr>
          <a:xfrm>
            <a:off x="4000500" y="4152900"/>
            <a:ext cx="1790700" cy="482600"/>
          </a:xfrm>
          <a:prstGeom prst="rect">
            <a:avLst/>
          </a:prstGeom>
          <a:noFill/>
          <a:ln/>
        </p:spPr>
        <p:txBody>
          <a:bodyPr wrap="square" lIns="0" tIns="0" rIns="0" bIns="0" rtlCol="0" anchor="ctr"/>
          <a:lstStyle/>
          <a:p>
            <a:pPr algn="l" indent="0" marL="0">
              <a:lnSpc>
                <a:spcPts val="1260"/>
              </a:lnSpc>
              <a:buNone/>
            </a:pPr>
            <a:r>
              <a:rPr lang="en-US" sz="1050" b="1" dirty="0">
                <a:solidFill>
                  <a:srgbClr val="003459"/>
                </a:solidFill>
                <a:latin typeface="Google Sans" pitchFamily="34" charset="0"/>
                <a:ea typeface="Google Sans" pitchFamily="34" charset="-122"/>
                <a:cs typeface="Google Sans" pitchFamily="34" charset="-120"/>
              </a:rPr>
              <a:t>Modul harian bisa dicoba</a:t>
            </a:r>
            <a:endParaRPr lang="en-US" sz="1050" dirty="0"/>
          </a:p>
        </p:txBody>
      </p:sp>
      <p:sp>
        <p:nvSpPr>
          <p:cNvPr id="33" name="Shape 23"/>
          <p:cNvSpPr/>
          <p:nvPr/>
        </p:nvSpPr>
        <p:spPr>
          <a:xfrm>
            <a:off x="6172200" y="1587500"/>
            <a:ext cx="2552700" cy="3175000"/>
          </a:xfrm>
          <a:prstGeom prst="roundRect">
            <a:avLst>
              <a:gd name="adj" fmla="val 6965"/>
            </a:avLst>
          </a:prstGeom>
          <a:solidFill>
            <a:srgbClr val="FFFFFF"/>
          </a:solidFill>
          <a:ln w="10160">
            <a:solidFill>
              <a:srgbClr val="D5DEE4"/>
            </a:solidFill>
            <a:prstDash val="solid"/>
          </a:ln>
        </p:spPr>
      </p:sp>
      <p:sp>
        <p:nvSpPr>
          <p:cNvPr id="34" name="Shape 24"/>
          <p:cNvSpPr/>
          <p:nvPr/>
        </p:nvSpPr>
        <p:spPr>
          <a:xfrm>
            <a:off x="6350000" y="1765300"/>
            <a:ext cx="838200" cy="228600"/>
          </a:xfrm>
          <a:prstGeom prst="roundRect">
            <a:avLst>
              <a:gd name="adj" fmla="val 50000"/>
            </a:avLst>
          </a:prstGeom>
          <a:solidFill>
            <a:srgbClr val="E3EDF5"/>
          </a:solidFill>
          <a:ln/>
        </p:spPr>
      </p:sp>
      <p:sp>
        <p:nvSpPr>
          <p:cNvPr id="35" name="Text 25"/>
          <p:cNvSpPr/>
          <p:nvPr/>
        </p:nvSpPr>
        <p:spPr>
          <a:xfrm>
            <a:off x="6350000" y="1765300"/>
            <a:ext cx="838200" cy="228600"/>
          </a:xfrm>
          <a:prstGeom prst="rect">
            <a:avLst/>
          </a:prstGeom>
          <a:noFill/>
          <a:ln/>
        </p:spPr>
        <p:txBody>
          <a:bodyPr wrap="square" lIns="0" tIns="0" rIns="0" bIns="0" rtlCol="0" anchor="ctr"/>
          <a:lstStyle/>
          <a:p>
            <a:pPr algn="ctr" indent="0" marL="0">
              <a:lnSpc>
                <a:spcPts val="900"/>
              </a:lnSpc>
              <a:buNone/>
            </a:pPr>
            <a:r>
              <a:rPr lang="en-US" sz="900" b="1" dirty="0">
                <a:solidFill>
                  <a:srgbClr val="003459"/>
                </a:solidFill>
                <a:latin typeface="Google Sans" pitchFamily="34" charset="0"/>
                <a:ea typeface="Google Sans" pitchFamily="34" charset="-122"/>
                <a:cs typeface="Google Sans" pitchFamily="34" charset="-120"/>
              </a:rPr>
              <a:t>Minggu 3</a:t>
            </a:r>
            <a:endParaRPr lang="en-US" sz="900" dirty="0"/>
          </a:p>
        </p:txBody>
      </p:sp>
      <p:sp>
        <p:nvSpPr>
          <p:cNvPr id="36" name="Text 26"/>
          <p:cNvSpPr/>
          <p:nvPr/>
        </p:nvSpPr>
        <p:spPr>
          <a:xfrm>
            <a:off x="6350000" y="2120900"/>
            <a:ext cx="2197100" cy="279400"/>
          </a:xfrm>
          <a:prstGeom prst="rect">
            <a:avLst/>
          </a:prstGeom>
          <a:noFill/>
          <a:ln/>
        </p:spPr>
        <p:txBody>
          <a:bodyPr wrap="square" lIns="0" tIns="0" rIns="0" bIns="0" rtlCol="0" anchor="ctr"/>
          <a:lstStyle/>
          <a:p>
            <a:pPr algn="l" indent="0" marL="0">
              <a:lnSpc>
                <a:spcPts val="1700"/>
              </a:lnSpc>
              <a:buNone/>
            </a:pPr>
            <a:r>
              <a:rPr lang="en-US" sz="1700" b="1" dirty="0">
                <a:solidFill>
                  <a:srgbClr val="00171F"/>
                </a:solidFill>
                <a:latin typeface="Google Sans" pitchFamily="34" charset="0"/>
                <a:ea typeface="Google Sans" pitchFamily="34" charset="-122"/>
                <a:cs typeface="Google Sans" pitchFamily="34" charset="-120"/>
              </a:rPr>
              <a:t>Keuangan</a:t>
            </a:r>
            <a:endParaRPr lang="en-US" sz="1700" dirty="0"/>
          </a:p>
        </p:txBody>
      </p:sp>
      <p:sp>
        <p:nvSpPr>
          <p:cNvPr id="37" name="Shape 27"/>
          <p:cNvSpPr/>
          <p:nvPr/>
        </p:nvSpPr>
        <p:spPr>
          <a:xfrm>
            <a:off x="6350000" y="2527300"/>
            <a:ext cx="2197100" cy="0"/>
          </a:xfrm>
          <a:prstGeom prst="line">
            <a:avLst/>
          </a:prstGeom>
          <a:noFill/>
          <a:ln w="10160">
            <a:solidFill>
              <a:srgbClr val="D5DEE4"/>
            </a:solidFill>
            <a:prstDash val="solid"/>
          </a:ln>
        </p:spPr>
      </p:sp>
      <p:pic>
        <p:nvPicPr>
          <p:cNvPr id="38" name="Image 8" descr="public\icons\check-mint.png">    </p:cNvPr>
          <p:cNvPicPr>
            <a:picLocks noChangeAspect="1"/>
          </p:cNvPicPr>
          <p:nvPr/>
        </p:nvPicPr>
        <p:blipFill>
          <a:blip r:embed="rId9"/>
          <a:stretch>
            <a:fillRect/>
          </a:stretch>
        </p:blipFill>
        <p:spPr>
          <a:xfrm>
            <a:off x="6350000" y="2730500"/>
            <a:ext cx="177800" cy="177800"/>
          </a:xfrm>
          <a:prstGeom prst="rect">
            <a:avLst/>
          </a:prstGeom>
        </p:spPr>
      </p:pic>
      <p:sp>
        <p:nvSpPr>
          <p:cNvPr id="39" name="Text 28"/>
          <p:cNvSpPr/>
          <p:nvPr/>
        </p:nvSpPr>
        <p:spPr>
          <a:xfrm>
            <a:off x="6616700" y="27051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pitchFamily="34" charset="0"/>
                <a:ea typeface="Google Sans" pitchFamily="34" charset="-122"/>
                <a:cs typeface="Google Sans" pitchFamily="34" charset="-120"/>
              </a:rPr>
              <a:t>Biaya dan tutup buku</a:t>
            </a:r>
            <a:endParaRPr lang="en-US" sz="1100" dirty="0"/>
          </a:p>
        </p:txBody>
      </p:sp>
      <p:pic>
        <p:nvPicPr>
          <p:cNvPr id="40" name="Image 9" descr="public\icons\check-mint.png">    </p:cNvPr>
          <p:cNvPicPr>
            <a:picLocks noChangeAspect="1"/>
          </p:cNvPicPr>
          <p:nvPr/>
        </p:nvPicPr>
        <p:blipFill>
          <a:blip r:embed="rId10"/>
          <a:stretch>
            <a:fillRect/>
          </a:stretch>
        </p:blipFill>
        <p:spPr>
          <a:xfrm>
            <a:off x="6350000" y="3200400"/>
            <a:ext cx="177800" cy="177800"/>
          </a:xfrm>
          <a:prstGeom prst="rect">
            <a:avLst/>
          </a:prstGeom>
        </p:spPr>
      </p:pic>
      <p:sp>
        <p:nvSpPr>
          <p:cNvPr id="41" name="Text 29"/>
          <p:cNvSpPr/>
          <p:nvPr/>
        </p:nvSpPr>
        <p:spPr>
          <a:xfrm>
            <a:off x="6616700" y="31750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pitchFamily="34" charset="0"/>
                <a:ea typeface="Google Sans" pitchFamily="34" charset="-122"/>
                <a:cs typeface="Google Sans" pitchFamily="34" charset="-120"/>
              </a:rPr>
              <a:t>Laporan bulanan</a:t>
            </a:r>
            <a:endParaRPr lang="en-US" sz="1100" dirty="0"/>
          </a:p>
        </p:txBody>
      </p:sp>
      <p:pic>
        <p:nvPicPr>
          <p:cNvPr id="42" name="Image 10" descr="public\icons\check-mint.png">    </p:cNvPr>
          <p:cNvPicPr>
            <a:picLocks noChangeAspect="1"/>
          </p:cNvPicPr>
          <p:nvPr/>
        </p:nvPicPr>
        <p:blipFill>
          <a:blip r:embed="rId11"/>
          <a:stretch>
            <a:fillRect/>
          </a:stretch>
        </p:blipFill>
        <p:spPr>
          <a:xfrm>
            <a:off x="6350000" y="3670300"/>
            <a:ext cx="177800" cy="177800"/>
          </a:xfrm>
          <a:prstGeom prst="rect">
            <a:avLst/>
          </a:prstGeom>
        </p:spPr>
      </p:pic>
      <p:sp>
        <p:nvSpPr>
          <p:cNvPr id="43" name="Text 30"/>
          <p:cNvSpPr/>
          <p:nvPr/>
        </p:nvSpPr>
        <p:spPr>
          <a:xfrm>
            <a:off x="6616700" y="36449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00171F"/>
                </a:solidFill>
                <a:latin typeface="Google Sans" pitchFamily="34" charset="0"/>
                <a:ea typeface="Google Sans" pitchFamily="34" charset="-122"/>
                <a:cs typeface="Google Sans" pitchFamily="34" charset="-120"/>
              </a:rPr>
              <a:t>Asisten AI mulai dibuat</a:t>
            </a:r>
            <a:endParaRPr lang="en-US" sz="1100" dirty="0"/>
          </a:p>
        </p:txBody>
      </p:sp>
      <p:sp>
        <p:nvSpPr>
          <p:cNvPr id="44" name="Shape 31"/>
          <p:cNvSpPr/>
          <p:nvPr/>
        </p:nvSpPr>
        <p:spPr>
          <a:xfrm>
            <a:off x="6299200" y="4152900"/>
            <a:ext cx="2298700" cy="482600"/>
          </a:xfrm>
          <a:prstGeom prst="roundRect">
            <a:avLst>
              <a:gd name="adj" fmla="val 26316"/>
            </a:avLst>
          </a:prstGeom>
          <a:solidFill>
            <a:srgbClr val="E3EDF5"/>
          </a:solidFill>
          <a:ln/>
        </p:spPr>
      </p:sp>
      <p:pic>
        <p:nvPicPr>
          <p:cNvPr id="45" name="Image 11" descr="public\icons\flag-green.png">    </p:cNvPr>
          <p:cNvPicPr>
            <a:picLocks noChangeAspect="1"/>
          </p:cNvPicPr>
          <p:nvPr/>
        </p:nvPicPr>
        <p:blipFill>
          <a:blip r:embed="rId12"/>
          <a:stretch>
            <a:fillRect/>
          </a:stretch>
        </p:blipFill>
        <p:spPr>
          <a:xfrm>
            <a:off x="6426200" y="4292600"/>
            <a:ext cx="203200" cy="203200"/>
          </a:xfrm>
          <a:prstGeom prst="rect">
            <a:avLst/>
          </a:prstGeom>
        </p:spPr>
      </p:pic>
      <p:sp>
        <p:nvSpPr>
          <p:cNvPr id="46" name="Text 32"/>
          <p:cNvSpPr/>
          <p:nvPr/>
        </p:nvSpPr>
        <p:spPr>
          <a:xfrm>
            <a:off x="6705600" y="4152900"/>
            <a:ext cx="1790700" cy="482600"/>
          </a:xfrm>
          <a:prstGeom prst="rect">
            <a:avLst/>
          </a:prstGeom>
          <a:noFill/>
          <a:ln/>
        </p:spPr>
        <p:txBody>
          <a:bodyPr wrap="square" lIns="0" tIns="0" rIns="0" bIns="0" rtlCol="0" anchor="ctr"/>
          <a:lstStyle/>
          <a:p>
            <a:pPr algn="l" indent="0" marL="0">
              <a:lnSpc>
                <a:spcPts val="1260"/>
              </a:lnSpc>
              <a:buNone/>
            </a:pPr>
            <a:r>
              <a:rPr lang="en-US" sz="1050" b="1" dirty="0">
                <a:solidFill>
                  <a:srgbClr val="003459"/>
                </a:solidFill>
                <a:latin typeface="Google Sans" pitchFamily="34" charset="0"/>
                <a:ea typeface="Google Sans" pitchFamily="34" charset="-122"/>
                <a:cs typeface="Google Sans" pitchFamily="34" charset="-120"/>
              </a:rPr>
              <a:t>Laporan keuangan jalan</a:t>
            </a:r>
            <a:endParaRPr lang="en-US" sz="1050" dirty="0"/>
          </a:p>
        </p:txBody>
      </p:sp>
      <p:sp>
        <p:nvSpPr>
          <p:cNvPr id="47" name="Shape 33"/>
          <p:cNvSpPr/>
          <p:nvPr/>
        </p:nvSpPr>
        <p:spPr>
          <a:xfrm>
            <a:off x="8877300" y="1587500"/>
            <a:ext cx="2552700" cy="3175000"/>
          </a:xfrm>
          <a:prstGeom prst="roundRect">
            <a:avLst>
              <a:gd name="adj" fmla="val 6965"/>
            </a:avLst>
          </a:prstGeom>
          <a:solidFill>
            <a:srgbClr val="003459"/>
          </a:solidFill>
          <a:ln/>
        </p:spPr>
      </p:sp>
      <p:sp>
        <p:nvSpPr>
          <p:cNvPr id="48" name="Shape 34"/>
          <p:cNvSpPr/>
          <p:nvPr/>
        </p:nvSpPr>
        <p:spPr>
          <a:xfrm>
            <a:off x="9055100" y="1765300"/>
            <a:ext cx="838200" cy="228600"/>
          </a:xfrm>
          <a:prstGeom prst="roundRect">
            <a:avLst>
              <a:gd name="adj" fmla="val 50000"/>
            </a:avLst>
          </a:prstGeom>
          <a:solidFill>
            <a:srgbClr val="0A4D80"/>
          </a:solidFill>
          <a:ln/>
        </p:spPr>
      </p:sp>
      <p:sp>
        <p:nvSpPr>
          <p:cNvPr id="49" name="Text 35"/>
          <p:cNvSpPr/>
          <p:nvPr/>
        </p:nvSpPr>
        <p:spPr>
          <a:xfrm>
            <a:off x="9055100" y="1765300"/>
            <a:ext cx="838200" cy="228600"/>
          </a:xfrm>
          <a:prstGeom prst="rect">
            <a:avLst/>
          </a:prstGeom>
          <a:noFill/>
          <a:ln/>
        </p:spPr>
        <p:txBody>
          <a:bodyPr wrap="square" lIns="0" tIns="0" rIns="0" bIns="0" rtlCol="0" anchor="ctr"/>
          <a:lstStyle/>
          <a:p>
            <a:pPr algn="ctr" indent="0" marL="0">
              <a:lnSpc>
                <a:spcPts val="900"/>
              </a:lnSpc>
              <a:buNone/>
            </a:pPr>
            <a:r>
              <a:rPr lang="en-US" sz="900" b="1" dirty="0">
                <a:solidFill>
                  <a:srgbClr val="FFFFFF"/>
                </a:solidFill>
                <a:latin typeface="Google Sans" pitchFamily="34" charset="0"/>
                <a:ea typeface="Google Sans" pitchFamily="34" charset="-122"/>
                <a:cs typeface="Google Sans" pitchFamily="34" charset="-120"/>
              </a:rPr>
              <a:t>Minggu 4</a:t>
            </a:r>
            <a:endParaRPr lang="en-US" sz="900" dirty="0"/>
          </a:p>
        </p:txBody>
      </p:sp>
      <p:sp>
        <p:nvSpPr>
          <p:cNvPr id="50" name="Text 36"/>
          <p:cNvSpPr/>
          <p:nvPr/>
        </p:nvSpPr>
        <p:spPr>
          <a:xfrm>
            <a:off x="9055100" y="2120900"/>
            <a:ext cx="2197100" cy="279400"/>
          </a:xfrm>
          <a:prstGeom prst="rect">
            <a:avLst/>
          </a:prstGeom>
          <a:noFill/>
          <a:ln/>
        </p:spPr>
        <p:txBody>
          <a:bodyPr wrap="square" lIns="0" tIns="0" rIns="0" bIns="0" rtlCol="0" anchor="ctr"/>
          <a:lstStyle/>
          <a:p>
            <a:pPr algn="l" indent="0" marL="0">
              <a:lnSpc>
                <a:spcPts val="1700"/>
              </a:lnSpc>
              <a:buNone/>
            </a:pPr>
            <a:r>
              <a:rPr lang="en-US" sz="1700" b="1" dirty="0">
                <a:solidFill>
                  <a:srgbClr val="FFFFFF"/>
                </a:solidFill>
                <a:latin typeface="Google Sans" pitchFamily="34" charset="0"/>
                <a:ea typeface="Google Sans" pitchFamily="34" charset="-122"/>
                <a:cs typeface="Google Sans" pitchFamily="34" charset="-120"/>
              </a:rPr>
              <a:t>Uji dan pakai</a:t>
            </a:r>
            <a:endParaRPr lang="en-US" sz="1700" dirty="0"/>
          </a:p>
        </p:txBody>
      </p:sp>
      <p:sp>
        <p:nvSpPr>
          <p:cNvPr id="51" name="Shape 37"/>
          <p:cNvSpPr/>
          <p:nvPr/>
        </p:nvSpPr>
        <p:spPr>
          <a:xfrm>
            <a:off x="9055100" y="2527300"/>
            <a:ext cx="2197100" cy="0"/>
          </a:xfrm>
          <a:prstGeom prst="line">
            <a:avLst/>
          </a:prstGeom>
          <a:noFill/>
          <a:ln w="10160">
            <a:solidFill>
              <a:srgbClr val="2F6A94"/>
            </a:solidFill>
            <a:prstDash val="solid"/>
          </a:ln>
        </p:spPr>
      </p:sp>
      <p:pic>
        <p:nvPicPr>
          <p:cNvPr id="52" name="Image 12" descr="public\icons\check-white.png">    </p:cNvPr>
          <p:cNvPicPr>
            <a:picLocks noChangeAspect="1"/>
          </p:cNvPicPr>
          <p:nvPr/>
        </p:nvPicPr>
        <p:blipFill>
          <a:blip r:embed="rId13"/>
          <a:stretch>
            <a:fillRect/>
          </a:stretch>
        </p:blipFill>
        <p:spPr>
          <a:xfrm>
            <a:off x="9055100" y="2730500"/>
            <a:ext cx="177800" cy="177800"/>
          </a:xfrm>
          <a:prstGeom prst="rect">
            <a:avLst/>
          </a:prstGeom>
        </p:spPr>
      </p:pic>
      <p:sp>
        <p:nvSpPr>
          <p:cNvPr id="53" name="Text 38"/>
          <p:cNvSpPr/>
          <p:nvPr/>
        </p:nvSpPr>
        <p:spPr>
          <a:xfrm>
            <a:off x="9321800" y="27051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FFFFFF"/>
                </a:solidFill>
                <a:latin typeface="Google Sans" pitchFamily="34" charset="0"/>
                <a:ea typeface="Google Sans" pitchFamily="34" charset="-122"/>
                <a:cs typeface="Google Sans" pitchFamily="34" charset="-120"/>
              </a:rPr>
              <a:t>Asisten AI selesai</a:t>
            </a:r>
            <a:endParaRPr lang="en-US" sz="1100" dirty="0"/>
          </a:p>
        </p:txBody>
      </p:sp>
      <p:pic>
        <p:nvPicPr>
          <p:cNvPr id="54" name="Image 13" descr="public\icons\check-white.png">    </p:cNvPr>
          <p:cNvPicPr>
            <a:picLocks noChangeAspect="1"/>
          </p:cNvPicPr>
          <p:nvPr/>
        </p:nvPicPr>
        <p:blipFill>
          <a:blip r:embed="rId14"/>
          <a:stretch>
            <a:fillRect/>
          </a:stretch>
        </p:blipFill>
        <p:spPr>
          <a:xfrm>
            <a:off x="9055100" y="3200400"/>
            <a:ext cx="177800" cy="177800"/>
          </a:xfrm>
          <a:prstGeom prst="rect">
            <a:avLst/>
          </a:prstGeom>
        </p:spPr>
      </p:pic>
      <p:sp>
        <p:nvSpPr>
          <p:cNvPr id="55" name="Text 39"/>
          <p:cNvSpPr/>
          <p:nvPr/>
        </p:nvSpPr>
        <p:spPr>
          <a:xfrm>
            <a:off x="9321800" y="31750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FFFFFF"/>
                </a:solidFill>
                <a:latin typeface="Google Sans" pitchFamily="34" charset="0"/>
                <a:ea typeface="Google Sans" pitchFamily="34" charset="-122"/>
                <a:cs typeface="Google Sans" pitchFamily="34" charset="-120"/>
              </a:rPr>
              <a:t>Uji bersama pengguna</a:t>
            </a:r>
            <a:endParaRPr lang="en-US" sz="1100" dirty="0"/>
          </a:p>
        </p:txBody>
      </p:sp>
      <p:pic>
        <p:nvPicPr>
          <p:cNvPr id="56" name="Image 14" descr="public\icons\check-white.png">    </p:cNvPr>
          <p:cNvPicPr>
            <a:picLocks noChangeAspect="1"/>
          </p:cNvPicPr>
          <p:nvPr/>
        </p:nvPicPr>
        <p:blipFill>
          <a:blip r:embed="rId15"/>
          <a:stretch>
            <a:fillRect/>
          </a:stretch>
        </p:blipFill>
        <p:spPr>
          <a:xfrm>
            <a:off x="9055100" y="3670300"/>
            <a:ext cx="177800" cy="177800"/>
          </a:xfrm>
          <a:prstGeom prst="rect">
            <a:avLst/>
          </a:prstGeom>
        </p:spPr>
      </p:pic>
      <p:sp>
        <p:nvSpPr>
          <p:cNvPr id="57" name="Text 40"/>
          <p:cNvSpPr/>
          <p:nvPr/>
        </p:nvSpPr>
        <p:spPr>
          <a:xfrm>
            <a:off x="9321800" y="3644900"/>
            <a:ext cx="1930400" cy="381000"/>
          </a:xfrm>
          <a:prstGeom prst="rect">
            <a:avLst/>
          </a:prstGeom>
          <a:noFill/>
          <a:ln/>
        </p:spPr>
        <p:txBody>
          <a:bodyPr wrap="square" lIns="0" tIns="0" rIns="0" bIns="0" rtlCol="0" anchor="t"/>
          <a:lstStyle/>
          <a:p>
            <a:pPr algn="l" indent="0" marL="0">
              <a:lnSpc>
                <a:spcPts val="1380"/>
              </a:lnSpc>
              <a:buNone/>
            </a:pPr>
            <a:r>
              <a:rPr lang="en-US" sz="1100" dirty="0">
                <a:solidFill>
                  <a:srgbClr val="FFFFFF"/>
                </a:solidFill>
                <a:latin typeface="Google Sans" pitchFamily="34" charset="0"/>
                <a:ea typeface="Google Sans" pitchFamily="34" charset="-122"/>
                <a:cs typeface="Google Sans" pitchFamily="34" charset="-120"/>
              </a:rPr>
              <a:t>Pelatihan dan mulai dipakai</a:t>
            </a:r>
            <a:endParaRPr lang="en-US" sz="1100" dirty="0"/>
          </a:p>
        </p:txBody>
      </p:sp>
      <p:sp>
        <p:nvSpPr>
          <p:cNvPr id="58" name="Shape 41"/>
          <p:cNvSpPr/>
          <p:nvPr/>
        </p:nvSpPr>
        <p:spPr>
          <a:xfrm>
            <a:off x="9004300" y="4152900"/>
            <a:ext cx="2298700" cy="482600"/>
          </a:xfrm>
          <a:prstGeom prst="roundRect">
            <a:avLst>
              <a:gd name="adj" fmla="val 26316"/>
            </a:avLst>
          </a:prstGeom>
          <a:solidFill>
            <a:srgbClr val="0A4D80"/>
          </a:solidFill>
          <a:ln/>
        </p:spPr>
      </p:sp>
      <p:pic>
        <p:nvPicPr>
          <p:cNvPr id="59" name="Image 15" descr="public\icons\flag-white.png">    </p:cNvPr>
          <p:cNvPicPr>
            <a:picLocks noChangeAspect="1"/>
          </p:cNvPicPr>
          <p:nvPr/>
        </p:nvPicPr>
        <p:blipFill>
          <a:blip r:embed="rId16"/>
          <a:stretch>
            <a:fillRect/>
          </a:stretch>
        </p:blipFill>
        <p:spPr>
          <a:xfrm>
            <a:off x="9131300" y="4292600"/>
            <a:ext cx="203200" cy="203200"/>
          </a:xfrm>
          <a:prstGeom prst="rect">
            <a:avLst/>
          </a:prstGeom>
        </p:spPr>
      </p:pic>
      <p:sp>
        <p:nvSpPr>
          <p:cNvPr id="60" name="Text 42"/>
          <p:cNvSpPr/>
          <p:nvPr/>
        </p:nvSpPr>
        <p:spPr>
          <a:xfrm>
            <a:off x="9410700" y="4152900"/>
            <a:ext cx="1790700" cy="482600"/>
          </a:xfrm>
          <a:prstGeom prst="rect">
            <a:avLst/>
          </a:prstGeom>
          <a:noFill/>
          <a:ln/>
        </p:spPr>
        <p:txBody>
          <a:bodyPr wrap="square" lIns="0" tIns="0" rIns="0" bIns="0" rtlCol="0" anchor="ctr"/>
          <a:lstStyle/>
          <a:p>
            <a:pPr algn="l" indent="0" marL="0">
              <a:lnSpc>
                <a:spcPts val="1260"/>
              </a:lnSpc>
              <a:buNone/>
            </a:pPr>
            <a:r>
              <a:rPr lang="en-US" sz="1050" b="1" dirty="0">
                <a:solidFill>
                  <a:srgbClr val="FFFFFF"/>
                </a:solidFill>
                <a:latin typeface="Google Sans" pitchFamily="34" charset="0"/>
                <a:ea typeface="Google Sans" pitchFamily="34" charset="-122"/>
                <a:cs typeface="Google Sans" pitchFamily="34" charset="-120"/>
              </a:rPr>
              <a:t>Siap dipakai</a:t>
            </a:r>
            <a:endParaRPr lang="en-US" sz="1050" dirty="0"/>
          </a:p>
        </p:txBody>
      </p:sp>
      <p:sp>
        <p:nvSpPr>
          <p:cNvPr id="61" name="Text 43"/>
          <p:cNvSpPr/>
          <p:nvPr/>
        </p:nvSpPr>
        <p:spPr>
          <a:xfrm>
            <a:off x="762000" y="5080000"/>
            <a:ext cx="4445000" cy="177800"/>
          </a:xfrm>
          <a:prstGeom prst="rect">
            <a:avLst/>
          </a:prstGeom>
          <a:noFill/>
          <a:ln/>
        </p:spPr>
        <p:txBody>
          <a:bodyPr wrap="square" lIns="0" tIns="0" rIns="0" bIns="0" rtlCol="0" anchor="ctr"/>
          <a:lstStyle/>
          <a:p>
            <a:pPr algn="l" indent="0" marL="0">
              <a:lnSpc>
                <a:spcPts val="800"/>
              </a:lnSpc>
              <a:buNone/>
            </a:pPr>
            <a:r>
              <a:rPr lang="en-US" sz="800" b="1" dirty="0">
                <a:solidFill>
                  <a:srgbClr val="7F909A"/>
                </a:solidFill>
                <a:latin typeface="Google Sans" pitchFamily="34" charset="0"/>
                <a:ea typeface="Google Sans" pitchFamily="34" charset="-122"/>
                <a:cs typeface="Google Sans" pitchFamily="34" charset="-120"/>
              </a:rPr>
              <a:t>SEBELUM MULAI</a:t>
            </a:r>
            <a:endParaRPr lang="en-US" sz="800" dirty="0"/>
          </a:p>
        </p:txBody>
      </p:sp>
      <p:sp>
        <p:nvSpPr>
          <p:cNvPr id="62" name="Shape 44"/>
          <p:cNvSpPr/>
          <p:nvPr/>
        </p:nvSpPr>
        <p:spPr>
          <a:xfrm>
            <a:off x="762000" y="5334000"/>
            <a:ext cx="10668000" cy="0"/>
          </a:xfrm>
          <a:prstGeom prst="line">
            <a:avLst/>
          </a:prstGeom>
          <a:noFill/>
          <a:ln w="10160">
            <a:solidFill>
              <a:srgbClr val="D5DEE4"/>
            </a:solidFill>
            <a:prstDash val="solid"/>
          </a:ln>
        </p:spPr>
      </p:sp>
      <p:sp>
        <p:nvSpPr>
          <p:cNvPr id="63" name="Shape 45"/>
          <p:cNvSpPr/>
          <p:nvPr/>
        </p:nvSpPr>
        <p:spPr>
          <a:xfrm>
            <a:off x="762000" y="5562600"/>
            <a:ext cx="304800" cy="304800"/>
          </a:xfrm>
          <a:prstGeom prst="ellipse">
            <a:avLst/>
          </a:prstGeom>
          <a:solidFill>
            <a:srgbClr val="003459"/>
          </a:solidFill>
          <a:ln/>
        </p:spPr>
      </p:sp>
      <p:sp>
        <p:nvSpPr>
          <p:cNvPr id="64" name="Text 46"/>
          <p:cNvSpPr/>
          <p:nvPr/>
        </p:nvSpPr>
        <p:spPr>
          <a:xfrm>
            <a:off x="762000" y="5562600"/>
            <a:ext cx="304800" cy="304800"/>
          </a:xfrm>
          <a:prstGeom prst="rect">
            <a:avLst/>
          </a:prstGeom>
          <a:noFill/>
          <a:ln/>
        </p:spPr>
        <p:txBody>
          <a:bodyPr wrap="square" lIns="0" tIns="0" rIns="0" bIns="0" rtlCol="0" anchor="ctr"/>
          <a:lstStyle/>
          <a:p>
            <a:pPr algn="ctr" indent="0" marL="0">
              <a:lnSpc>
                <a:spcPts val="1200"/>
              </a:lnSpc>
              <a:buNone/>
            </a:pPr>
            <a:r>
              <a:rPr lang="en-US" sz="1200" b="1" dirty="0">
                <a:solidFill>
                  <a:srgbClr val="FFFFFF"/>
                </a:solidFill>
                <a:latin typeface="Google Sans" pitchFamily="34" charset="0"/>
                <a:ea typeface="Google Sans" pitchFamily="34" charset="-122"/>
                <a:cs typeface="Google Sans" pitchFamily="34" charset="-120"/>
              </a:rPr>
              <a:t>1</a:t>
            </a:r>
            <a:endParaRPr lang="en-US" sz="1200" dirty="0"/>
          </a:p>
        </p:txBody>
      </p:sp>
      <p:sp>
        <p:nvSpPr>
          <p:cNvPr id="65" name="Text 47"/>
          <p:cNvSpPr/>
          <p:nvPr/>
        </p:nvSpPr>
        <p:spPr>
          <a:xfrm>
            <a:off x="1168400" y="5524500"/>
            <a:ext cx="1651000" cy="215900"/>
          </a:xfrm>
          <a:prstGeom prst="rect">
            <a:avLst/>
          </a:prstGeom>
          <a:noFill/>
          <a:ln/>
        </p:spPr>
        <p:txBody>
          <a:bodyPr wrap="square" lIns="0" tIns="0" rIns="0" bIns="0" rtlCol="0" anchor="ctr"/>
          <a:lstStyle/>
          <a:p>
            <a:pPr algn="l" indent="0" marL="0">
              <a:lnSpc>
                <a:spcPts val="1100"/>
              </a:lnSpc>
              <a:buNone/>
            </a:pPr>
            <a:r>
              <a:rPr lang="en-US" sz="1100" b="1" dirty="0">
                <a:solidFill>
                  <a:srgbClr val="00171F"/>
                </a:solidFill>
                <a:latin typeface="Google Sans" pitchFamily="34" charset="0"/>
                <a:ea typeface="Google Sans" pitchFamily="34" charset="-122"/>
                <a:cs typeface="Google Sans" pitchFamily="34" charset="-120"/>
              </a:rPr>
              <a:t>Diskusi kebutuhan</a:t>
            </a:r>
            <a:endParaRPr lang="en-US" sz="1100" dirty="0"/>
          </a:p>
        </p:txBody>
      </p:sp>
      <p:sp>
        <p:nvSpPr>
          <p:cNvPr id="66" name="Text 48"/>
          <p:cNvSpPr/>
          <p:nvPr/>
        </p:nvSpPr>
        <p:spPr>
          <a:xfrm>
            <a:off x="1168400" y="5765800"/>
            <a:ext cx="1651000" cy="1778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pitchFamily="34" charset="0"/>
                <a:ea typeface="Google Sans" pitchFamily="34" charset="-122"/>
                <a:cs typeface="Google Sans" pitchFamily="34" charset="-120"/>
              </a:rPr>
              <a:t>Presentasi dan prioritas</a:t>
            </a:r>
            <a:endParaRPr lang="en-US" sz="900" dirty="0"/>
          </a:p>
        </p:txBody>
      </p:sp>
      <p:sp>
        <p:nvSpPr>
          <p:cNvPr id="67" name="Shape 49"/>
          <p:cNvSpPr/>
          <p:nvPr/>
        </p:nvSpPr>
        <p:spPr>
          <a:xfrm>
            <a:off x="2921000" y="5562600"/>
            <a:ext cx="304800" cy="304800"/>
          </a:xfrm>
          <a:prstGeom prst="ellipse">
            <a:avLst/>
          </a:prstGeom>
          <a:solidFill>
            <a:srgbClr val="003459"/>
          </a:solidFill>
          <a:ln/>
        </p:spPr>
      </p:sp>
      <p:sp>
        <p:nvSpPr>
          <p:cNvPr id="68" name="Text 50"/>
          <p:cNvSpPr/>
          <p:nvPr/>
        </p:nvSpPr>
        <p:spPr>
          <a:xfrm>
            <a:off x="2921000" y="5562600"/>
            <a:ext cx="304800" cy="304800"/>
          </a:xfrm>
          <a:prstGeom prst="rect">
            <a:avLst/>
          </a:prstGeom>
          <a:noFill/>
          <a:ln/>
        </p:spPr>
        <p:txBody>
          <a:bodyPr wrap="square" lIns="0" tIns="0" rIns="0" bIns="0" rtlCol="0" anchor="ctr"/>
          <a:lstStyle/>
          <a:p>
            <a:pPr algn="ctr" indent="0" marL="0">
              <a:lnSpc>
                <a:spcPts val="1200"/>
              </a:lnSpc>
              <a:buNone/>
            </a:pPr>
            <a:r>
              <a:rPr lang="en-US" sz="1200" b="1" dirty="0">
                <a:solidFill>
                  <a:srgbClr val="FFFFFF"/>
                </a:solidFill>
                <a:latin typeface="Google Sans" pitchFamily="34" charset="0"/>
                <a:ea typeface="Google Sans" pitchFamily="34" charset="-122"/>
                <a:cs typeface="Google Sans" pitchFamily="34" charset="-120"/>
              </a:rPr>
              <a:t>2</a:t>
            </a:r>
            <a:endParaRPr lang="en-US" sz="1200" dirty="0"/>
          </a:p>
        </p:txBody>
      </p:sp>
      <p:sp>
        <p:nvSpPr>
          <p:cNvPr id="69" name="Text 51"/>
          <p:cNvSpPr/>
          <p:nvPr/>
        </p:nvSpPr>
        <p:spPr>
          <a:xfrm>
            <a:off x="3327400" y="5524500"/>
            <a:ext cx="1651000" cy="215900"/>
          </a:xfrm>
          <a:prstGeom prst="rect">
            <a:avLst/>
          </a:prstGeom>
          <a:noFill/>
          <a:ln/>
        </p:spPr>
        <p:txBody>
          <a:bodyPr wrap="square" lIns="0" tIns="0" rIns="0" bIns="0" rtlCol="0" anchor="ctr"/>
          <a:lstStyle/>
          <a:p>
            <a:pPr algn="l" indent="0" marL="0">
              <a:lnSpc>
                <a:spcPts val="1100"/>
              </a:lnSpc>
              <a:buNone/>
            </a:pPr>
            <a:r>
              <a:rPr lang="en-US" sz="1100" b="1" dirty="0">
                <a:solidFill>
                  <a:srgbClr val="00171F"/>
                </a:solidFill>
                <a:latin typeface="Google Sans" pitchFamily="34" charset="0"/>
                <a:ea typeface="Google Sans" pitchFamily="34" charset="-122"/>
                <a:cs typeface="Google Sans" pitchFamily="34" charset="-120"/>
              </a:rPr>
              <a:t>Pastikan kebutuhan</a:t>
            </a:r>
            <a:endParaRPr lang="en-US" sz="1100" dirty="0"/>
          </a:p>
        </p:txBody>
      </p:sp>
      <p:sp>
        <p:nvSpPr>
          <p:cNvPr id="70" name="Text 52"/>
          <p:cNvSpPr/>
          <p:nvPr/>
        </p:nvSpPr>
        <p:spPr>
          <a:xfrm>
            <a:off x="3327400" y="5765800"/>
            <a:ext cx="1651000" cy="1778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pitchFamily="34" charset="0"/>
                <a:ea typeface="Google Sans" pitchFamily="34" charset="-122"/>
                <a:cs typeface="Google Sans" pitchFamily="34" charset="-120"/>
              </a:rPr>
              <a:t>Lengkapi informasi</a:t>
            </a:r>
            <a:endParaRPr lang="en-US" sz="900" dirty="0"/>
          </a:p>
        </p:txBody>
      </p:sp>
      <p:sp>
        <p:nvSpPr>
          <p:cNvPr id="71" name="Shape 53"/>
          <p:cNvSpPr/>
          <p:nvPr/>
        </p:nvSpPr>
        <p:spPr>
          <a:xfrm>
            <a:off x="5080000" y="5562600"/>
            <a:ext cx="304800" cy="304800"/>
          </a:xfrm>
          <a:prstGeom prst="ellipse">
            <a:avLst/>
          </a:prstGeom>
          <a:solidFill>
            <a:srgbClr val="003459"/>
          </a:solidFill>
          <a:ln/>
        </p:spPr>
      </p:sp>
      <p:sp>
        <p:nvSpPr>
          <p:cNvPr id="72" name="Text 54"/>
          <p:cNvSpPr/>
          <p:nvPr/>
        </p:nvSpPr>
        <p:spPr>
          <a:xfrm>
            <a:off x="5080000" y="5562600"/>
            <a:ext cx="304800" cy="304800"/>
          </a:xfrm>
          <a:prstGeom prst="rect">
            <a:avLst/>
          </a:prstGeom>
          <a:noFill/>
          <a:ln/>
        </p:spPr>
        <p:txBody>
          <a:bodyPr wrap="square" lIns="0" tIns="0" rIns="0" bIns="0" rtlCol="0" anchor="ctr"/>
          <a:lstStyle/>
          <a:p>
            <a:pPr algn="ctr" indent="0" marL="0">
              <a:lnSpc>
                <a:spcPts val="1200"/>
              </a:lnSpc>
              <a:buNone/>
            </a:pPr>
            <a:r>
              <a:rPr lang="en-US" sz="1200" b="1" dirty="0">
                <a:solidFill>
                  <a:srgbClr val="FFFFFF"/>
                </a:solidFill>
                <a:latin typeface="Google Sans" pitchFamily="34" charset="0"/>
                <a:ea typeface="Google Sans" pitchFamily="34" charset="-122"/>
                <a:cs typeface="Google Sans" pitchFamily="34" charset="-120"/>
              </a:rPr>
              <a:t>3</a:t>
            </a:r>
            <a:endParaRPr lang="en-US" sz="1200" dirty="0"/>
          </a:p>
        </p:txBody>
      </p:sp>
      <p:sp>
        <p:nvSpPr>
          <p:cNvPr id="73" name="Text 55"/>
          <p:cNvSpPr/>
          <p:nvPr/>
        </p:nvSpPr>
        <p:spPr>
          <a:xfrm>
            <a:off x="5486400" y="5524500"/>
            <a:ext cx="1651000" cy="215900"/>
          </a:xfrm>
          <a:prstGeom prst="rect">
            <a:avLst/>
          </a:prstGeom>
          <a:noFill/>
          <a:ln/>
        </p:spPr>
        <p:txBody>
          <a:bodyPr wrap="square" lIns="0" tIns="0" rIns="0" bIns="0" rtlCol="0" anchor="ctr"/>
          <a:lstStyle/>
          <a:p>
            <a:pPr algn="l" indent="0" marL="0">
              <a:lnSpc>
                <a:spcPts val="1100"/>
              </a:lnSpc>
              <a:buNone/>
            </a:pPr>
            <a:r>
              <a:rPr lang="en-US" sz="1100" b="1" dirty="0">
                <a:solidFill>
                  <a:srgbClr val="00171F"/>
                </a:solidFill>
                <a:latin typeface="Google Sans" pitchFamily="34" charset="0"/>
                <a:ea typeface="Google Sans" pitchFamily="34" charset="-122"/>
                <a:cs typeface="Google Sans" pitchFamily="34" charset="-120"/>
              </a:rPr>
              <a:t>Rancangan disetujui</a:t>
            </a:r>
            <a:endParaRPr lang="en-US" sz="1100" dirty="0"/>
          </a:p>
        </p:txBody>
      </p:sp>
      <p:sp>
        <p:nvSpPr>
          <p:cNvPr id="74" name="Text 56"/>
          <p:cNvSpPr/>
          <p:nvPr/>
        </p:nvSpPr>
        <p:spPr>
          <a:xfrm>
            <a:off x="5486400" y="5765800"/>
            <a:ext cx="1651000" cy="1778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pitchFamily="34" charset="0"/>
                <a:ea typeface="Google Sans" pitchFamily="34" charset="-122"/>
                <a:cs typeface="Google Sans" pitchFamily="34" charset="-120"/>
              </a:rPr>
              <a:t>Kebutuhan dan rencana</a:t>
            </a:r>
            <a:endParaRPr lang="en-US" sz="900" dirty="0"/>
          </a:p>
        </p:txBody>
      </p:sp>
      <p:sp>
        <p:nvSpPr>
          <p:cNvPr id="75" name="Shape 57"/>
          <p:cNvSpPr/>
          <p:nvPr/>
        </p:nvSpPr>
        <p:spPr>
          <a:xfrm>
            <a:off x="7239000" y="5562600"/>
            <a:ext cx="304800" cy="304800"/>
          </a:xfrm>
          <a:prstGeom prst="ellipse">
            <a:avLst/>
          </a:prstGeom>
          <a:solidFill>
            <a:srgbClr val="003459"/>
          </a:solidFill>
          <a:ln/>
        </p:spPr>
      </p:sp>
      <p:sp>
        <p:nvSpPr>
          <p:cNvPr id="76" name="Text 58"/>
          <p:cNvSpPr/>
          <p:nvPr/>
        </p:nvSpPr>
        <p:spPr>
          <a:xfrm>
            <a:off x="7239000" y="5562600"/>
            <a:ext cx="304800" cy="304800"/>
          </a:xfrm>
          <a:prstGeom prst="rect">
            <a:avLst/>
          </a:prstGeom>
          <a:noFill/>
          <a:ln/>
        </p:spPr>
        <p:txBody>
          <a:bodyPr wrap="square" lIns="0" tIns="0" rIns="0" bIns="0" rtlCol="0" anchor="ctr"/>
          <a:lstStyle/>
          <a:p>
            <a:pPr algn="ctr" indent="0" marL="0">
              <a:lnSpc>
                <a:spcPts val="1200"/>
              </a:lnSpc>
              <a:buNone/>
            </a:pPr>
            <a:r>
              <a:rPr lang="en-US" sz="1200" b="1" dirty="0">
                <a:solidFill>
                  <a:srgbClr val="FFFFFF"/>
                </a:solidFill>
                <a:latin typeface="Google Sans" pitchFamily="34" charset="0"/>
                <a:ea typeface="Google Sans" pitchFamily="34" charset="-122"/>
                <a:cs typeface="Google Sans" pitchFamily="34" charset="-120"/>
              </a:rPr>
              <a:t>4</a:t>
            </a:r>
            <a:endParaRPr lang="en-US" sz="1200" dirty="0"/>
          </a:p>
        </p:txBody>
      </p:sp>
      <p:sp>
        <p:nvSpPr>
          <p:cNvPr id="77" name="Text 59"/>
          <p:cNvSpPr/>
          <p:nvPr/>
        </p:nvSpPr>
        <p:spPr>
          <a:xfrm>
            <a:off x="7645400" y="5524500"/>
            <a:ext cx="1651000" cy="215900"/>
          </a:xfrm>
          <a:prstGeom prst="rect">
            <a:avLst/>
          </a:prstGeom>
          <a:noFill/>
          <a:ln/>
        </p:spPr>
        <p:txBody>
          <a:bodyPr wrap="square" lIns="0" tIns="0" rIns="0" bIns="0" rtlCol="0" anchor="ctr"/>
          <a:lstStyle/>
          <a:p>
            <a:pPr algn="l" indent="0" marL="0">
              <a:lnSpc>
                <a:spcPts val="1100"/>
              </a:lnSpc>
              <a:buNone/>
            </a:pPr>
            <a:r>
              <a:rPr lang="en-US" sz="1100" b="1" dirty="0">
                <a:solidFill>
                  <a:srgbClr val="00171F"/>
                </a:solidFill>
                <a:latin typeface="Google Sans" pitchFamily="34" charset="0"/>
                <a:ea typeface="Google Sans" pitchFamily="34" charset="-122"/>
                <a:cs typeface="Google Sans" pitchFamily="34" charset="-120"/>
              </a:rPr>
              <a:t>Penawaran final</a:t>
            </a:r>
            <a:endParaRPr lang="en-US" sz="1100" dirty="0"/>
          </a:p>
        </p:txBody>
      </p:sp>
      <p:sp>
        <p:nvSpPr>
          <p:cNvPr id="78" name="Text 60"/>
          <p:cNvSpPr/>
          <p:nvPr/>
        </p:nvSpPr>
        <p:spPr>
          <a:xfrm>
            <a:off x="7645400" y="5765800"/>
            <a:ext cx="1651000" cy="1778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pitchFamily="34" charset="0"/>
                <a:ea typeface="Google Sans" pitchFamily="34" charset="-122"/>
                <a:cs typeface="Google Sans" pitchFamily="34" charset="-120"/>
              </a:rPr>
              <a:t>Harga dan jadwal</a:t>
            </a:r>
            <a:endParaRPr lang="en-US" sz="900" dirty="0"/>
          </a:p>
        </p:txBody>
      </p:sp>
      <p:sp>
        <p:nvSpPr>
          <p:cNvPr id="79" name="Shape 61"/>
          <p:cNvSpPr/>
          <p:nvPr/>
        </p:nvSpPr>
        <p:spPr>
          <a:xfrm>
            <a:off x="9398000" y="5562600"/>
            <a:ext cx="304800" cy="304800"/>
          </a:xfrm>
          <a:prstGeom prst="ellipse">
            <a:avLst/>
          </a:prstGeom>
          <a:solidFill>
            <a:srgbClr val="003459"/>
          </a:solidFill>
          <a:ln/>
        </p:spPr>
      </p:sp>
      <p:sp>
        <p:nvSpPr>
          <p:cNvPr id="80" name="Text 62"/>
          <p:cNvSpPr/>
          <p:nvPr/>
        </p:nvSpPr>
        <p:spPr>
          <a:xfrm>
            <a:off x="9398000" y="5562600"/>
            <a:ext cx="304800" cy="304800"/>
          </a:xfrm>
          <a:prstGeom prst="rect">
            <a:avLst/>
          </a:prstGeom>
          <a:noFill/>
          <a:ln/>
        </p:spPr>
        <p:txBody>
          <a:bodyPr wrap="square" lIns="0" tIns="0" rIns="0" bIns="0" rtlCol="0" anchor="ctr"/>
          <a:lstStyle/>
          <a:p>
            <a:pPr algn="ctr" indent="0" marL="0">
              <a:lnSpc>
                <a:spcPts val="1200"/>
              </a:lnSpc>
              <a:buNone/>
            </a:pPr>
            <a:r>
              <a:rPr lang="en-US" sz="1200" b="1" dirty="0">
                <a:solidFill>
                  <a:srgbClr val="FFFFFF"/>
                </a:solidFill>
                <a:latin typeface="Google Sans" pitchFamily="34" charset="0"/>
                <a:ea typeface="Google Sans" pitchFamily="34" charset="-122"/>
                <a:cs typeface="Google Sans" pitchFamily="34" charset="-120"/>
              </a:rPr>
              <a:t>5</a:t>
            </a:r>
            <a:endParaRPr lang="en-US" sz="1200" dirty="0"/>
          </a:p>
        </p:txBody>
      </p:sp>
      <p:sp>
        <p:nvSpPr>
          <p:cNvPr id="81" name="Text 63"/>
          <p:cNvSpPr/>
          <p:nvPr/>
        </p:nvSpPr>
        <p:spPr>
          <a:xfrm>
            <a:off x="9804400" y="5524500"/>
            <a:ext cx="1651000" cy="215900"/>
          </a:xfrm>
          <a:prstGeom prst="rect">
            <a:avLst/>
          </a:prstGeom>
          <a:noFill/>
          <a:ln/>
        </p:spPr>
        <p:txBody>
          <a:bodyPr wrap="square" lIns="0" tIns="0" rIns="0" bIns="0" rtlCol="0" anchor="ctr"/>
          <a:lstStyle/>
          <a:p>
            <a:pPr algn="l" indent="0" marL="0">
              <a:lnSpc>
                <a:spcPts val="1100"/>
              </a:lnSpc>
              <a:buNone/>
            </a:pPr>
            <a:r>
              <a:rPr lang="en-US" sz="1100" b="1" dirty="0">
                <a:solidFill>
                  <a:srgbClr val="00171F"/>
                </a:solidFill>
                <a:latin typeface="Google Sans" pitchFamily="34" charset="0"/>
                <a:ea typeface="Google Sans" pitchFamily="34" charset="-122"/>
                <a:cs typeface="Google Sans" pitchFamily="34" charset="-120"/>
              </a:rPr>
              <a:t>Mulai dibuat</a:t>
            </a:r>
            <a:endParaRPr lang="en-US" sz="1100" dirty="0"/>
          </a:p>
        </p:txBody>
      </p:sp>
      <p:sp>
        <p:nvSpPr>
          <p:cNvPr id="82" name="Text 64"/>
          <p:cNvSpPr/>
          <p:nvPr/>
        </p:nvSpPr>
        <p:spPr>
          <a:xfrm>
            <a:off x="9804400" y="5765800"/>
            <a:ext cx="1651000" cy="177800"/>
          </a:xfrm>
          <a:prstGeom prst="rect">
            <a:avLst/>
          </a:prstGeom>
          <a:noFill/>
          <a:ln/>
        </p:spPr>
        <p:txBody>
          <a:bodyPr wrap="square" lIns="0" tIns="0" rIns="0" bIns="0" rtlCol="0" anchor="ctr"/>
          <a:lstStyle/>
          <a:p>
            <a:pPr algn="l" indent="0" marL="0">
              <a:lnSpc>
                <a:spcPts val="900"/>
              </a:lnSpc>
              <a:buNone/>
            </a:pPr>
            <a:r>
              <a:rPr lang="en-US" sz="900" dirty="0">
                <a:solidFill>
                  <a:srgbClr val="4B5E69"/>
                </a:solidFill>
                <a:latin typeface="Google Sans" pitchFamily="34" charset="0"/>
                <a:ea typeface="Google Sans" pitchFamily="34" charset="-122"/>
                <a:cs typeface="Google Sans" pitchFamily="34" charset="-120"/>
              </a:rPr>
              <a:t>Pembayaran awal</a:t>
            </a:r>
            <a:endParaRPr lang="en-US" sz="900" dirty="0"/>
          </a:p>
        </p:txBody>
      </p:sp>
      <p:sp>
        <p:nvSpPr>
          <p:cNvPr id="83" name="Text 65"/>
          <p:cNvSpPr/>
          <p:nvPr/>
        </p:nvSpPr>
        <p:spPr>
          <a:xfrm>
            <a:off x="762000" y="6502400"/>
            <a:ext cx="8255000" cy="152400"/>
          </a:xfrm>
          <a:prstGeom prst="rect">
            <a:avLst/>
          </a:prstGeom>
          <a:noFill/>
          <a:ln/>
        </p:spPr>
        <p:txBody>
          <a:bodyPr wrap="square" lIns="0" tIns="0" rIns="0" bIns="0" rtlCol="0" anchor="ctr"/>
          <a:lstStyle/>
          <a:p>
            <a:pPr algn="l"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Dar Dev  ·  KATALIS ERP  ·  Estimasi awal, jadwal pasti disepakati setelah diskusi kebutuhan</a:t>
            </a:r>
            <a:endParaRPr lang="en-US" sz="800" dirty="0"/>
          </a:p>
        </p:txBody>
      </p:sp>
      <p:sp>
        <p:nvSpPr>
          <p:cNvPr id="84" name="Text 66"/>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7F909A"/>
                </a:solidFill>
                <a:latin typeface="Google Sans" pitchFamily="34" charset="0"/>
                <a:ea typeface="Google Sans" pitchFamily="34" charset="-122"/>
                <a:cs typeface="Google Sans" pitchFamily="34" charset="-120"/>
              </a:rPr>
              <a:t>14 / 15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3459"/>
        </a:solidFill>
      </p:bgPr>
    </p:bg>
    <p:spTree>
      <p:nvGrpSpPr>
        <p:cNvPr id="1" name=""/>
        <p:cNvGrpSpPr/>
        <p:nvPr/>
      </p:nvGrpSpPr>
      <p:grpSpPr>
        <a:xfrm>
          <a:off x="0" y="0"/>
          <a:ext cx="0" cy="0"/>
          <a:chOff x="0" y="0"/>
          <a:chExt cx="0" cy="0"/>
        </a:xfrm>
      </p:grpSpPr>
      <p:pic>
        <p:nvPicPr>
          <p:cNvPr id="2" name="Image 0" descr="public\brand\katalis-logo-white.png">    </p:cNvPr>
          <p:cNvPicPr>
            <a:picLocks noChangeAspect="1"/>
          </p:cNvPicPr>
          <p:nvPr/>
        </p:nvPicPr>
        <p:blipFill>
          <a:blip r:embed="rId1"/>
          <a:stretch>
            <a:fillRect/>
          </a:stretch>
        </p:blipFill>
        <p:spPr>
          <a:xfrm>
            <a:off x="762000" y="609600"/>
            <a:ext cx="2413000" cy="984250"/>
          </a:xfrm>
          <a:prstGeom prst="rect">
            <a:avLst/>
          </a:prstGeom>
        </p:spPr>
      </p:pic>
      <p:sp>
        <p:nvSpPr>
          <p:cNvPr id="3" name="Text 0"/>
          <p:cNvSpPr/>
          <p:nvPr/>
        </p:nvSpPr>
        <p:spPr>
          <a:xfrm>
            <a:off x="762000" y="1905000"/>
            <a:ext cx="10668000" cy="2413000"/>
          </a:xfrm>
          <a:prstGeom prst="rect">
            <a:avLst/>
          </a:prstGeom>
          <a:noFill/>
          <a:ln/>
        </p:spPr>
        <p:txBody>
          <a:bodyPr wrap="square" lIns="0" tIns="0" rIns="0" bIns="0" rtlCol="0" anchor="t"/>
          <a:lstStyle/>
          <a:p>
            <a:pPr algn="l" indent="0" marL="0">
              <a:lnSpc>
                <a:spcPts val="5710"/>
              </a:lnSpc>
              <a:buNone/>
            </a:pPr>
            <a:r>
              <a:rPr lang="en-US" sz="5600" b="1" dirty="0">
                <a:solidFill>
                  <a:srgbClr val="FFFFFF"/>
                </a:solidFill>
                <a:latin typeface="Google Sans" pitchFamily="34" charset="0"/>
                <a:ea typeface="Google Sans" pitchFamily="34" charset="-122"/>
                <a:cs typeface="Google Sans" pitchFamily="34" charset="-120"/>
              </a:rPr>
              <a:t>Mari kelola usaha perikanan lebih mudah dan jelas.</a:t>
            </a:r>
            <a:endParaRPr lang="en-US" sz="5600" dirty="0"/>
          </a:p>
        </p:txBody>
      </p:sp>
      <p:sp>
        <p:nvSpPr>
          <p:cNvPr id="4" name="Text 1"/>
          <p:cNvSpPr/>
          <p:nvPr/>
        </p:nvSpPr>
        <p:spPr>
          <a:xfrm>
            <a:off x="762000" y="4445000"/>
            <a:ext cx="6985000" cy="635000"/>
          </a:xfrm>
          <a:prstGeom prst="rect">
            <a:avLst/>
          </a:prstGeom>
          <a:noFill/>
          <a:ln/>
        </p:spPr>
        <p:txBody>
          <a:bodyPr wrap="square" lIns="0" tIns="0" rIns="0" bIns="0" rtlCol="0" anchor="t"/>
          <a:lstStyle/>
          <a:p>
            <a:pPr algn="l" indent="0" marL="0">
              <a:lnSpc>
                <a:spcPts val="1960"/>
              </a:lnSpc>
              <a:buNone/>
            </a:pPr>
            <a:r>
              <a:rPr lang="en-US" sz="1400" dirty="0">
                <a:solidFill>
                  <a:srgbClr val="CFE0EE"/>
                </a:solidFill>
                <a:latin typeface="Google Sans" pitchFamily="34" charset="0"/>
                <a:ea typeface="Google Sans" pitchFamily="34" charset="-122"/>
                <a:cs typeface="Google Sans" pitchFamily="34" charset="-120"/>
              </a:rPr>
              <a:t>Semua aktivitas terlihat dan terkendali dari satu dashboard. Penawaran ini belum mengikat; harga dibahas setelah fitur disepakati.</a:t>
            </a:r>
            <a:endParaRPr lang="en-US" sz="1400" dirty="0"/>
          </a:p>
        </p:txBody>
      </p:sp>
      <p:sp>
        <p:nvSpPr>
          <p:cNvPr id="5" name="Shape 2"/>
          <p:cNvSpPr/>
          <p:nvPr/>
        </p:nvSpPr>
        <p:spPr>
          <a:xfrm>
            <a:off x="762000" y="5435600"/>
            <a:ext cx="3556000" cy="584200"/>
          </a:xfrm>
          <a:prstGeom prst="roundRect">
            <a:avLst>
              <a:gd name="adj" fmla="val 50000"/>
            </a:avLst>
          </a:prstGeom>
          <a:solidFill>
            <a:srgbClr val="FFFFFF"/>
          </a:solidFill>
          <a:ln/>
        </p:spPr>
      </p:sp>
      <p:sp>
        <p:nvSpPr>
          <p:cNvPr id="6" name="Text 3"/>
          <p:cNvSpPr/>
          <p:nvPr/>
        </p:nvSpPr>
        <p:spPr>
          <a:xfrm>
            <a:off x="762000" y="5435600"/>
            <a:ext cx="3556000" cy="584200"/>
          </a:xfrm>
          <a:prstGeom prst="rect">
            <a:avLst/>
          </a:prstGeom>
          <a:noFill/>
          <a:ln/>
        </p:spPr>
        <p:txBody>
          <a:bodyPr wrap="square" lIns="0" tIns="0" rIns="0" bIns="0" rtlCol="0" anchor="ctr"/>
          <a:lstStyle/>
          <a:p>
            <a:pPr algn="ctr" indent="0" marL="0">
              <a:lnSpc>
                <a:spcPts val="1400"/>
              </a:lnSpc>
              <a:buNone/>
            </a:pPr>
            <a:r>
              <a:rPr lang="en-US" sz="1400" b="1" dirty="0">
                <a:solidFill>
                  <a:srgbClr val="003459"/>
                </a:solidFill>
                <a:latin typeface="Google Sans" pitchFamily="34" charset="0"/>
                <a:ea typeface="Google Sans" pitchFamily="34" charset="-122"/>
                <a:cs typeface="Google Sans" pitchFamily="34" charset="-120"/>
              </a:rPr>
              <a:t>Jadwalkan diskusi kebutuhan</a:t>
            </a:r>
            <a:endParaRPr lang="en-US" sz="1400" dirty="0"/>
          </a:p>
        </p:txBody>
      </p:sp>
      <p:sp>
        <p:nvSpPr>
          <p:cNvPr id="7" name="Text 4"/>
          <p:cNvSpPr/>
          <p:nvPr/>
        </p:nvSpPr>
        <p:spPr>
          <a:xfrm>
            <a:off x="4826000" y="5435600"/>
            <a:ext cx="4445000" cy="584200"/>
          </a:xfrm>
          <a:prstGeom prst="rect">
            <a:avLst/>
          </a:prstGeom>
          <a:noFill/>
          <a:ln/>
        </p:spPr>
        <p:txBody>
          <a:bodyPr wrap="square" lIns="0" tIns="0" rIns="0" bIns="0" rtlCol="0" anchor="ctr"/>
          <a:lstStyle/>
          <a:p>
            <a:pPr algn="l" indent="0" marL="0">
              <a:lnSpc>
                <a:spcPts val="1200"/>
              </a:lnSpc>
              <a:buNone/>
            </a:pPr>
            <a:r>
              <a:rPr lang="en-US" sz="1200" dirty="0">
                <a:solidFill>
                  <a:srgbClr val="CFE0EE"/>
                </a:solidFill>
                <a:latin typeface="Google Sans" pitchFamily="34" charset="0"/>
                <a:ea typeface="Google Sans" pitchFamily="34" charset="-122"/>
                <a:cs typeface="Google Sans" pitchFamily="34" charset="-120"/>
              </a:rPr>
              <a:t>Coba demo: /demo  ·  /demo/desktop</a:t>
            </a:r>
            <a:endParaRPr lang="en-US" sz="1200" dirty="0"/>
          </a:p>
        </p:txBody>
      </p:sp>
      <p:sp>
        <p:nvSpPr>
          <p:cNvPr id="8" name="Text 5"/>
          <p:cNvSpPr/>
          <p:nvPr/>
        </p:nvSpPr>
        <p:spPr>
          <a:xfrm>
            <a:off x="762000" y="6502400"/>
            <a:ext cx="3810000" cy="152400"/>
          </a:xfrm>
          <a:prstGeom prst="rect">
            <a:avLst/>
          </a:prstGeom>
          <a:noFill/>
          <a:ln/>
        </p:spPr>
        <p:txBody>
          <a:bodyPr wrap="square" lIns="0" tIns="0" rIns="0" bIns="0" rtlCol="0" anchor="ctr"/>
          <a:lstStyle/>
          <a:p>
            <a:pPr algn="l" indent="0" marL="0">
              <a:lnSpc>
                <a:spcPts val="800"/>
              </a:lnSpc>
              <a:buNone/>
            </a:pPr>
            <a:r>
              <a:rPr lang="en-US" sz="800" dirty="0">
                <a:solidFill>
                  <a:srgbClr val="CFE0EE"/>
                </a:solidFill>
                <a:latin typeface="Google Sans" pitchFamily="34" charset="0"/>
                <a:ea typeface="Google Sans" pitchFamily="34" charset="-122"/>
                <a:cs typeface="Google Sans" pitchFamily="34" charset="-120"/>
              </a:rPr>
              <a:t>Dar Dev  ·  KATALIS ERP</a:t>
            </a:r>
            <a:endParaRPr lang="en-US" sz="800" dirty="0"/>
          </a:p>
        </p:txBody>
      </p:sp>
      <p:sp>
        <p:nvSpPr>
          <p:cNvPr id="9" name="Text 6"/>
          <p:cNvSpPr/>
          <p:nvPr/>
        </p:nvSpPr>
        <p:spPr>
          <a:xfrm>
            <a:off x="10414000" y="6502400"/>
            <a:ext cx="1016000" cy="152400"/>
          </a:xfrm>
          <a:prstGeom prst="rect">
            <a:avLst/>
          </a:prstGeom>
          <a:noFill/>
          <a:ln/>
        </p:spPr>
        <p:txBody>
          <a:bodyPr wrap="square" lIns="0" tIns="0" rIns="0" bIns="0" rtlCol="0" anchor="ctr"/>
          <a:lstStyle/>
          <a:p>
            <a:pPr algn="r" indent="0" marL="0">
              <a:lnSpc>
                <a:spcPts val="800"/>
              </a:lnSpc>
              <a:buNone/>
            </a:pPr>
            <a:r>
              <a:rPr lang="en-US" sz="800" dirty="0">
                <a:solidFill>
                  <a:srgbClr val="CFE0EE"/>
                </a:solidFill>
                <a:latin typeface="Google Sans" pitchFamily="34" charset="0"/>
                <a:ea typeface="Google Sans" pitchFamily="34" charset="-122"/>
                <a:cs typeface="Google Sans" pitchFamily="34" charset="-120"/>
              </a:rPr>
              <a:t>15 / 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Dar 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KATALIS ERP — Penawaran dari Dar Dev</dc:title>
  <dc:subject>Custom ERP Solution Proposal untuk PT Katalis Lintas Global</dc:subject>
  <dc:creator>Dar Dev</dc:creator>
  <cp:lastModifiedBy>Dar Dev</cp:lastModifiedBy>
  <cp:revision>1</cp:revision>
  <dcterms:created xsi:type="dcterms:W3CDTF">2026-10-14T07:21:42Z</dcterms:created>
  <dcterms:modified xsi:type="dcterms:W3CDTF">2026-10-14T07:21:42Z</dcterms:modified>
</cp:coreProperties>
</file>